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11134"/>
            <a:ext cx="3111500" cy="39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#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#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787"/>
                </a:lnTo>
                <a:lnTo>
                  <a:pt x="5759996" y="431787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#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#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#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1134"/>
            <a:ext cx="3801745" cy="39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4520" y="1109378"/>
            <a:ext cx="2569210" cy="1263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03301" y="3112300"/>
            <a:ext cx="1931035" cy="14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685144" y="3112300"/>
            <a:ext cx="332739" cy="14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#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7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49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2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1399"/>
            <a:ext cx="5760085" cy="558165"/>
          </a:xfrm>
          <a:custGeom>
            <a:avLst/>
            <a:gdLst/>
            <a:ahLst/>
            <a:cxnLst/>
            <a:rect l="l" t="t" r="r" b="b"/>
            <a:pathLst>
              <a:path w="5760085" h="558165">
                <a:moveTo>
                  <a:pt x="5759996" y="0"/>
                </a:moveTo>
                <a:lnTo>
                  <a:pt x="0" y="0"/>
                </a:lnTo>
                <a:lnTo>
                  <a:pt x="0" y="557999"/>
                </a:lnTo>
                <a:lnTo>
                  <a:pt x="5759996" y="557999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5297" y="476066"/>
            <a:ext cx="1565275" cy="2882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220"/>
              <a:t>KCL</a:t>
            </a:r>
            <a:r>
              <a:rPr dirty="0" sz="1700" spc="-125"/>
              <a:t> </a:t>
            </a:r>
            <a:r>
              <a:rPr dirty="0" sz="1700" spc="-150"/>
              <a:t>4YYD0003</a:t>
            </a:r>
            <a:endParaRPr sz="1700"/>
          </a:p>
        </p:txBody>
      </p:sp>
      <p:sp>
        <p:nvSpPr>
          <p:cNvPr id="4" name="object 4"/>
          <p:cNvSpPr txBox="1"/>
          <p:nvPr/>
        </p:nvSpPr>
        <p:spPr>
          <a:xfrm>
            <a:off x="185305" y="771350"/>
            <a:ext cx="4257675" cy="1000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68325">
              <a:lnSpc>
                <a:spcPct val="133800"/>
              </a:lnSpc>
              <a:spcBef>
                <a:spcPts val="90"/>
              </a:spcBef>
            </a:pPr>
            <a:r>
              <a:rPr dirty="0" sz="1400" spc="-75">
                <a:solidFill>
                  <a:srgbClr val="212121"/>
                </a:solidFill>
                <a:latin typeface="Arial Black"/>
                <a:cs typeface="Arial Black"/>
              </a:rPr>
              <a:t>Macroeconomics </a:t>
            </a:r>
            <a:r>
              <a:rPr dirty="0" sz="1400" spc="-45">
                <a:solidFill>
                  <a:srgbClr val="212121"/>
                </a:solidFill>
                <a:latin typeface="Arial Black"/>
                <a:cs typeface="Arial Black"/>
              </a:rPr>
              <a:t>Revision:</a:t>
            </a:r>
            <a:r>
              <a:rPr dirty="0" sz="1400" spc="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212121"/>
                </a:solidFill>
                <a:latin typeface="Arial Black"/>
                <a:cs typeface="Arial Black"/>
              </a:rPr>
              <a:t>Lectures</a:t>
            </a:r>
            <a:r>
              <a:rPr dirty="0" sz="1400" spc="-75">
                <a:solidFill>
                  <a:srgbClr val="212121"/>
                </a:solidFill>
                <a:latin typeface="Arial Black"/>
                <a:cs typeface="Arial Black"/>
              </a:rPr>
              <a:t> 1–</a:t>
            </a:r>
            <a:r>
              <a:rPr dirty="0" sz="1400" spc="-50">
                <a:solidFill>
                  <a:srgbClr val="212121"/>
                </a:solidFill>
                <a:latin typeface="Arial Black"/>
                <a:cs typeface="Arial Black"/>
              </a:rPr>
              <a:t>3 </a:t>
            </a:r>
            <a:r>
              <a:rPr dirty="0" sz="1400" spc="-55">
                <a:solidFill>
                  <a:srgbClr val="212121"/>
                </a:solidFill>
                <a:latin typeface="Arial Black"/>
                <a:cs typeface="Arial Black"/>
              </a:rPr>
              <a:t>Student-focused</a:t>
            </a:r>
            <a:r>
              <a:rPr dirty="0" sz="14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212121"/>
                </a:solidFill>
                <a:latin typeface="Arial Black"/>
                <a:cs typeface="Arial Black"/>
              </a:rPr>
              <a:t>trial</a:t>
            </a:r>
            <a:r>
              <a:rPr dirty="0" sz="14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212121"/>
                </a:solidFill>
                <a:latin typeface="Arial Black"/>
                <a:cs typeface="Arial Black"/>
              </a:rPr>
              <a:t>lesson</a:t>
            </a:r>
            <a:r>
              <a:rPr dirty="0" sz="1400" spc="45">
                <a:solidFill>
                  <a:srgbClr val="212121"/>
                </a:solidFill>
                <a:latin typeface="Arial Black"/>
                <a:cs typeface="Arial Black"/>
              </a:rPr>
              <a:t> / </a:t>
            </a:r>
            <a:r>
              <a:rPr dirty="0" sz="1400" spc="-10" b="1">
                <a:solidFill>
                  <a:srgbClr val="212121"/>
                </a:solidFill>
                <a:latin typeface="Microsoft JhengHei"/>
                <a:cs typeface="Microsoft JhengHei"/>
              </a:rPr>
              <a:t>学生向试课</a:t>
            </a:r>
            <a:endParaRPr sz="1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Economic</a:t>
            </a:r>
            <a:r>
              <a:rPr dirty="0" sz="12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Fluctuations,</a:t>
            </a:r>
            <a:r>
              <a:rPr dirty="0" sz="120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Fiscal</a:t>
            </a:r>
            <a:r>
              <a:rPr dirty="0" sz="12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Policy,</a:t>
            </a:r>
            <a:r>
              <a:rPr dirty="0" sz="120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2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55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20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Labour</a:t>
            </a:r>
            <a:r>
              <a:rPr dirty="0" sz="120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40">
                <a:solidFill>
                  <a:srgbClr val="212121"/>
                </a:solidFill>
                <a:latin typeface="Arial MT"/>
                <a:cs typeface="Arial MT"/>
              </a:rPr>
              <a:t>Market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English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first,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with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Chinese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support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•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2-hour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revision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class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•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exam-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oriented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2016378"/>
            <a:ext cx="5466080" cy="212725"/>
          </a:xfrm>
          <a:custGeom>
            <a:avLst/>
            <a:gdLst/>
            <a:ahLst/>
            <a:cxnLst/>
            <a:rect l="l" t="t" r="r" b="b"/>
            <a:pathLst>
              <a:path w="5466080" h="21272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505"/>
                </a:lnTo>
                <a:lnTo>
                  <a:pt x="5465668" y="212505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2022295"/>
            <a:ext cx="306133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30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Arial Black"/>
                <a:cs typeface="Arial Black"/>
              </a:rPr>
              <a:t>lesson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这节课要解决什么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2073318"/>
            <a:ext cx="5516880" cy="434340"/>
            <a:chOff x="147205" y="2073318"/>
            <a:chExt cx="5516880" cy="4343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216226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2073318"/>
              <a:ext cx="5466080" cy="434340"/>
            </a:xfrm>
            <a:custGeom>
              <a:avLst/>
              <a:gdLst/>
              <a:ahLst/>
              <a:cxnLst/>
              <a:rect l="l" t="t" r="r" b="b"/>
              <a:pathLst>
                <a:path w="5466080" h="434339">
                  <a:moveTo>
                    <a:pt x="5465668" y="0"/>
                  </a:moveTo>
                  <a:lnTo>
                    <a:pt x="0" y="0"/>
                  </a:lnTo>
                  <a:lnTo>
                    <a:pt x="0" y="434259"/>
                  </a:lnTo>
                  <a:lnTo>
                    <a:pt x="5465668" y="434259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260518"/>
              <a:ext cx="5466080" cy="196850"/>
            </a:xfrm>
            <a:custGeom>
              <a:avLst/>
              <a:gdLst/>
              <a:ahLst/>
              <a:cxnLst/>
              <a:rect l="l" t="t" r="r" b="b"/>
              <a:pathLst>
                <a:path w="5466080" h="196850">
                  <a:moveTo>
                    <a:pt x="5465668" y="0"/>
                  </a:moveTo>
                  <a:lnTo>
                    <a:pt x="0" y="0"/>
                  </a:lnTo>
                  <a:lnTo>
                    <a:pt x="0" y="145458"/>
                  </a:lnTo>
                  <a:lnTo>
                    <a:pt x="4008" y="165183"/>
                  </a:lnTo>
                  <a:lnTo>
                    <a:pt x="14922" y="181336"/>
                  </a:lnTo>
                  <a:lnTo>
                    <a:pt x="31075" y="192250"/>
                  </a:lnTo>
                  <a:lnTo>
                    <a:pt x="50800" y="196259"/>
                  </a:lnTo>
                  <a:lnTo>
                    <a:pt x="5414867" y="196259"/>
                  </a:lnTo>
                  <a:lnTo>
                    <a:pt x="5434592" y="192250"/>
                  </a:lnTo>
                  <a:lnTo>
                    <a:pt x="5450745" y="181336"/>
                  </a:lnTo>
                  <a:lnTo>
                    <a:pt x="5461659" y="165183"/>
                  </a:lnTo>
                  <a:lnTo>
                    <a:pt x="5465668" y="145458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242748"/>
            <a:ext cx="54660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Turn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three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school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lectures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into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exam-ready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language,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diagrams,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question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choices.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305" y="2754066"/>
            <a:ext cx="3840479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Based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on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70">
                <a:solidFill>
                  <a:srgbClr val="212121"/>
                </a:solidFill>
                <a:latin typeface="Arial MT"/>
                <a:cs typeface="Arial MT"/>
              </a:rPr>
              <a:t>KCL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Term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2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Weeks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1–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3,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Problem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Sets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1–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3,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2025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paper.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015"/>
                </a:lnTo>
                <a:lnTo>
                  <a:pt x="5759996" y="432015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134"/>
            <a:ext cx="1371600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95"/>
              <a:t>Today</a:t>
            </a:r>
            <a:r>
              <a:rPr dirty="0" spc="-95" b="1">
                <a:latin typeface="Microsoft JhengHei"/>
                <a:cs typeface="Microsoft JhengHei"/>
              </a:rPr>
              <a:t>’</a:t>
            </a:r>
            <a:r>
              <a:rPr dirty="0" spc="-95"/>
              <a:t>s</a:t>
            </a:r>
            <a:r>
              <a:rPr dirty="0" spc="-50"/>
              <a:t> </a:t>
            </a:r>
            <a:r>
              <a:rPr dirty="0" spc="-45"/>
              <a:t>promise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今天这节课的目标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92890"/>
            <a:ext cx="2660015" cy="11861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You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have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already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seen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content.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你在学校已经见过内容，所以今天是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revision,</a:t>
            </a:r>
            <a:r>
              <a:rPr dirty="0" sz="700" spc="1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not</a:t>
            </a:r>
            <a:r>
              <a:rPr dirty="0" sz="700" spc="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re-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teaching.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We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focus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marks,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just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theory.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45">
                <a:solidFill>
                  <a:srgbClr val="666666"/>
                </a:solidFill>
                <a:latin typeface="SimSun"/>
                <a:cs typeface="SimSun"/>
              </a:rPr>
              <a:t>重点不是“知道概念”，而是“能把概念写成考试分数”</a:t>
            </a:r>
            <a:r>
              <a:rPr dirty="0" sz="700" spc="-25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21082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We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will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practise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closest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tutorial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questions.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我会选和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exam</a:t>
            </a:r>
            <a:r>
              <a:rPr dirty="0" sz="700" spc="1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最接近的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tutorial</a:t>
            </a:r>
            <a:r>
              <a:rPr dirty="0" sz="700" spc="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questions</a:t>
            </a:r>
            <a:r>
              <a:rPr dirty="0" sz="700" spc="1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来讲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908784"/>
            <a:ext cx="3105785" cy="231140"/>
          </a:xfrm>
          <a:custGeom>
            <a:avLst/>
            <a:gdLst/>
            <a:ahLst/>
            <a:cxnLst/>
            <a:rect l="l" t="t" r="r" b="b"/>
            <a:pathLst>
              <a:path w="3105785" h="231139">
                <a:moveTo>
                  <a:pt x="305466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0573"/>
                </a:lnTo>
                <a:lnTo>
                  <a:pt x="3105465" y="230573"/>
                </a:lnTo>
                <a:lnTo>
                  <a:pt x="3105465" y="50800"/>
                </a:lnTo>
                <a:lnTo>
                  <a:pt x="3101457" y="31075"/>
                </a:lnTo>
                <a:lnTo>
                  <a:pt x="3090542" y="14922"/>
                </a:lnTo>
                <a:lnTo>
                  <a:pt x="3074389" y="4008"/>
                </a:lnTo>
                <a:lnTo>
                  <a:pt x="305466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915298"/>
            <a:ext cx="202628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By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end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下课前你应该会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965706"/>
            <a:ext cx="3156585" cy="857885"/>
            <a:chOff x="147205" y="1965706"/>
            <a:chExt cx="3156585" cy="8578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126703"/>
              <a:ext cx="3105465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965706"/>
              <a:ext cx="3105785" cy="857885"/>
            </a:xfrm>
            <a:custGeom>
              <a:avLst/>
              <a:gdLst/>
              <a:ahLst/>
              <a:cxnLst/>
              <a:rect l="l" t="t" r="r" b="b"/>
              <a:pathLst>
                <a:path w="3105785" h="857885">
                  <a:moveTo>
                    <a:pt x="3105465" y="0"/>
                  </a:moveTo>
                  <a:lnTo>
                    <a:pt x="0" y="0"/>
                  </a:lnTo>
                  <a:lnTo>
                    <a:pt x="0" y="857847"/>
                  </a:lnTo>
                  <a:lnTo>
                    <a:pt x="3105465" y="857847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170974"/>
              <a:ext cx="3105785" cy="601980"/>
            </a:xfrm>
            <a:custGeom>
              <a:avLst/>
              <a:gdLst/>
              <a:ahLst/>
              <a:cxnLst/>
              <a:rect l="l" t="t" r="r" b="b"/>
              <a:pathLst>
                <a:path w="3105785" h="601980">
                  <a:moveTo>
                    <a:pt x="3105465" y="0"/>
                  </a:moveTo>
                  <a:lnTo>
                    <a:pt x="0" y="0"/>
                  </a:lnTo>
                  <a:lnTo>
                    <a:pt x="0" y="550978"/>
                  </a:lnTo>
                  <a:lnTo>
                    <a:pt x="4008" y="570702"/>
                  </a:lnTo>
                  <a:lnTo>
                    <a:pt x="14922" y="586855"/>
                  </a:lnTo>
                  <a:lnTo>
                    <a:pt x="31075" y="597769"/>
                  </a:lnTo>
                  <a:lnTo>
                    <a:pt x="50800" y="601778"/>
                  </a:lnTo>
                  <a:lnTo>
                    <a:pt x="3054664" y="601778"/>
                  </a:lnTo>
                  <a:lnTo>
                    <a:pt x="3074389" y="597769"/>
                  </a:lnTo>
                  <a:lnTo>
                    <a:pt x="3090542" y="586855"/>
                  </a:lnTo>
                  <a:lnTo>
                    <a:pt x="3101457" y="570702"/>
                  </a:lnTo>
                  <a:lnTo>
                    <a:pt x="3105465" y="550978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103228"/>
            <a:ext cx="3105785" cy="63309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52729" indent="-161925">
              <a:lnSpc>
                <a:spcPct val="100000"/>
              </a:lnSpc>
              <a:spcBef>
                <a:spcPts val="4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see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exam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map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Lectures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1–</a:t>
            </a:r>
            <a:r>
              <a:rPr dirty="0" sz="1000" spc="-50">
                <a:solidFill>
                  <a:srgbClr val="212121"/>
                </a:solidFill>
                <a:latin typeface="Arial MT"/>
                <a:cs typeface="Arial MT"/>
              </a:rPr>
              <a:t>3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39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explain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key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diagrams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English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3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know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which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questions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are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safest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to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revise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first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65626" y="708303"/>
            <a:ext cx="2247265" cy="229235"/>
          </a:xfrm>
          <a:custGeom>
            <a:avLst/>
            <a:gdLst/>
            <a:ahLst/>
            <a:cxnLst/>
            <a:rect l="l" t="t" r="r" b="b"/>
            <a:pathLst>
              <a:path w="2247265" h="229234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9206"/>
                </a:lnTo>
                <a:lnTo>
                  <a:pt x="2247195" y="229206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16427" y="713459"/>
            <a:ext cx="176212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Quick 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question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先热身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65626" y="765225"/>
            <a:ext cx="2298065" cy="878205"/>
            <a:chOff x="3365626" y="765225"/>
            <a:chExt cx="2298065" cy="87820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5626" y="924851"/>
              <a:ext cx="2247195" cy="5060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16427" y="765225"/>
              <a:ext cx="2247265" cy="878205"/>
            </a:xfrm>
            <a:custGeom>
              <a:avLst/>
              <a:gdLst/>
              <a:ahLst/>
              <a:cxnLst/>
              <a:rect l="l" t="t" r="r" b="b"/>
              <a:pathLst>
                <a:path w="2247265" h="878205">
                  <a:moveTo>
                    <a:pt x="2247195" y="0"/>
                  </a:moveTo>
                  <a:lnTo>
                    <a:pt x="0" y="0"/>
                  </a:lnTo>
                  <a:lnTo>
                    <a:pt x="0" y="877990"/>
                  </a:lnTo>
                  <a:lnTo>
                    <a:pt x="2247195" y="877990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65626" y="969126"/>
              <a:ext cx="2247265" cy="623570"/>
            </a:xfrm>
            <a:custGeom>
              <a:avLst/>
              <a:gdLst/>
              <a:ahLst/>
              <a:cxnLst/>
              <a:rect l="l" t="t" r="r" b="b"/>
              <a:pathLst>
                <a:path w="2247265" h="623569">
                  <a:moveTo>
                    <a:pt x="2247195" y="0"/>
                  </a:moveTo>
                  <a:lnTo>
                    <a:pt x="0" y="0"/>
                  </a:lnTo>
                  <a:lnTo>
                    <a:pt x="0" y="572487"/>
                  </a:lnTo>
                  <a:lnTo>
                    <a:pt x="4008" y="592212"/>
                  </a:lnTo>
                  <a:lnTo>
                    <a:pt x="14922" y="608365"/>
                  </a:lnTo>
                  <a:lnTo>
                    <a:pt x="31075" y="619279"/>
                  </a:lnTo>
                  <a:lnTo>
                    <a:pt x="50800" y="623288"/>
                  </a:lnTo>
                  <a:lnTo>
                    <a:pt x="2196394" y="623288"/>
                  </a:lnTo>
                  <a:lnTo>
                    <a:pt x="2216119" y="619279"/>
                  </a:lnTo>
                  <a:lnTo>
                    <a:pt x="2232272" y="608365"/>
                  </a:lnTo>
                  <a:lnTo>
                    <a:pt x="2243186" y="592212"/>
                  </a:lnTo>
                  <a:lnTo>
                    <a:pt x="2247195" y="572487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416427" y="952009"/>
            <a:ext cx="224726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19367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Which</a:t>
            </a:r>
            <a:r>
              <a:rPr dirty="0" sz="10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10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these</a:t>
            </a:r>
            <a:r>
              <a:rPr dirty="0" sz="10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three</a:t>
            </a:r>
            <a:r>
              <a:rPr dirty="0" sz="10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lectures</a:t>
            </a:r>
            <a:r>
              <a:rPr dirty="0" sz="10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feels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weakest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right 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now?</a:t>
            </a:r>
            <a:endParaRPr sz="1000">
              <a:latin typeface="Arial MT"/>
              <a:cs typeface="Arial MT"/>
            </a:endParaRPr>
          </a:p>
          <a:p>
            <a:pPr>
              <a:lnSpc>
                <a:spcPts val="1190"/>
              </a:lnSpc>
            </a:pP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Economic</a:t>
            </a:r>
            <a:r>
              <a:rPr dirty="0" sz="1000" spc="-7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10" i="1">
                <a:solidFill>
                  <a:srgbClr val="212121"/>
                </a:solidFill>
                <a:latin typeface="Trebuchet MS"/>
                <a:cs typeface="Trebuchet MS"/>
              </a:rPr>
              <a:t>fluctuations</a:t>
            </a:r>
            <a:r>
              <a:rPr dirty="0" sz="1000" spc="30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/</a:t>
            </a:r>
            <a:r>
              <a:rPr dirty="0" sz="1000" spc="35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25" i="1">
                <a:solidFill>
                  <a:srgbClr val="212121"/>
                </a:solidFill>
                <a:latin typeface="Trebuchet MS"/>
                <a:cs typeface="Trebuchet MS"/>
              </a:rPr>
              <a:t>Fiscal</a:t>
            </a:r>
            <a:r>
              <a:rPr dirty="0" sz="1000" spc="-5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10" i="1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ts val="1200"/>
              </a:lnSpc>
            </a:pP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/</a:t>
            </a:r>
            <a:r>
              <a:rPr dirty="0" sz="1000" spc="37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Labour</a:t>
            </a:r>
            <a:r>
              <a:rPr dirty="0" sz="1000" spc="-7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10" i="1">
                <a:solidFill>
                  <a:srgbClr val="212121"/>
                </a:solidFill>
                <a:latin typeface="Trebuchet MS"/>
                <a:cs typeface="Trebuchet MS"/>
              </a:rPr>
              <a:t>market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558"/>
                </a:lnTo>
                <a:lnTo>
                  <a:pt x="5759996" y="431558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744"/>
            <a:ext cx="3051810" cy="389255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50"/>
              <a:t>Where</a:t>
            </a:r>
            <a:r>
              <a:rPr dirty="0" spc="-65"/>
              <a:t> </a:t>
            </a:r>
            <a:r>
              <a:rPr dirty="0" spc="-85"/>
              <a:t>Lectures</a:t>
            </a:r>
            <a:r>
              <a:rPr dirty="0" spc="-65"/>
              <a:t> </a:t>
            </a:r>
            <a:r>
              <a:rPr dirty="0" spc="-85"/>
              <a:t>1–</a:t>
            </a:r>
            <a:r>
              <a:rPr dirty="0" spc="-95"/>
              <a:t>3</a:t>
            </a:r>
            <a:r>
              <a:rPr dirty="0" spc="-60"/>
              <a:t> appear </a:t>
            </a:r>
            <a:r>
              <a:rPr dirty="0" spc="-20"/>
              <a:t>in</a:t>
            </a:r>
            <a:r>
              <a:rPr dirty="0" spc="-60"/>
              <a:t> </a:t>
            </a:r>
            <a:r>
              <a:rPr dirty="0" spc="-40"/>
              <a:t>the</a:t>
            </a:r>
            <a:r>
              <a:rPr dirty="0" spc="-60"/>
              <a:t> </a:t>
            </a:r>
            <a:r>
              <a:rPr dirty="0" spc="-25"/>
              <a:t>exam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这三讲在考试里主要出现在哪里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8005" y="552932"/>
            <a:ext cx="5364480" cy="0"/>
          </a:xfrm>
          <a:custGeom>
            <a:avLst/>
            <a:gdLst/>
            <a:ahLst/>
            <a:cxnLst/>
            <a:rect l="l" t="t" r="r" b="b"/>
            <a:pathLst>
              <a:path w="5364480" h="0">
                <a:moveTo>
                  <a:pt x="0" y="0"/>
                </a:moveTo>
                <a:lnTo>
                  <a:pt x="5363997" y="0"/>
                </a:lnTo>
              </a:path>
            </a:pathLst>
          </a:custGeom>
          <a:ln w="10121">
            <a:solidFill>
              <a:srgbClr val="21212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1213" y="572929"/>
            <a:ext cx="380746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76325" algn="l"/>
                <a:tab pos="2193290" algn="l"/>
              </a:tabLst>
            </a:pP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Lecture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	</a:t>
            </a:r>
            <a:r>
              <a:rPr dirty="0" sz="900" spc="-114">
                <a:solidFill>
                  <a:srgbClr val="212121"/>
                </a:solidFill>
                <a:latin typeface="Arial Black"/>
                <a:cs typeface="Arial Black"/>
              </a:rPr>
              <a:t>CORE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unit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	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Most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relevant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exam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targets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8005" y="771550"/>
            <a:ext cx="5364480" cy="0"/>
          </a:xfrm>
          <a:custGeom>
            <a:avLst/>
            <a:gdLst/>
            <a:ahLst/>
            <a:cxnLst/>
            <a:rect l="l" t="t" r="r" b="b"/>
            <a:pathLst>
              <a:path w="5364480" h="0">
                <a:moveTo>
                  <a:pt x="0" y="0"/>
                </a:moveTo>
                <a:lnTo>
                  <a:pt x="5363997" y="0"/>
                </a:lnTo>
              </a:path>
            </a:pathLst>
          </a:custGeom>
          <a:ln w="6327">
            <a:solidFill>
              <a:srgbClr val="21212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1213" y="789642"/>
            <a:ext cx="519430" cy="71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Lecture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Lecture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Lecture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4914" y="789642"/>
            <a:ext cx="409575" cy="71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Unit</a:t>
            </a:r>
            <a:r>
              <a:rPr dirty="0" sz="900" spc="1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13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Unit</a:t>
            </a:r>
            <a:r>
              <a:rPr dirty="0" sz="900" spc="1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14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Unit</a:t>
            </a:r>
            <a:r>
              <a:rPr dirty="0" sz="900" spc="1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MT"/>
                <a:cs typeface="Arial MT"/>
              </a:rPr>
              <a:t>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2222" y="789642"/>
            <a:ext cx="3054985" cy="85851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6985">
              <a:lnSpc>
                <a:spcPct val="101499"/>
              </a:lnSpc>
              <a:spcBef>
                <a:spcPts val="80"/>
              </a:spcBef>
            </a:pP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Short</a:t>
            </a:r>
            <a:r>
              <a:rPr dirty="0" sz="9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Q2:</a:t>
            </a:r>
            <a:r>
              <a:rPr dirty="0" sz="9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temporary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income</a:t>
            </a: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changes,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credit</a:t>
            </a: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constraints,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why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investment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more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volatile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than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consumption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Short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Q4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Part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B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Q2: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multiplier,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fiscal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policy,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budget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deficit</a:t>
            </a:r>
            <a:r>
              <a:rPr dirty="0" sz="900" spc="10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vs</a:t>
            </a:r>
            <a:r>
              <a:rPr dirty="0" sz="900" spc="1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debt,</a:t>
            </a:r>
            <a:r>
              <a:rPr dirty="0" sz="900" spc="10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paradox</a:t>
            </a:r>
            <a:r>
              <a:rPr dirty="0" sz="900" spc="1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900" spc="1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thrift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01499"/>
              </a:lnSpc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Short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Q5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Part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B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Q1</a:t>
            </a:r>
            <a:r>
              <a:rPr dirty="0" sz="9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80">
                <a:solidFill>
                  <a:srgbClr val="212121"/>
                </a:solidFill>
                <a:latin typeface="Arial MT"/>
                <a:cs typeface="Arial MT"/>
              </a:rPr>
              <a:t>/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Q4:</a:t>
            </a:r>
            <a:r>
              <a:rPr dirty="0" sz="900" spc="1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wage-setting,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price-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setting, </a:t>
            </a: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unemployment,</a:t>
            </a:r>
            <a:r>
              <a:rPr dirty="0" sz="9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demand</a:t>
            </a:r>
            <a:r>
              <a:rPr dirty="0" sz="9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shocks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8005" y="1686039"/>
            <a:ext cx="5364480" cy="0"/>
          </a:xfrm>
          <a:custGeom>
            <a:avLst/>
            <a:gdLst/>
            <a:ahLst/>
            <a:cxnLst/>
            <a:rect l="l" t="t" r="r" b="b"/>
            <a:pathLst>
              <a:path w="5364480" h="0">
                <a:moveTo>
                  <a:pt x="0" y="0"/>
                </a:moveTo>
                <a:lnTo>
                  <a:pt x="5363997" y="0"/>
                </a:lnTo>
              </a:path>
            </a:pathLst>
          </a:custGeom>
          <a:ln w="10121">
            <a:solidFill>
              <a:srgbClr val="21212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7205" y="1883473"/>
            <a:ext cx="5466080" cy="212725"/>
          </a:xfrm>
          <a:custGeom>
            <a:avLst/>
            <a:gdLst/>
            <a:ahLst/>
            <a:cxnLst/>
            <a:rect l="l" t="t" r="r" b="b"/>
            <a:pathLst>
              <a:path w="5466080" h="21272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201"/>
                </a:lnTo>
                <a:lnTo>
                  <a:pt x="5465668" y="212201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8005" y="1889085"/>
            <a:ext cx="193167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100">
                <a:solidFill>
                  <a:srgbClr val="FFFFFF"/>
                </a:solidFill>
                <a:latin typeface="Arial Black"/>
                <a:cs typeface="Arial Black"/>
              </a:rPr>
              <a:t>Exam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 structure</a:t>
            </a:r>
            <a:r>
              <a:rPr dirty="0" sz="1200" spc="2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试卷结构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7205" y="1940404"/>
            <a:ext cx="5516880" cy="561340"/>
            <a:chOff x="147205" y="1940404"/>
            <a:chExt cx="5516880" cy="56134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083015"/>
              <a:ext cx="5465668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8005" y="1940404"/>
              <a:ext cx="5466080" cy="561340"/>
            </a:xfrm>
            <a:custGeom>
              <a:avLst/>
              <a:gdLst/>
              <a:ahLst/>
              <a:cxnLst/>
              <a:rect l="l" t="t" r="r" b="b"/>
              <a:pathLst>
                <a:path w="5466080" h="561339">
                  <a:moveTo>
                    <a:pt x="5465668" y="0"/>
                  </a:moveTo>
                  <a:lnTo>
                    <a:pt x="0" y="0"/>
                  </a:lnTo>
                  <a:lnTo>
                    <a:pt x="0" y="561280"/>
                  </a:lnTo>
                  <a:lnTo>
                    <a:pt x="5465668" y="561280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7205" y="2127301"/>
              <a:ext cx="5466080" cy="323850"/>
            </a:xfrm>
            <a:custGeom>
              <a:avLst/>
              <a:gdLst/>
              <a:ahLst/>
              <a:cxnLst/>
              <a:rect l="l" t="t" r="r" b="b"/>
              <a:pathLst>
                <a:path w="5466080" h="323850">
                  <a:moveTo>
                    <a:pt x="5465668" y="0"/>
                  </a:moveTo>
                  <a:lnTo>
                    <a:pt x="0" y="0"/>
                  </a:lnTo>
                  <a:lnTo>
                    <a:pt x="0" y="272782"/>
                  </a:lnTo>
                  <a:lnTo>
                    <a:pt x="4008" y="292507"/>
                  </a:lnTo>
                  <a:lnTo>
                    <a:pt x="14922" y="308660"/>
                  </a:lnTo>
                  <a:lnTo>
                    <a:pt x="31075" y="319574"/>
                  </a:lnTo>
                  <a:lnTo>
                    <a:pt x="50800" y="323583"/>
                  </a:lnTo>
                  <a:lnTo>
                    <a:pt x="5414867" y="323583"/>
                  </a:lnTo>
                  <a:lnTo>
                    <a:pt x="5434592" y="319574"/>
                  </a:lnTo>
                  <a:lnTo>
                    <a:pt x="5450745" y="308660"/>
                  </a:lnTo>
                  <a:lnTo>
                    <a:pt x="5461659" y="292507"/>
                  </a:lnTo>
                  <a:lnTo>
                    <a:pt x="5465668" y="272782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98005" y="2113376"/>
            <a:ext cx="5466080" cy="301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2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hours.</a:t>
            </a:r>
            <a:r>
              <a:rPr dirty="0" sz="900" spc="10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Answer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85">
                <a:solidFill>
                  <a:srgbClr val="212121"/>
                </a:solidFill>
                <a:latin typeface="Arial Black"/>
                <a:cs typeface="Arial Black"/>
              </a:rPr>
              <a:t>3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short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questions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12121"/>
                </a:solidFill>
                <a:latin typeface="Arial Black"/>
                <a:cs typeface="Arial Black"/>
              </a:rPr>
              <a:t>+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12121"/>
                </a:solidFill>
                <a:latin typeface="Arial Black"/>
                <a:cs typeface="Arial Black"/>
              </a:rPr>
              <a:t>1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Part </a:t>
            </a:r>
            <a:r>
              <a:rPr dirty="0" sz="900" spc="-75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12121"/>
                </a:solidFill>
                <a:latin typeface="Arial Black"/>
                <a:cs typeface="Arial Black"/>
              </a:rPr>
              <a:t>+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12121"/>
                </a:solidFill>
                <a:latin typeface="Arial Black"/>
                <a:cs typeface="Arial Black"/>
              </a:rPr>
              <a:t>1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Part 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B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dirty="0" sz="900" spc="-30">
                <a:solidFill>
                  <a:srgbClr val="212121"/>
                </a:solidFill>
                <a:latin typeface="Arial MT"/>
                <a:cs typeface="Arial MT"/>
              </a:rPr>
              <a:t>So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today’s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macro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revision,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priority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is:</a:t>
            </a:r>
            <a:r>
              <a:rPr dirty="0" sz="900" spc="1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pickable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short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questions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12121"/>
                </a:solidFill>
                <a:latin typeface="Arial Black"/>
                <a:cs typeface="Arial Black"/>
              </a:rPr>
              <a:t>+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one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safe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Part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212121"/>
                </a:solidFill>
                <a:latin typeface="Arial Black"/>
                <a:cs typeface="Arial Black"/>
              </a:rPr>
              <a:t>B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route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1754505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114"/>
              <a:t>Class</a:t>
            </a:r>
            <a:r>
              <a:rPr dirty="0" spc="-65"/>
              <a:t> </a:t>
            </a:r>
            <a:r>
              <a:rPr dirty="0" spc="-40"/>
              <a:t>route</a:t>
            </a:r>
            <a:r>
              <a:rPr dirty="0" spc="-70"/>
              <a:t> </a:t>
            </a:r>
            <a:r>
              <a:rPr dirty="0" spc="-20"/>
              <a:t>for</a:t>
            </a:r>
            <a:r>
              <a:rPr dirty="0" spc="-65"/>
              <a:t> </a:t>
            </a:r>
            <a:r>
              <a:rPr dirty="0" spc="-120"/>
              <a:t>2</a:t>
            </a:r>
            <a:r>
              <a:rPr dirty="0" spc="-65"/>
              <a:t> </a:t>
            </a:r>
            <a:r>
              <a:rPr dirty="0" spc="-25"/>
              <a:t>hours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两小时怎么安排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707681"/>
            <a:ext cx="3213100" cy="229235"/>
          </a:xfrm>
          <a:custGeom>
            <a:avLst/>
            <a:gdLst/>
            <a:ahLst/>
            <a:cxnLst/>
            <a:rect l="l" t="t" r="r" b="b"/>
            <a:pathLst>
              <a:path w="3213100" h="229234">
                <a:moveTo>
                  <a:pt x="316196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8903"/>
                </a:lnTo>
                <a:lnTo>
                  <a:pt x="3212769" y="228903"/>
                </a:lnTo>
                <a:lnTo>
                  <a:pt x="3212769" y="50800"/>
                </a:lnTo>
                <a:lnTo>
                  <a:pt x="3208761" y="31075"/>
                </a:lnTo>
                <a:lnTo>
                  <a:pt x="3197847" y="14922"/>
                </a:lnTo>
                <a:lnTo>
                  <a:pt x="3181694" y="4008"/>
                </a:lnTo>
                <a:lnTo>
                  <a:pt x="3161969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712532"/>
            <a:ext cx="97980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Timing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节奏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764610"/>
            <a:ext cx="3263900" cy="1308735"/>
            <a:chOff x="147205" y="764610"/>
            <a:chExt cx="3263900" cy="13087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923937"/>
              <a:ext cx="3212769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764610"/>
              <a:ext cx="3213100" cy="1308735"/>
            </a:xfrm>
            <a:custGeom>
              <a:avLst/>
              <a:gdLst/>
              <a:ahLst/>
              <a:cxnLst/>
              <a:rect l="l" t="t" r="r" b="b"/>
              <a:pathLst>
                <a:path w="3213100" h="1308735">
                  <a:moveTo>
                    <a:pt x="3212769" y="0"/>
                  </a:moveTo>
                  <a:lnTo>
                    <a:pt x="0" y="0"/>
                  </a:lnTo>
                  <a:lnTo>
                    <a:pt x="0" y="1308132"/>
                  </a:lnTo>
                  <a:lnTo>
                    <a:pt x="3212769" y="1308132"/>
                  </a:lnTo>
                  <a:lnTo>
                    <a:pt x="32127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968208"/>
              <a:ext cx="3213100" cy="1054100"/>
            </a:xfrm>
            <a:custGeom>
              <a:avLst/>
              <a:gdLst/>
              <a:ahLst/>
              <a:cxnLst/>
              <a:rect l="l" t="t" r="r" b="b"/>
              <a:pathLst>
                <a:path w="3213100" h="1054100">
                  <a:moveTo>
                    <a:pt x="3212769" y="0"/>
                  </a:moveTo>
                  <a:lnTo>
                    <a:pt x="0" y="0"/>
                  </a:lnTo>
                  <a:lnTo>
                    <a:pt x="0" y="1002933"/>
                  </a:lnTo>
                  <a:lnTo>
                    <a:pt x="4008" y="1022657"/>
                  </a:lnTo>
                  <a:lnTo>
                    <a:pt x="14922" y="1038810"/>
                  </a:lnTo>
                  <a:lnTo>
                    <a:pt x="31075" y="1049725"/>
                  </a:lnTo>
                  <a:lnTo>
                    <a:pt x="50800" y="1053733"/>
                  </a:lnTo>
                  <a:lnTo>
                    <a:pt x="3161969" y="1053733"/>
                  </a:lnTo>
                  <a:lnTo>
                    <a:pt x="3181694" y="1049725"/>
                  </a:lnTo>
                  <a:lnTo>
                    <a:pt x="3197847" y="1038810"/>
                  </a:lnTo>
                  <a:lnTo>
                    <a:pt x="3208761" y="1022657"/>
                  </a:lnTo>
                  <a:lnTo>
                    <a:pt x="3212769" y="1002933"/>
                  </a:lnTo>
                  <a:lnTo>
                    <a:pt x="3212769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8005" y="884269"/>
            <a:ext cx="3213100" cy="110109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252729" indent="-161925">
              <a:lnSpc>
                <a:spcPct val="100000"/>
              </a:lnSpc>
              <a:spcBef>
                <a:spcPts val="5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0–10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min:</a:t>
            </a:r>
            <a:r>
              <a:rPr dirty="0" sz="1000" spc="20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warm-up</a:t>
            </a:r>
            <a:r>
              <a:rPr dirty="0" sz="100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dirty="0" sz="100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exam</a:t>
            </a:r>
            <a:r>
              <a:rPr dirty="0" sz="100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map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10–35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min:</a:t>
            </a:r>
            <a:r>
              <a:rPr dirty="0" sz="1000" spc="1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Lecture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1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revision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35–75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min:</a:t>
            </a:r>
            <a:r>
              <a:rPr dirty="0" sz="1000" spc="1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Lecture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2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revision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tutorial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drill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75–110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min:</a:t>
            </a:r>
            <a:r>
              <a:rPr dirty="0" sz="1000" spc="1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Lecture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3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revision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tutorial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drill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110–120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min:</a:t>
            </a:r>
            <a:r>
              <a:rPr dirty="0" sz="1000" spc="1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final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recap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+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40">
                <a:solidFill>
                  <a:srgbClr val="212121"/>
                </a:solidFill>
                <a:latin typeface="Arial MT"/>
                <a:cs typeface="Arial MT"/>
              </a:rPr>
              <a:t>homework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72852" y="707681"/>
            <a:ext cx="2140585" cy="393700"/>
          </a:xfrm>
          <a:custGeom>
            <a:avLst/>
            <a:gdLst/>
            <a:ahLst/>
            <a:cxnLst/>
            <a:rect l="l" t="t" r="r" b="b"/>
            <a:pathLst>
              <a:path w="2140585" h="393700">
                <a:moveTo>
                  <a:pt x="208917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93439"/>
                </a:lnTo>
                <a:lnTo>
                  <a:pt x="2139972" y="393439"/>
                </a:lnTo>
                <a:lnTo>
                  <a:pt x="2139972" y="50800"/>
                </a:lnTo>
                <a:lnTo>
                  <a:pt x="2135964" y="31075"/>
                </a:lnTo>
                <a:lnTo>
                  <a:pt x="2125049" y="14922"/>
                </a:lnTo>
                <a:lnTo>
                  <a:pt x="2108896" y="4008"/>
                </a:lnTo>
                <a:lnTo>
                  <a:pt x="208917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523653" y="699933"/>
            <a:ext cx="1910714" cy="3841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65"/>
              </a:spcBef>
            </a:pPr>
            <a:r>
              <a:rPr dirty="0" sz="1200" spc="-95">
                <a:solidFill>
                  <a:srgbClr val="FFFFFF"/>
                </a:solidFill>
                <a:latin typeface="Arial Black"/>
                <a:cs typeface="Arial Black"/>
              </a:rPr>
              <a:t>How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we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keep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Arial Black"/>
                <a:cs typeface="Arial Black"/>
              </a:rPr>
              <a:t>it </a:t>
            </a: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interesting</a:t>
            </a:r>
            <a:r>
              <a:rPr dirty="0" sz="1200" spc="2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怎样避免无聊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72852" y="764603"/>
            <a:ext cx="2191385" cy="1374775"/>
            <a:chOff x="3472852" y="764603"/>
            <a:chExt cx="2191385" cy="137477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2852" y="1088466"/>
              <a:ext cx="2139972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523653" y="764603"/>
              <a:ext cx="2140585" cy="1374775"/>
            </a:xfrm>
            <a:custGeom>
              <a:avLst/>
              <a:gdLst/>
              <a:ahLst/>
              <a:cxnLst/>
              <a:rect l="l" t="t" r="r" b="b"/>
              <a:pathLst>
                <a:path w="2140585" h="1374775">
                  <a:moveTo>
                    <a:pt x="2139972" y="0"/>
                  </a:moveTo>
                  <a:lnTo>
                    <a:pt x="0" y="0"/>
                  </a:lnTo>
                  <a:lnTo>
                    <a:pt x="0" y="1374356"/>
                  </a:lnTo>
                  <a:lnTo>
                    <a:pt x="2139972" y="1374356"/>
                  </a:lnTo>
                  <a:lnTo>
                    <a:pt x="2139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72852" y="1132737"/>
              <a:ext cx="2140585" cy="955675"/>
            </a:xfrm>
            <a:custGeom>
              <a:avLst/>
              <a:gdLst/>
              <a:ahLst/>
              <a:cxnLst/>
              <a:rect l="l" t="t" r="r" b="b"/>
              <a:pathLst>
                <a:path w="2140585" h="955675">
                  <a:moveTo>
                    <a:pt x="2139972" y="0"/>
                  </a:moveTo>
                  <a:lnTo>
                    <a:pt x="0" y="0"/>
                  </a:lnTo>
                  <a:lnTo>
                    <a:pt x="0" y="904621"/>
                  </a:lnTo>
                  <a:lnTo>
                    <a:pt x="4008" y="924346"/>
                  </a:lnTo>
                  <a:lnTo>
                    <a:pt x="14922" y="940499"/>
                  </a:lnTo>
                  <a:lnTo>
                    <a:pt x="31075" y="951413"/>
                  </a:lnTo>
                  <a:lnTo>
                    <a:pt x="50800" y="955422"/>
                  </a:lnTo>
                  <a:lnTo>
                    <a:pt x="2089172" y="955422"/>
                  </a:lnTo>
                  <a:lnTo>
                    <a:pt x="2108896" y="951413"/>
                  </a:lnTo>
                  <a:lnTo>
                    <a:pt x="2125049" y="940499"/>
                  </a:lnTo>
                  <a:lnTo>
                    <a:pt x="2135964" y="924346"/>
                  </a:lnTo>
                  <a:lnTo>
                    <a:pt x="2139972" y="904621"/>
                  </a:lnTo>
                  <a:lnTo>
                    <a:pt x="2139972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523653" y="1064380"/>
            <a:ext cx="2140585" cy="98742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52729" indent="-161925">
              <a:lnSpc>
                <a:spcPct val="100000"/>
              </a:lnSpc>
              <a:spcBef>
                <a:spcPts val="4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short</a:t>
            </a:r>
            <a:r>
              <a:rPr dirty="0" sz="1000" spc="2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predictions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39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real-life</a:t>
            </a:r>
            <a:r>
              <a:rPr dirty="0" sz="1000" spc="20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examples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3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exam-style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mini</a:t>
            </a:r>
            <a:r>
              <a:rPr dirty="0" sz="100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answers</a:t>
            </a:r>
            <a:endParaRPr sz="1000">
              <a:latin typeface="Arial MT"/>
              <a:cs typeface="Arial MT"/>
            </a:endParaRPr>
          </a:p>
          <a:p>
            <a:pPr marL="252729" marR="233679" indent="-161925">
              <a:lnSpc>
                <a:spcPct val="100000"/>
              </a:lnSpc>
              <a:spcBef>
                <a:spcPts val="3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tutorial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questions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closest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40">
                <a:solidFill>
                  <a:srgbClr val="212121"/>
                </a:solidFill>
                <a:latin typeface="Arial MT"/>
                <a:cs typeface="Arial MT"/>
              </a:rPr>
              <a:t>to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paper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444"/>
                </a:lnTo>
                <a:lnTo>
                  <a:pt x="5759996" y="431444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896"/>
            <a:ext cx="2633345" cy="389255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40"/>
              <a:t>Warm-</a:t>
            </a:r>
            <a:r>
              <a:rPr dirty="0"/>
              <a:t>up:</a:t>
            </a:r>
            <a:r>
              <a:rPr dirty="0" spc="25"/>
              <a:t> </a:t>
            </a:r>
            <a:r>
              <a:rPr dirty="0" spc="-45"/>
              <a:t>three</a:t>
            </a:r>
            <a:r>
              <a:rPr dirty="0" spc="-85"/>
              <a:t> </a:t>
            </a:r>
            <a:r>
              <a:rPr dirty="0" spc="-65"/>
              <a:t>quick</a:t>
            </a:r>
            <a:r>
              <a:rPr dirty="0" spc="-75"/>
              <a:t> </a:t>
            </a:r>
            <a:r>
              <a:rPr dirty="0" spc="-50"/>
              <a:t>statements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先来三个判断题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636371"/>
            <a:ext cx="5466080" cy="212725"/>
          </a:xfrm>
          <a:custGeom>
            <a:avLst/>
            <a:gdLst/>
            <a:ahLst/>
            <a:cxnLst/>
            <a:rect l="l" t="t" r="r" b="b"/>
            <a:pathLst>
              <a:path w="5466080" h="21272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353"/>
                </a:lnTo>
                <a:lnTo>
                  <a:pt x="5465668" y="212353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642135"/>
            <a:ext cx="148526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Your 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turn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你先判断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693293"/>
            <a:ext cx="5516880" cy="1181100"/>
            <a:chOff x="147205" y="693293"/>
            <a:chExt cx="5516880" cy="1181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836079"/>
              <a:ext cx="5465668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693293"/>
              <a:ext cx="5466080" cy="1181100"/>
            </a:xfrm>
            <a:custGeom>
              <a:avLst/>
              <a:gdLst/>
              <a:ahLst/>
              <a:cxnLst/>
              <a:rect l="l" t="t" r="r" b="b"/>
              <a:pathLst>
                <a:path w="5466080" h="1181100">
                  <a:moveTo>
                    <a:pt x="5465668" y="0"/>
                  </a:moveTo>
                  <a:lnTo>
                    <a:pt x="0" y="0"/>
                  </a:lnTo>
                  <a:lnTo>
                    <a:pt x="0" y="1180617"/>
                  </a:lnTo>
                  <a:lnTo>
                    <a:pt x="5465668" y="1180617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880342"/>
              <a:ext cx="5466080" cy="942975"/>
            </a:xfrm>
            <a:custGeom>
              <a:avLst/>
              <a:gdLst/>
              <a:ahLst/>
              <a:cxnLst/>
              <a:rect l="l" t="t" r="r" b="b"/>
              <a:pathLst>
                <a:path w="5466080" h="942975">
                  <a:moveTo>
                    <a:pt x="5465668" y="0"/>
                  </a:moveTo>
                  <a:lnTo>
                    <a:pt x="0" y="0"/>
                  </a:lnTo>
                  <a:lnTo>
                    <a:pt x="0" y="891968"/>
                  </a:lnTo>
                  <a:lnTo>
                    <a:pt x="4008" y="911692"/>
                  </a:lnTo>
                  <a:lnTo>
                    <a:pt x="14922" y="927845"/>
                  </a:lnTo>
                  <a:lnTo>
                    <a:pt x="31075" y="938760"/>
                  </a:lnTo>
                  <a:lnTo>
                    <a:pt x="50800" y="942768"/>
                  </a:lnTo>
                  <a:lnTo>
                    <a:pt x="5414867" y="942768"/>
                  </a:lnTo>
                  <a:lnTo>
                    <a:pt x="5434592" y="938760"/>
                  </a:lnTo>
                  <a:lnTo>
                    <a:pt x="5450745" y="927845"/>
                  </a:lnTo>
                  <a:lnTo>
                    <a:pt x="5461659" y="911692"/>
                  </a:lnTo>
                  <a:lnTo>
                    <a:pt x="5465668" y="891968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85305" y="862601"/>
            <a:ext cx="30410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10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each</a:t>
            </a:r>
            <a:r>
              <a:rPr dirty="0" sz="10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statement,</a:t>
            </a:r>
            <a:r>
              <a:rPr dirty="0" sz="10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say</a:t>
            </a:r>
            <a:r>
              <a:rPr dirty="0" sz="10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True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145">
                <a:solidFill>
                  <a:srgbClr val="212121"/>
                </a:solidFill>
                <a:latin typeface="Arial Black"/>
                <a:cs typeface="Arial Black"/>
              </a:rPr>
              <a:t>/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False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145">
                <a:solidFill>
                  <a:srgbClr val="212121"/>
                </a:solidFill>
                <a:latin typeface="Arial Black"/>
                <a:cs typeface="Arial Black"/>
              </a:rPr>
              <a:t>/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depends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076" y="1135252"/>
            <a:ext cx="125793" cy="12579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89179" y="1138436"/>
            <a:ext cx="61594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7076" y="1388297"/>
            <a:ext cx="125793" cy="12579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89179" y="1391801"/>
            <a:ext cx="61594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7076" y="1641341"/>
            <a:ext cx="125793" cy="12579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89179" y="1644531"/>
            <a:ext cx="61594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353" y="1102999"/>
            <a:ext cx="4126229" cy="683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If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MT"/>
                <a:cs typeface="Arial MT"/>
              </a:rPr>
              <a:t>GDP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grows,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must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fall.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66000"/>
              </a:lnSpc>
            </a:pP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If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households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save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more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recession,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economy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becomes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safer.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If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labour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market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equilibrium,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should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be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zero.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5305" y="1974946"/>
            <a:ext cx="37217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20" i="1">
                <a:solidFill>
                  <a:srgbClr val="212121"/>
                </a:solidFill>
                <a:latin typeface="Trebuchet MS"/>
                <a:cs typeface="Trebuchet MS"/>
              </a:rPr>
              <a:t>worry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about</a:t>
            </a:r>
            <a:r>
              <a:rPr dirty="0" sz="900" spc="-2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45" i="1">
                <a:solidFill>
                  <a:srgbClr val="212121"/>
                </a:solidFill>
                <a:latin typeface="Trebuchet MS"/>
                <a:cs typeface="Trebuchet MS"/>
              </a:rPr>
              <a:t>full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answers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50" i="1">
                <a:solidFill>
                  <a:srgbClr val="212121"/>
                </a:solidFill>
                <a:latin typeface="Trebuchet MS"/>
                <a:cs typeface="Trebuchet MS"/>
              </a:rPr>
              <a:t>yet.</a:t>
            </a:r>
            <a:r>
              <a:rPr dirty="0" sz="900" spc="5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We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55" i="1">
                <a:solidFill>
                  <a:srgbClr val="212121"/>
                </a:solidFill>
                <a:latin typeface="Trebuchet MS"/>
                <a:cs typeface="Trebuchet MS"/>
              </a:rPr>
              <a:t>will</a:t>
            </a:r>
            <a:r>
              <a:rPr dirty="0" sz="900" spc="-2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unpack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40" i="1">
                <a:solidFill>
                  <a:srgbClr val="212121"/>
                </a:solidFill>
                <a:latin typeface="Trebuchet MS"/>
                <a:cs typeface="Trebuchet MS"/>
              </a:rPr>
              <a:t>three</a:t>
            </a:r>
            <a:r>
              <a:rPr dirty="0" sz="900" spc="-2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ideas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today.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244"/>
                </a:lnTo>
                <a:lnTo>
                  <a:pt x="5759996" y="432244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0829"/>
            <a:ext cx="3396615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35"/>
              <a:t>Warm-</a:t>
            </a:r>
            <a:r>
              <a:rPr dirty="0" spc="-30"/>
              <a:t>up</a:t>
            </a:r>
            <a:r>
              <a:rPr dirty="0" spc="-70"/>
              <a:t> </a:t>
            </a:r>
            <a:r>
              <a:rPr dirty="0" spc="-75"/>
              <a:t>answers</a:t>
            </a:r>
            <a:r>
              <a:rPr dirty="0" spc="-60"/>
              <a:t> </a:t>
            </a:r>
            <a:r>
              <a:rPr dirty="0" spc="-45"/>
              <a:t>and</a:t>
            </a:r>
            <a:r>
              <a:rPr dirty="0" spc="-55"/>
              <a:t> </a:t>
            </a:r>
            <a:r>
              <a:rPr dirty="0" spc="-40"/>
              <a:t>the</a:t>
            </a:r>
            <a:r>
              <a:rPr dirty="0" spc="-60"/>
              <a:t> </a:t>
            </a:r>
            <a:r>
              <a:rPr dirty="0" spc="-70"/>
              <a:t>answer</a:t>
            </a:r>
            <a:r>
              <a:rPr dirty="0" spc="-60"/>
              <a:t> </a:t>
            </a:r>
            <a:r>
              <a:rPr dirty="0" spc="-30"/>
              <a:t>template</a:t>
            </a: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答案先看方向，同时记住答题模板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5688"/>
            <a:ext cx="2909570" cy="1468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40259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95">
                <a:solidFill>
                  <a:srgbClr val="212121"/>
                </a:solidFill>
                <a:latin typeface="Arial Black"/>
                <a:cs typeface="Arial Black"/>
              </a:rPr>
              <a:t>1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212121"/>
                </a:solidFill>
                <a:latin typeface="Arial Black"/>
                <a:cs typeface="Arial Black"/>
              </a:rPr>
              <a:t>=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depends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(usually negative,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not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mechanical).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通常增长和失业率变化负相关，但不是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every</a:t>
            </a:r>
            <a:r>
              <a:rPr dirty="0" sz="700" spc="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time</a:t>
            </a:r>
            <a:r>
              <a:rPr dirty="0" sz="700" spc="60">
                <a:solidFill>
                  <a:srgbClr val="666666"/>
                </a:solidFill>
                <a:latin typeface="Arial MT"/>
                <a:cs typeface="Arial MT"/>
              </a:rPr>
              <a:t> /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every</a:t>
            </a:r>
            <a:r>
              <a:rPr dirty="0" sz="700" spc="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country</a:t>
            </a:r>
            <a:r>
              <a:rPr dirty="0" sz="700" spc="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SimSun"/>
                <a:cs typeface="SimSun"/>
              </a:rPr>
              <a:t>一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样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95">
                <a:solidFill>
                  <a:srgbClr val="212121"/>
                </a:solidFill>
                <a:latin typeface="Arial Black"/>
                <a:cs typeface="Arial Black"/>
              </a:rPr>
              <a:t>2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212121"/>
                </a:solidFill>
                <a:latin typeface="Arial Black"/>
                <a:cs typeface="Arial Black"/>
              </a:rPr>
              <a:t>=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False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recession.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这正是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paradox</a:t>
            </a:r>
            <a:r>
              <a:rPr dirty="0" sz="700" spc="1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dirty="0" sz="700" spc="1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thrift:</a:t>
            </a:r>
            <a:r>
              <a:rPr dirty="0" sz="700" spc="254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individually</a:t>
            </a:r>
            <a:r>
              <a:rPr dirty="0" sz="700" spc="1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rational,</a:t>
            </a:r>
            <a:r>
              <a:rPr dirty="0" sz="700" spc="1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collectively</a:t>
            </a:r>
            <a:r>
              <a:rPr dirty="0" sz="700" spc="1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harmful.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95">
                <a:solidFill>
                  <a:srgbClr val="212121"/>
                </a:solidFill>
                <a:latin typeface="Arial Black"/>
                <a:cs typeface="Arial Black"/>
              </a:rPr>
              <a:t>3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212121"/>
                </a:solidFill>
                <a:latin typeface="Arial Black"/>
                <a:cs typeface="Arial Black"/>
              </a:rPr>
              <a:t>=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False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this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model.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在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labour</a:t>
            </a:r>
            <a:r>
              <a:rPr dirty="0" sz="700" spc="15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discipline</a:t>
            </a:r>
            <a:r>
              <a:rPr dirty="0" sz="700" spc="1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model</a:t>
            </a:r>
            <a:r>
              <a:rPr dirty="0" sz="700" spc="15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里，一定程度的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unemployment</a:t>
            </a:r>
            <a:r>
              <a:rPr dirty="0" sz="700" spc="15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SimSun"/>
                <a:cs typeface="SimSun"/>
              </a:rPr>
              <a:t>是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equilibrium</a:t>
            </a:r>
            <a:r>
              <a:rPr dirty="0" sz="700" spc="40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的一部分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65626" y="708532"/>
            <a:ext cx="2247265" cy="389890"/>
          </a:xfrm>
          <a:custGeom>
            <a:avLst/>
            <a:gdLst/>
            <a:ahLst/>
            <a:cxnLst/>
            <a:rect l="l" t="t" r="r" b="b"/>
            <a:pathLst>
              <a:path w="2247265" h="389890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9643"/>
                </a:lnTo>
                <a:lnTo>
                  <a:pt x="2247195" y="389643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427" y="714437"/>
            <a:ext cx="2145665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Exam-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safe</a:t>
            </a:r>
            <a:r>
              <a:rPr dirty="0" sz="12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structure</a:t>
            </a:r>
            <a:r>
              <a:rPr dirty="0" sz="1200" spc="-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考试答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题模板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65626" y="765450"/>
            <a:ext cx="2298065" cy="1281430"/>
            <a:chOff x="3365626" y="765450"/>
            <a:chExt cx="2298065" cy="12814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5626" y="1085519"/>
              <a:ext cx="2247195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416427" y="765450"/>
              <a:ext cx="2247265" cy="1281430"/>
            </a:xfrm>
            <a:custGeom>
              <a:avLst/>
              <a:gdLst/>
              <a:ahLst/>
              <a:cxnLst/>
              <a:rect l="l" t="t" r="r" b="b"/>
              <a:pathLst>
                <a:path w="2247265" h="1281430">
                  <a:moveTo>
                    <a:pt x="2247195" y="0"/>
                  </a:moveTo>
                  <a:lnTo>
                    <a:pt x="0" y="0"/>
                  </a:lnTo>
                  <a:lnTo>
                    <a:pt x="0" y="1281282"/>
                  </a:lnTo>
                  <a:lnTo>
                    <a:pt x="2247195" y="1281282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65626" y="1129788"/>
              <a:ext cx="2247265" cy="866140"/>
            </a:xfrm>
            <a:custGeom>
              <a:avLst/>
              <a:gdLst/>
              <a:ahLst/>
              <a:cxnLst/>
              <a:rect l="l" t="t" r="r" b="b"/>
              <a:pathLst>
                <a:path w="2247265" h="866139">
                  <a:moveTo>
                    <a:pt x="2247195" y="0"/>
                  </a:moveTo>
                  <a:lnTo>
                    <a:pt x="0" y="0"/>
                  </a:lnTo>
                  <a:lnTo>
                    <a:pt x="0" y="815343"/>
                  </a:lnTo>
                  <a:lnTo>
                    <a:pt x="4008" y="835068"/>
                  </a:lnTo>
                  <a:lnTo>
                    <a:pt x="14922" y="851221"/>
                  </a:lnTo>
                  <a:lnTo>
                    <a:pt x="31075" y="862135"/>
                  </a:lnTo>
                  <a:lnTo>
                    <a:pt x="50800" y="866144"/>
                  </a:lnTo>
                  <a:lnTo>
                    <a:pt x="2196394" y="866144"/>
                  </a:lnTo>
                  <a:lnTo>
                    <a:pt x="2216119" y="862135"/>
                  </a:lnTo>
                  <a:lnTo>
                    <a:pt x="2232272" y="851221"/>
                  </a:lnTo>
                  <a:lnTo>
                    <a:pt x="2243186" y="835068"/>
                  </a:lnTo>
                  <a:lnTo>
                    <a:pt x="2247195" y="815343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5488" y="1160021"/>
              <a:ext cx="125793" cy="12579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5488" y="1387779"/>
              <a:ext cx="125793" cy="1257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5488" y="1615525"/>
              <a:ext cx="125793" cy="1257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75488" y="1843284"/>
              <a:ext cx="125793" cy="12579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520300" y="1163214"/>
            <a:ext cx="48895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69487" y="1051858"/>
            <a:ext cx="1702435" cy="9366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Define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concept</a:t>
            </a:r>
            <a:endParaRPr sz="1000">
              <a:latin typeface="Arial MT"/>
              <a:cs typeface="Arial MT"/>
            </a:endParaRPr>
          </a:p>
          <a:p>
            <a:pPr marR="5080">
              <a:lnSpc>
                <a:spcPct val="149400"/>
              </a:lnSpc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Draw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/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describe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diagram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Explain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mechanism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End</a:t>
            </a:r>
            <a:r>
              <a:rPr dirty="0" sz="10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with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conclusion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10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58" y="0"/>
                </a:moveTo>
                <a:lnTo>
                  <a:pt x="0" y="0"/>
                </a:lnTo>
                <a:lnTo>
                  <a:pt x="0" y="3240023"/>
                </a:lnTo>
                <a:lnTo>
                  <a:pt x="5759958" y="3240023"/>
                </a:lnTo>
                <a:lnTo>
                  <a:pt x="5759958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5262" y="295248"/>
            <a:ext cx="1503045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30"/>
              <a:t>Lecture</a:t>
            </a:r>
            <a:r>
              <a:rPr dirty="0" sz="2450" spc="-170"/>
              <a:t> </a:t>
            </a:r>
            <a:r>
              <a:rPr dirty="0" sz="2450" spc="-60"/>
              <a:t>1</a:t>
            </a:r>
            <a:endParaRPr sz="2450"/>
          </a:p>
        </p:txBody>
      </p:sp>
      <p:sp>
        <p:nvSpPr>
          <p:cNvPr id="4" name="object 4"/>
          <p:cNvSpPr txBox="1"/>
          <p:nvPr/>
        </p:nvSpPr>
        <p:spPr>
          <a:xfrm>
            <a:off x="295262" y="495912"/>
            <a:ext cx="4644390" cy="122174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Economic</a:t>
            </a:r>
            <a:r>
              <a:rPr dirty="0" sz="14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FFFFFF"/>
                </a:solidFill>
                <a:latin typeface="Arial MT"/>
                <a:cs typeface="Arial MT"/>
              </a:rPr>
              <a:t>fluctuations</a:t>
            </a:r>
            <a:r>
              <a:rPr dirty="0" sz="140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7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4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75">
                <a:solidFill>
                  <a:srgbClr val="FFFFFF"/>
                </a:solidFill>
                <a:latin typeface="Arial MT"/>
                <a:cs typeface="Arial MT"/>
              </a:rPr>
              <a:t>unemployment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400" spc="-100">
                <a:solidFill>
                  <a:srgbClr val="FFFFFF"/>
                </a:solidFill>
                <a:latin typeface="Arial Black"/>
                <a:cs typeface="Arial Black"/>
              </a:rPr>
              <a:t>You</a:t>
            </a:r>
            <a:r>
              <a:rPr dirty="0" sz="14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Arial Black"/>
                <a:cs typeface="Arial Black"/>
              </a:rPr>
              <a:t>have</a:t>
            </a:r>
            <a:r>
              <a:rPr dirty="0" sz="14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FFFFFF"/>
                </a:solidFill>
                <a:latin typeface="Arial Black"/>
                <a:cs typeface="Arial Black"/>
              </a:rPr>
              <a:t>seen</a:t>
            </a:r>
            <a:r>
              <a:rPr dirty="0" sz="14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4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lecture.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200" spc="50">
                <a:solidFill>
                  <a:srgbClr val="FFFFFF"/>
                </a:solidFill>
                <a:latin typeface="Arial MT"/>
                <a:cs typeface="Arial MT"/>
              </a:rPr>
              <a:t>Now</a:t>
            </a:r>
            <a:r>
              <a:rPr dirty="0" sz="12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dirty="0" sz="12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 MT"/>
                <a:cs typeface="Arial MT"/>
              </a:rPr>
              <a:t>compress</a:t>
            </a:r>
            <a:r>
              <a:rPr dirty="0" sz="12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65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12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65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dirty="0" sz="12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5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2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 MT"/>
                <a:cs typeface="Arial MT"/>
              </a:rPr>
              <a:t>ideas</a:t>
            </a:r>
            <a:r>
              <a:rPr dirty="0" sz="12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65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12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 MT"/>
                <a:cs typeface="Arial MT"/>
              </a:rPr>
              <a:t>produce</a:t>
            </a:r>
            <a:r>
              <a:rPr dirty="0" sz="12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marks.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900" spc="-10">
                <a:solidFill>
                  <a:srgbClr val="FFFFFF"/>
                </a:solidFill>
                <a:latin typeface="SimSun"/>
                <a:cs typeface="SimSun"/>
              </a:rPr>
              <a:t>核心抓手：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dirty="0" sz="90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cycle,</a:t>
            </a:r>
            <a:r>
              <a:rPr dirty="0" sz="90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MT"/>
                <a:cs typeface="Arial MT"/>
              </a:rPr>
              <a:t>GDP</a:t>
            </a:r>
            <a:r>
              <a:rPr dirty="0" sz="900" spc="65">
                <a:solidFill>
                  <a:srgbClr val="FFFFFF"/>
                </a:solidFill>
                <a:latin typeface="Arial MT"/>
                <a:cs typeface="Arial MT"/>
              </a:rPr>
              <a:t>,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consumption</a:t>
            </a:r>
            <a:r>
              <a:rPr dirty="0" sz="90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smoothing,</a:t>
            </a:r>
            <a:r>
              <a:rPr dirty="0" sz="90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investment</a:t>
            </a:r>
            <a:r>
              <a:rPr dirty="0" sz="90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volatility</a:t>
            </a:r>
            <a:r>
              <a:rPr dirty="0" sz="900" spc="100">
                <a:solidFill>
                  <a:srgbClr val="FFFFFF"/>
                </a:solidFill>
                <a:latin typeface="Arial MT"/>
                <a:cs typeface="Arial MT"/>
              </a:rPr>
              <a:t>,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inflation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130"/>
                </a:lnTo>
                <a:lnTo>
                  <a:pt x="5759996" y="432130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0982"/>
            <a:ext cx="4432300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95"/>
              <a:t>The</a:t>
            </a:r>
            <a:r>
              <a:rPr dirty="0" spc="-55"/>
              <a:t> </a:t>
            </a:r>
            <a:r>
              <a:rPr dirty="0" spc="-80"/>
              <a:t>business</a:t>
            </a:r>
            <a:r>
              <a:rPr dirty="0" spc="-50"/>
              <a:t> </a:t>
            </a:r>
            <a:r>
              <a:rPr dirty="0" spc="-95"/>
              <a:t>cycle:</a:t>
            </a:r>
            <a:r>
              <a:rPr dirty="0" spc="65"/>
              <a:t> </a:t>
            </a:r>
            <a:r>
              <a:rPr dirty="0" spc="-25"/>
              <a:t>long-run</a:t>
            </a:r>
            <a:r>
              <a:rPr dirty="0" spc="-55"/>
              <a:t> </a:t>
            </a:r>
            <a:r>
              <a:rPr dirty="0" spc="-45"/>
              <a:t>growth,</a:t>
            </a:r>
            <a:r>
              <a:rPr dirty="0" spc="-55"/>
              <a:t> </a:t>
            </a:r>
            <a:r>
              <a:rPr dirty="0" spc="-35"/>
              <a:t>short-run</a:t>
            </a:r>
            <a:r>
              <a:rPr dirty="0" spc="-50"/>
              <a:t> </a:t>
            </a:r>
            <a:r>
              <a:rPr dirty="0" spc="-25"/>
              <a:t>instability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长期增长存在，但短中期波动也真实存在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524" y="615867"/>
            <a:ext cx="2284730" cy="15093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64465" indent="-151765">
              <a:lnSpc>
                <a:spcPct val="100000"/>
              </a:lnSpc>
              <a:spcBef>
                <a:spcPts val="170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Over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long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run,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12121"/>
                </a:solidFill>
                <a:latin typeface="Arial Black"/>
                <a:cs typeface="Arial Black"/>
              </a:rPr>
              <a:t>GDP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tends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rise.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长期看经济规模常常增长，这一点不难理解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64465" marR="344805" indent="-152400">
              <a:lnSpc>
                <a:spcPct val="101499"/>
              </a:lnSpc>
              <a:spcBef>
                <a:spcPts val="635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Over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short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medium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run,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growth</a:t>
            </a: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uneven.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但短中期有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boom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dirty="0" sz="700" spc="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bust</a:t>
            </a: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，所以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growth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is</a:t>
            </a:r>
            <a:r>
              <a:rPr dirty="0" sz="700" spc="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Arial MT"/>
                <a:cs typeface="Arial MT"/>
              </a:rPr>
              <a:t>not</a:t>
            </a:r>
            <a:endParaRPr sz="700">
              <a:latin typeface="Arial MT"/>
              <a:cs typeface="Arial MT"/>
            </a:endParaRPr>
          </a:p>
          <a:p>
            <a:pPr marL="164465">
              <a:lnSpc>
                <a:spcPct val="100000"/>
              </a:lnSpc>
              <a:spcBef>
                <a:spcPts val="254"/>
              </a:spcBef>
            </a:pP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smooth.</a:t>
            </a:r>
            <a:endParaRPr sz="700">
              <a:latin typeface="Arial MT"/>
              <a:cs typeface="Arial MT"/>
            </a:endParaRPr>
          </a:p>
          <a:p>
            <a:pPr marL="164465" marR="61594" indent="-152400">
              <a:lnSpc>
                <a:spcPct val="101499"/>
              </a:lnSpc>
              <a:spcBef>
                <a:spcPts val="640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What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matters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people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only 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output,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but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jobs.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5">
                <a:solidFill>
                  <a:srgbClr val="666666"/>
                </a:solidFill>
                <a:latin typeface="SimSun"/>
                <a:cs typeface="SimSun"/>
              </a:rPr>
              <a:t>波动会传到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labour</a:t>
            </a:r>
            <a:r>
              <a:rPr dirty="0" sz="700" spc="1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market</a:t>
            </a:r>
            <a:r>
              <a:rPr dirty="0" sz="700" spc="-5">
                <a:solidFill>
                  <a:srgbClr val="666666"/>
                </a:solidFill>
                <a:latin typeface="SimSun"/>
                <a:cs typeface="SimSun"/>
              </a:rPr>
              <a:t>，因此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unemployment</a:t>
            </a:r>
            <a:r>
              <a:rPr dirty="0" sz="700" spc="1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SimSun"/>
                <a:cs typeface="SimSun"/>
              </a:rPr>
              <a:t>才</a:t>
            </a:r>
            <a:endParaRPr sz="70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  <a:spcBef>
                <a:spcPts val="25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是痛点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2253881"/>
            <a:ext cx="2461895" cy="229870"/>
          </a:xfrm>
          <a:custGeom>
            <a:avLst/>
            <a:gdLst/>
            <a:ahLst/>
            <a:cxnLst/>
            <a:rect l="l" t="t" r="r" b="b"/>
            <a:pathLst>
              <a:path w="2461895" h="229869">
                <a:moveTo>
                  <a:pt x="241100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9358"/>
                </a:lnTo>
                <a:lnTo>
                  <a:pt x="2461803" y="229358"/>
                </a:lnTo>
                <a:lnTo>
                  <a:pt x="2461803" y="50800"/>
                </a:lnTo>
                <a:lnTo>
                  <a:pt x="2457795" y="31075"/>
                </a:lnTo>
                <a:lnTo>
                  <a:pt x="2446880" y="14922"/>
                </a:lnTo>
                <a:lnTo>
                  <a:pt x="2430727" y="4008"/>
                </a:lnTo>
                <a:lnTo>
                  <a:pt x="241100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2259188"/>
            <a:ext cx="159702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125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phrase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关键表达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2310804"/>
            <a:ext cx="2512695" cy="565785"/>
            <a:chOff x="147205" y="2310804"/>
            <a:chExt cx="2512695" cy="5657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470581"/>
              <a:ext cx="2461803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2310804"/>
              <a:ext cx="2461895" cy="565785"/>
            </a:xfrm>
            <a:custGeom>
              <a:avLst/>
              <a:gdLst/>
              <a:ahLst/>
              <a:cxnLst/>
              <a:rect l="l" t="t" r="r" b="b"/>
              <a:pathLst>
                <a:path w="2461895" h="565785">
                  <a:moveTo>
                    <a:pt x="2461803" y="0"/>
                  </a:moveTo>
                  <a:lnTo>
                    <a:pt x="0" y="0"/>
                  </a:lnTo>
                  <a:lnTo>
                    <a:pt x="0" y="565696"/>
                  </a:lnTo>
                  <a:lnTo>
                    <a:pt x="2461803" y="565696"/>
                  </a:lnTo>
                  <a:lnTo>
                    <a:pt x="24618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514857"/>
              <a:ext cx="2461895" cy="311150"/>
            </a:xfrm>
            <a:custGeom>
              <a:avLst/>
              <a:gdLst/>
              <a:ahLst/>
              <a:cxnLst/>
              <a:rect l="l" t="t" r="r" b="b"/>
              <a:pathLst>
                <a:path w="2461895" h="311150">
                  <a:moveTo>
                    <a:pt x="2461803" y="0"/>
                  </a:moveTo>
                  <a:lnTo>
                    <a:pt x="0" y="0"/>
                  </a:lnTo>
                  <a:lnTo>
                    <a:pt x="0" y="260041"/>
                  </a:lnTo>
                  <a:lnTo>
                    <a:pt x="4008" y="279766"/>
                  </a:lnTo>
                  <a:lnTo>
                    <a:pt x="14922" y="295919"/>
                  </a:lnTo>
                  <a:lnTo>
                    <a:pt x="31075" y="306833"/>
                  </a:lnTo>
                  <a:lnTo>
                    <a:pt x="50800" y="310842"/>
                  </a:lnTo>
                  <a:lnTo>
                    <a:pt x="2411002" y="310842"/>
                  </a:lnTo>
                  <a:lnTo>
                    <a:pt x="2430727" y="306833"/>
                  </a:lnTo>
                  <a:lnTo>
                    <a:pt x="2446880" y="295919"/>
                  </a:lnTo>
                  <a:lnTo>
                    <a:pt x="2457795" y="279766"/>
                  </a:lnTo>
                  <a:lnTo>
                    <a:pt x="2461803" y="260041"/>
                  </a:lnTo>
                  <a:lnTo>
                    <a:pt x="2461803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486190"/>
            <a:ext cx="2461895" cy="304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201930">
              <a:lnSpc>
                <a:spcPct val="114100"/>
              </a:lnSpc>
              <a:spcBef>
                <a:spcPts val="100"/>
              </a:spcBef>
            </a:pPr>
            <a:r>
              <a:rPr dirty="0" sz="800" spc="-7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8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55">
                <a:solidFill>
                  <a:srgbClr val="212121"/>
                </a:solidFill>
                <a:latin typeface="Arial Black"/>
                <a:cs typeface="Arial Black"/>
              </a:rPr>
              <a:t>business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75">
                <a:solidFill>
                  <a:srgbClr val="212121"/>
                </a:solidFill>
                <a:latin typeface="Arial Black"/>
                <a:cs typeface="Arial Black"/>
              </a:rPr>
              <a:t>cycle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5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35">
                <a:solidFill>
                  <a:srgbClr val="212121"/>
                </a:solidFill>
                <a:latin typeface="Arial Black"/>
                <a:cs typeface="Arial Black"/>
              </a:rPr>
              <a:t>an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30">
                <a:solidFill>
                  <a:srgbClr val="212121"/>
                </a:solidFill>
                <a:latin typeface="Arial Black"/>
                <a:cs typeface="Arial Black"/>
              </a:rPr>
              <a:t>alternating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pattern of </a:t>
            </a:r>
            <a:r>
              <a:rPr dirty="0" sz="800" spc="-55">
                <a:solidFill>
                  <a:srgbClr val="212121"/>
                </a:solidFill>
                <a:latin typeface="Arial Black"/>
                <a:cs typeface="Arial Black"/>
              </a:rPr>
              <a:t>expansions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40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8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contractions.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2719" y="643957"/>
            <a:ext cx="1591381" cy="1811572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1286"/>
            <a:ext cx="2173605" cy="389890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30"/>
              <a:t>What</a:t>
            </a:r>
            <a:r>
              <a:rPr dirty="0" spc="-75"/>
              <a:t> </a:t>
            </a:r>
            <a:r>
              <a:rPr dirty="0" spc="-80"/>
              <a:t>exactly</a:t>
            </a:r>
            <a:r>
              <a:rPr dirty="0" spc="-75"/>
              <a:t> </a:t>
            </a:r>
            <a:r>
              <a:rPr dirty="0" spc="-80"/>
              <a:t>is</a:t>
            </a:r>
            <a:r>
              <a:rPr dirty="0" spc="-70"/>
              <a:t> </a:t>
            </a:r>
            <a:r>
              <a:rPr dirty="0" spc="-80"/>
              <a:t>a</a:t>
            </a:r>
            <a:r>
              <a:rPr dirty="0" spc="-70"/>
              <a:t> </a:t>
            </a:r>
            <a:r>
              <a:rPr dirty="0" spc="-80"/>
              <a:t>recession?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65">
                <a:solidFill>
                  <a:srgbClr val="666666"/>
                </a:solidFill>
              </a:rPr>
              <a:t>recession</a:t>
            </a:r>
            <a:r>
              <a:rPr dirty="0" sz="900" spc="-20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到底怎么定义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682" y="593665"/>
            <a:ext cx="2821305" cy="16414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Definition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1:</a:t>
            </a:r>
            <a:r>
              <a:rPr dirty="0" sz="1000" spc="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output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falling.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一种定义是：只要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output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在下降，就叫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recession.</a:t>
            </a:r>
            <a:endParaRPr sz="700">
              <a:latin typeface="Arial MT"/>
              <a:cs typeface="Arial MT"/>
            </a:endParaRPr>
          </a:p>
          <a:p>
            <a:pPr marL="173990" marR="3810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Definition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2:</a:t>
            </a:r>
            <a:r>
              <a:rPr dirty="0" sz="1000" spc="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output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below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its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normal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40">
                <a:solidFill>
                  <a:srgbClr val="212121"/>
                </a:solidFill>
                <a:latin typeface="Arial Black"/>
                <a:cs typeface="Arial Black"/>
              </a:rPr>
              <a:t>/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potential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level.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另一种定义是：即使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output</a:t>
            </a:r>
            <a:r>
              <a:rPr dirty="0" sz="700" spc="1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在增长，只要还低于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normal</a:t>
            </a:r>
            <a:r>
              <a:rPr dirty="0" sz="700" spc="1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level</a:t>
            </a: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，也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35">
                <a:solidFill>
                  <a:srgbClr val="666666"/>
                </a:solidFill>
                <a:latin typeface="SimSun"/>
                <a:cs typeface="SimSun"/>
              </a:rPr>
              <a:t>还没真正走出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recession.</a:t>
            </a:r>
            <a:endParaRPr sz="700">
              <a:latin typeface="Arial MT"/>
              <a:cs typeface="Arial MT"/>
            </a:endParaRPr>
          </a:p>
          <a:p>
            <a:pPr marL="173990" marR="19621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Why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matters:</a:t>
            </a:r>
            <a:r>
              <a:rPr dirty="0" sz="1000" spc="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policy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depends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on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the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diagnosis.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如果是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temporary</a:t>
            </a:r>
            <a:r>
              <a:rPr dirty="0" sz="700" spc="1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demand</a:t>
            </a:r>
            <a:r>
              <a:rPr dirty="0" sz="700" spc="1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weakness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，政策逻辑和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permanent</a:t>
            </a:r>
            <a:endParaRPr sz="7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359"/>
              </a:spcBef>
            </a:pP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supply</a:t>
            </a:r>
            <a:r>
              <a:rPr dirty="0" sz="700" spc="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loss</a:t>
            </a:r>
            <a:r>
              <a:rPr dirty="0" sz="700" spc="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不一样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58323" y="708189"/>
            <a:ext cx="2354580" cy="389255"/>
          </a:xfrm>
          <a:custGeom>
            <a:avLst/>
            <a:gdLst/>
            <a:ahLst/>
            <a:cxnLst/>
            <a:rect l="l" t="t" r="r" b="b"/>
            <a:pathLst>
              <a:path w="2354579" h="389255">
                <a:moveTo>
                  <a:pt x="230369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8732"/>
                </a:lnTo>
                <a:lnTo>
                  <a:pt x="2354499" y="388732"/>
                </a:lnTo>
                <a:lnTo>
                  <a:pt x="2354499" y="50800"/>
                </a:lnTo>
                <a:lnTo>
                  <a:pt x="2350490" y="31075"/>
                </a:lnTo>
                <a:lnTo>
                  <a:pt x="2339576" y="14922"/>
                </a:lnTo>
                <a:lnTo>
                  <a:pt x="2323423" y="4008"/>
                </a:lnTo>
                <a:lnTo>
                  <a:pt x="2303698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09124" y="713192"/>
            <a:ext cx="2239010" cy="3702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ts val="1415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Problem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00">
                <a:solidFill>
                  <a:srgbClr val="FFFFFF"/>
                </a:solidFill>
                <a:latin typeface="Arial Black"/>
                <a:cs typeface="Arial Black"/>
              </a:rPr>
              <a:t>Set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hook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b="1">
                <a:solidFill>
                  <a:srgbClr val="FFFFFF"/>
                </a:solidFill>
                <a:latin typeface="Microsoft JhengHei"/>
                <a:cs typeface="Microsoft JhengHei"/>
              </a:rPr>
              <a:t>来自 </a:t>
            </a:r>
            <a:r>
              <a:rPr dirty="0" sz="1200" spc="-130">
                <a:solidFill>
                  <a:srgbClr val="FFFFFF"/>
                </a:solidFill>
                <a:latin typeface="Arial Black"/>
                <a:cs typeface="Arial Black"/>
              </a:rPr>
              <a:t>PS1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ts val="1415"/>
              </a:lnSpc>
            </a:pP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的引子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58323" y="765113"/>
            <a:ext cx="2405380" cy="885825"/>
            <a:chOff x="3258323" y="765113"/>
            <a:chExt cx="2405380" cy="8858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323" y="1084262"/>
              <a:ext cx="2354499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09124" y="765113"/>
              <a:ext cx="2354580" cy="885825"/>
            </a:xfrm>
            <a:custGeom>
              <a:avLst/>
              <a:gdLst/>
              <a:ahLst/>
              <a:cxnLst/>
              <a:rect l="l" t="t" r="r" b="b"/>
              <a:pathLst>
                <a:path w="2354579" h="885825">
                  <a:moveTo>
                    <a:pt x="2354499" y="0"/>
                  </a:moveTo>
                  <a:lnTo>
                    <a:pt x="0" y="0"/>
                  </a:lnTo>
                  <a:lnTo>
                    <a:pt x="0" y="885430"/>
                  </a:lnTo>
                  <a:lnTo>
                    <a:pt x="2354499" y="885430"/>
                  </a:lnTo>
                  <a:lnTo>
                    <a:pt x="23544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58324" y="1128540"/>
              <a:ext cx="2354580" cy="471805"/>
            </a:xfrm>
            <a:custGeom>
              <a:avLst/>
              <a:gdLst/>
              <a:ahLst/>
              <a:cxnLst/>
              <a:rect l="l" t="t" r="r" b="b"/>
              <a:pathLst>
                <a:path w="2354579" h="471805">
                  <a:moveTo>
                    <a:pt x="2354499" y="0"/>
                  </a:moveTo>
                  <a:lnTo>
                    <a:pt x="0" y="0"/>
                  </a:lnTo>
                  <a:lnTo>
                    <a:pt x="0" y="420402"/>
                  </a:lnTo>
                  <a:lnTo>
                    <a:pt x="4008" y="440127"/>
                  </a:lnTo>
                  <a:lnTo>
                    <a:pt x="14922" y="456279"/>
                  </a:lnTo>
                  <a:lnTo>
                    <a:pt x="31075" y="467194"/>
                  </a:lnTo>
                  <a:lnTo>
                    <a:pt x="50800" y="471202"/>
                  </a:lnTo>
                  <a:lnTo>
                    <a:pt x="2303698" y="471202"/>
                  </a:lnTo>
                  <a:lnTo>
                    <a:pt x="2323423" y="467194"/>
                  </a:lnTo>
                  <a:lnTo>
                    <a:pt x="2339576" y="456279"/>
                  </a:lnTo>
                  <a:lnTo>
                    <a:pt x="2350490" y="440127"/>
                  </a:lnTo>
                  <a:lnTo>
                    <a:pt x="2354499" y="420402"/>
                  </a:lnTo>
                  <a:lnTo>
                    <a:pt x="2354499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309124" y="1110785"/>
            <a:ext cx="235458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9461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country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has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relied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on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oil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production,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its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oil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wells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suddenly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run 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out.</a:t>
            </a:r>
            <a:endParaRPr sz="1000">
              <a:latin typeface="Arial MT"/>
              <a:cs typeface="Arial MT"/>
            </a:endParaRPr>
          </a:p>
          <a:p>
            <a:pPr>
              <a:lnSpc>
                <a:spcPts val="1190"/>
              </a:lnSpc>
            </a:pP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recession?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673"/>
                </a:lnTo>
                <a:lnTo>
                  <a:pt x="5759996" y="43167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591"/>
            <a:ext cx="2849245" cy="389255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95"/>
              <a:t>How</a:t>
            </a:r>
            <a:r>
              <a:rPr dirty="0" spc="-75"/>
              <a:t> </a:t>
            </a:r>
            <a:r>
              <a:rPr dirty="0" spc="-35"/>
              <a:t>to</a:t>
            </a:r>
            <a:r>
              <a:rPr dirty="0" spc="-65"/>
              <a:t> </a:t>
            </a:r>
            <a:r>
              <a:rPr dirty="0" spc="-70"/>
              <a:t>answer </a:t>
            </a:r>
            <a:r>
              <a:rPr dirty="0" spc="-40"/>
              <a:t>the</a:t>
            </a:r>
            <a:r>
              <a:rPr dirty="0" spc="-65"/>
              <a:t> </a:t>
            </a:r>
            <a:r>
              <a:rPr dirty="0" spc="-45"/>
              <a:t>oil-</a:t>
            </a:r>
            <a:r>
              <a:rPr dirty="0" spc="-70"/>
              <a:t>wells </a:t>
            </a:r>
            <a:r>
              <a:rPr dirty="0" spc="-45"/>
              <a:t>example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35">
                <a:solidFill>
                  <a:srgbClr val="666666"/>
                </a:solidFill>
              </a:rPr>
              <a:t>oil </a:t>
            </a:r>
            <a:r>
              <a:rPr dirty="0" sz="900" spc="-60">
                <a:solidFill>
                  <a:srgbClr val="666666"/>
                </a:solidFill>
              </a:rPr>
              <a:t>wells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例子该怎么说才像考试答案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85894"/>
            <a:ext cx="5115560" cy="1164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There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may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be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one-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off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fall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output,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country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look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recessionary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at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moment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decline.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如果从‘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output</a:t>
            </a:r>
            <a:r>
              <a:rPr dirty="0" sz="700" spc="16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is</a:t>
            </a:r>
            <a:r>
              <a:rPr dirty="0" sz="700" spc="1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falling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’这个定义出发，下降当下当然可能被描述成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recessionary.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But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deeper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point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potential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output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itself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has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fallen.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更重要的是：这个国家的生产能力变差了，它是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permanently</a:t>
            </a:r>
            <a:r>
              <a:rPr dirty="0" sz="700" spc="1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poorer</a:t>
            </a:r>
            <a:r>
              <a:rPr dirty="0" sz="700" spc="75">
                <a:solidFill>
                  <a:srgbClr val="666666"/>
                </a:solidFill>
                <a:latin typeface="Arial MT"/>
                <a:cs typeface="Arial MT"/>
              </a:rPr>
              <a:t>,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not</a:t>
            </a:r>
            <a:r>
              <a:rPr dirty="0" sz="700" spc="1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just</a:t>
            </a:r>
            <a:r>
              <a:rPr dirty="0" sz="700" spc="1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temporarily</a:t>
            </a:r>
            <a:r>
              <a:rPr dirty="0" sz="700" spc="1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weak.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11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policymakers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should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treat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standard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demand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slump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only.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也就是说，不能只想着用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demand</a:t>
            </a:r>
            <a:r>
              <a:rPr dirty="0" sz="700" spc="1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management</a:t>
            </a:r>
            <a:r>
              <a:rPr dirty="0" sz="700" spc="1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去把经济“拉回原来那条线”</a:t>
            </a:r>
            <a:r>
              <a:rPr dirty="0" sz="700" spc="-25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880094"/>
            <a:ext cx="5466080" cy="212725"/>
          </a:xfrm>
          <a:custGeom>
            <a:avLst/>
            <a:gdLst/>
            <a:ahLst/>
            <a:cxnLst/>
            <a:rect l="l" t="t" r="r" b="b"/>
            <a:pathLst>
              <a:path w="5466080" h="21272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657"/>
                </a:lnTo>
                <a:lnTo>
                  <a:pt x="5465668" y="212657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886164"/>
            <a:ext cx="273621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Exam-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safe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sentence</a:t>
            </a:r>
            <a:r>
              <a:rPr dirty="0" sz="1200" spc="2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可直接写进答案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937024"/>
            <a:ext cx="5516880" cy="710565"/>
            <a:chOff x="147205" y="1937024"/>
            <a:chExt cx="5516880" cy="7105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080094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937024"/>
              <a:ext cx="5466080" cy="710565"/>
            </a:xfrm>
            <a:custGeom>
              <a:avLst/>
              <a:gdLst/>
              <a:ahLst/>
              <a:cxnLst/>
              <a:rect l="l" t="t" r="r" b="b"/>
              <a:pathLst>
                <a:path w="5466080" h="710564">
                  <a:moveTo>
                    <a:pt x="5465668" y="0"/>
                  </a:moveTo>
                  <a:lnTo>
                    <a:pt x="0" y="0"/>
                  </a:lnTo>
                  <a:lnTo>
                    <a:pt x="0" y="710240"/>
                  </a:lnTo>
                  <a:lnTo>
                    <a:pt x="5465668" y="710240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124376"/>
              <a:ext cx="5466080" cy="472440"/>
            </a:xfrm>
            <a:custGeom>
              <a:avLst/>
              <a:gdLst/>
              <a:ahLst/>
              <a:cxnLst/>
              <a:rect l="l" t="t" r="r" b="b"/>
              <a:pathLst>
                <a:path w="5466080" h="472439">
                  <a:moveTo>
                    <a:pt x="5465668" y="0"/>
                  </a:moveTo>
                  <a:lnTo>
                    <a:pt x="0" y="0"/>
                  </a:lnTo>
                  <a:lnTo>
                    <a:pt x="0" y="421287"/>
                  </a:lnTo>
                  <a:lnTo>
                    <a:pt x="4008" y="441012"/>
                  </a:lnTo>
                  <a:lnTo>
                    <a:pt x="14922" y="457165"/>
                  </a:lnTo>
                  <a:lnTo>
                    <a:pt x="31075" y="468079"/>
                  </a:lnTo>
                  <a:lnTo>
                    <a:pt x="50800" y="472088"/>
                  </a:lnTo>
                  <a:lnTo>
                    <a:pt x="5414867" y="472088"/>
                  </a:lnTo>
                  <a:lnTo>
                    <a:pt x="5434592" y="468079"/>
                  </a:lnTo>
                  <a:lnTo>
                    <a:pt x="5450745" y="457165"/>
                  </a:lnTo>
                  <a:lnTo>
                    <a:pt x="5461659" y="441012"/>
                  </a:lnTo>
                  <a:lnTo>
                    <a:pt x="5465668" y="421287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107506"/>
            <a:ext cx="546608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153035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permanent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supply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loss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makes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economy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poorer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may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reduce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potential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output,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different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from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purely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cyclical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recession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caused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by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weak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aggregate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demand.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609600"/>
          </a:xfrm>
          <a:custGeom>
            <a:avLst/>
            <a:gdLst/>
            <a:ahLst/>
            <a:cxnLst/>
            <a:rect l="l" t="t" r="r" b="b"/>
            <a:pathLst>
              <a:path w="5760085" h="609600">
                <a:moveTo>
                  <a:pt x="5759996" y="0"/>
                </a:moveTo>
                <a:lnTo>
                  <a:pt x="0" y="0"/>
                </a:lnTo>
                <a:lnTo>
                  <a:pt x="0" y="609155"/>
                </a:lnTo>
                <a:lnTo>
                  <a:pt x="5759996" y="609155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37271"/>
            <a:ext cx="4951095" cy="541020"/>
          </a:xfrm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dirty="0" spc="-45"/>
              <a:t>Okun</a:t>
            </a:r>
            <a:r>
              <a:rPr dirty="0" spc="-45" b="1">
                <a:latin typeface="Microsoft JhengHei"/>
                <a:cs typeface="Microsoft JhengHei"/>
              </a:rPr>
              <a:t>’</a:t>
            </a:r>
            <a:r>
              <a:rPr dirty="0" spc="-45"/>
              <a:t>s</a:t>
            </a:r>
            <a:r>
              <a:rPr dirty="0" spc="-70"/>
              <a:t> </a:t>
            </a:r>
            <a:r>
              <a:rPr dirty="0" spc="-80"/>
              <a:t>Law:</a:t>
            </a:r>
            <a:r>
              <a:rPr dirty="0" spc="35"/>
              <a:t> </a:t>
            </a:r>
            <a:r>
              <a:rPr dirty="0" spc="-50"/>
              <a:t>why</a:t>
            </a:r>
            <a:r>
              <a:rPr dirty="0" spc="-70"/>
              <a:t> </a:t>
            </a:r>
            <a:r>
              <a:rPr dirty="0" spc="-45"/>
              <a:t>growth</a:t>
            </a:r>
            <a:r>
              <a:rPr dirty="0" spc="-75"/>
              <a:t> </a:t>
            </a:r>
            <a:r>
              <a:rPr dirty="0" spc="-45"/>
              <a:t>and</a:t>
            </a:r>
            <a:r>
              <a:rPr dirty="0" spc="-65"/>
              <a:t> </a:t>
            </a:r>
            <a:r>
              <a:rPr dirty="0" spc="-40"/>
              <a:t>unemployment</a:t>
            </a:r>
            <a:r>
              <a:rPr dirty="0" spc="-75"/>
              <a:t> </a:t>
            </a:r>
            <a:r>
              <a:rPr dirty="0" spc="-65"/>
              <a:t>move</a:t>
            </a:r>
            <a:r>
              <a:rPr dirty="0" spc="-75"/>
              <a:t> </a:t>
            </a:r>
            <a:r>
              <a:rPr dirty="0" spc="-20"/>
              <a:t>in</a:t>
            </a:r>
            <a:r>
              <a:rPr dirty="0" spc="-70"/>
              <a:t> </a:t>
            </a:r>
            <a:r>
              <a:rPr dirty="0" spc="-45"/>
              <a:t>opposite </a:t>
            </a:r>
            <a:r>
              <a:rPr dirty="0" spc="-10"/>
              <a:t>directions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5" b="1">
                <a:solidFill>
                  <a:srgbClr val="666666"/>
                </a:solidFill>
                <a:latin typeface="Microsoft JhengHei"/>
                <a:cs typeface="Microsoft JhengHei"/>
              </a:rPr>
              <a:t>为什么 </a:t>
            </a:r>
            <a:r>
              <a:rPr dirty="0" sz="900" spc="-85">
                <a:solidFill>
                  <a:srgbClr val="666666"/>
                </a:solidFill>
              </a:rPr>
              <a:t>GDP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增长和失业率变化通常负相关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803483"/>
            <a:ext cx="2049145" cy="2226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6413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Okun</a:t>
            </a:r>
            <a:r>
              <a:rPr dirty="0" sz="1000" spc="-40" b="1">
                <a:solidFill>
                  <a:srgbClr val="212121"/>
                </a:solidFill>
                <a:latin typeface="Microsoft JhengHei"/>
                <a:cs typeface="Microsoft JhengHei"/>
              </a:rPr>
              <a:t>’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s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Law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an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empirical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relationship,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law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of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nature.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它是经验规律，不是每个国家完全一样的机械公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式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18224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When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output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growth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falls,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firms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usually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need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fewer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workers.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增长变慢时，企业对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labour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666666"/>
                </a:solidFill>
                <a:latin typeface="SimSun"/>
                <a:cs typeface="SimSun"/>
              </a:rPr>
              <a:t>的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demand</a:t>
            </a:r>
            <a:r>
              <a:rPr dirty="0" sz="700" spc="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下降，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失业率就容易上升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22860" indent="-161925">
              <a:lnSpc>
                <a:spcPct val="100000"/>
              </a:lnSpc>
              <a:spcBef>
                <a:spcPts val="650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This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one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reason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recessions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hurt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well-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being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much.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55">
                <a:solidFill>
                  <a:srgbClr val="666666"/>
                </a:solidFill>
                <a:latin typeface="SimSun"/>
                <a:cs typeface="SimSun"/>
              </a:rPr>
              <a:t>因为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recession</a:t>
            </a:r>
            <a:r>
              <a:rPr dirty="0" sz="700" spc="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666666"/>
                </a:solidFill>
                <a:latin typeface="SimSun"/>
                <a:cs typeface="SimSun"/>
              </a:rPr>
              <a:t>不只是 </a:t>
            </a:r>
            <a:r>
              <a:rPr dirty="0" sz="700" spc="-30">
                <a:solidFill>
                  <a:srgbClr val="666666"/>
                </a:solidFill>
                <a:latin typeface="Arial MT"/>
                <a:cs typeface="Arial MT"/>
              </a:rPr>
              <a:t>GDP</a:t>
            </a:r>
            <a:r>
              <a:rPr dirty="0" sz="700" spc="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35">
                <a:solidFill>
                  <a:srgbClr val="666666"/>
                </a:solidFill>
                <a:latin typeface="SimSun"/>
                <a:cs typeface="SimSun"/>
              </a:rPr>
              <a:t>变小，更是 </a:t>
            </a:r>
            <a:r>
              <a:rPr dirty="0" sz="700" spc="-20">
                <a:solidFill>
                  <a:srgbClr val="666666"/>
                </a:solidFill>
                <a:latin typeface="Arial MT"/>
                <a:cs typeface="Arial MT"/>
              </a:rPr>
              <a:t>jobs</a:t>
            </a:r>
            <a:endParaRPr sz="7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dirty="0" sz="700" spc="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income</a:t>
            </a:r>
            <a:r>
              <a:rPr dirty="0" sz="700" spc="1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受影响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4953" y="823592"/>
            <a:ext cx="2142380" cy="203526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2544445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65"/>
              <a:t>Reading</a:t>
            </a:r>
            <a:r>
              <a:rPr dirty="0" spc="-45"/>
              <a:t> </a:t>
            </a:r>
            <a:r>
              <a:rPr dirty="0" spc="-40"/>
              <a:t>the </a:t>
            </a:r>
            <a:r>
              <a:rPr dirty="0" spc="-75"/>
              <a:t>cross-</a:t>
            </a:r>
            <a:r>
              <a:rPr dirty="0" spc="-65"/>
              <a:t>country</a:t>
            </a:r>
            <a:r>
              <a:rPr dirty="0" spc="-45"/>
              <a:t> </a:t>
            </a:r>
            <a:r>
              <a:rPr dirty="0" spc="-10"/>
              <a:t>figure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10" b="1">
                <a:solidFill>
                  <a:srgbClr val="666666"/>
                </a:solidFill>
                <a:latin typeface="Microsoft JhengHei"/>
                <a:cs typeface="Microsoft JhengHei"/>
              </a:rPr>
              <a:t>怎么读 </a:t>
            </a:r>
            <a:r>
              <a:rPr dirty="0" sz="900" spc="-45">
                <a:solidFill>
                  <a:srgbClr val="666666"/>
                </a:solidFill>
              </a:rPr>
              <a:t>Problem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75">
                <a:solidFill>
                  <a:srgbClr val="666666"/>
                </a:solidFill>
              </a:rPr>
              <a:t>Set</a:t>
            </a:r>
            <a:r>
              <a:rPr dirty="0" sz="900" spc="-60">
                <a:solidFill>
                  <a:srgbClr val="666666"/>
                </a:solidFill>
              </a:rPr>
              <a:t> </a:t>
            </a:r>
            <a:r>
              <a:rPr dirty="0" sz="900" spc="-85">
                <a:solidFill>
                  <a:srgbClr val="666666"/>
                </a:solidFill>
              </a:rPr>
              <a:t>1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里的六国图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63921"/>
            <a:ext cx="4989830" cy="11861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slope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steeper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some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countries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flatter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others.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有些国家增长变一点，失业率就动很多；有些国家则没那么敏感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At zero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growth,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countries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may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still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show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different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changes.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即使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growth</a:t>
            </a:r>
            <a:r>
              <a:rPr dirty="0" sz="700" spc="70">
                <a:solidFill>
                  <a:srgbClr val="666666"/>
                </a:solidFill>
                <a:latin typeface="Arial MT"/>
                <a:cs typeface="Arial MT"/>
              </a:rPr>
              <a:t> =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0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，不同国家的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unemployment</a:t>
            </a:r>
            <a:r>
              <a:rPr dirty="0" sz="700" spc="114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变化也不一样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27559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Possible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reasons:</a:t>
            </a:r>
            <a:r>
              <a:rPr dirty="0" sz="1000" spc="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labour-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force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growth,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productivity,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hours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adjustment,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institutions.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可以从人口、劳动参与、劳动生产率、工时和制度差异去解释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866264"/>
            <a:ext cx="5466080" cy="230504"/>
          </a:xfrm>
          <a:custGeom>
            <a:avLst/>
            <a:gdLst/>
            <a:ahLst/>
            <a:cxnLst/>
            <a:rect l="l" t="t" r="r" b="b"/>
            <a:pathLst>
              <a:path w="5466080" h="23050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0269"/>
                </a:lnTo>
                <a:lnTo>
                  <a:pt x="5465668" y="230269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872486"/>
            <a:ext cx="161353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Student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Arial Black"/>
                <a:cs typeface="Arial Black"/>
              </a:rPr>
              <a:t>tip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学生提醒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923193"/>
            <a:ext cx="5516880" cy="615315"/>
            <a:chOff x="147205" y="1923193"/>
            <a:chExt cx="5516880" cy="6153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083879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923193"/>
              <a:ext cx="5466080" cy="615315"/>
            </a:xfrm>
            <a:custGeom>
              <a:avLst/>
              <a:gdLst/>
              <a:ahLst/>
              <a:cxnLst/>
              <a:rect l="l" t="t" r="r" b="b"/>
              <a:pathLst>
                <a:path w="5466080" h="615314">
                  <a:moveTo>
                    <a:pt x="5465668" y="0"/>
                  </a:moveTo>
                  <a:lnTo>
                    <a:pt x="0" y="0"/>
                  </a:lnTo>
                  <a:lnTo>
                    <a:pt x="0" y="614864"/>
                  </a:lnTo>
                  <a:lnTo>
                    <a:pt x="5465668" y="614864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128157"/>
              <a:ext cx="5466080" cy="359410"/>
            </a:xfrm>
            <a:custGeom>
              <a:avLst/>
              <a:gdLst/>
              <a:ahLst/>
              <a:cxnLst/>
              <a:rect l="l" t="t" r="r" b="b"/>
              <a:pathLst>
                <a:path w="5466080" h="359410">
                  <a:moveTo>
                    <a:pt x="5465668" y="0"/>
                  </a:moveTo>
                  <a:lnTo>
                    <a:pt x="0" y="0"/>
                  </a:lnTo>
                  <a:lnTo>
                    <a:pt x="0" y="308298"/>
                  </a:lnTo>
                  <a:lnTo>
                    <a:pt x="4008" y="328023"/>
                  </a:lnTo>
                  <a:lnTo>
                    <a:pt x="14922" y="344176"/>
                  </a:lnTo>
                  <a:lnTo>
                    <a:pt x="31075" y="355090"/>
                  </a:lnTo>
                  <a:lnTo>
                    <a:pt x="50800" y="359099"/>
                  </a:lnTo>
                  <a:lnTo>
                    <a:pt x="5414867" y="359099"/>
                  </a:lnTo>
                  <a:lnTo>
                    <a:pt x="5434592" y="355090"/>
                  </a:lnTo>
                  <a:lnTo>
                    <a:pt x="5450745" y="344176"/>
                  </a:lnTo>
                  <a:lnTo>
                    <a:pt x="5461659" y="328023"/>
                  </a:lnTo>
                  <a:lnTo>
                    <a:pt x="5465668" y="308298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121413"/>
            <a:ext cx="54660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200"/>
              </a:lnSpc>
              <a:spcBef>
                <a:spcPts val="95"/>
              </a:spcBef>
            </a:pP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If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question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says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SimSun"/>
                <a:cs typeface="SimSun"/>
              </a:rPr>
              <a:t>“</a:t>
            </a:r>
            <a:r>
              <a:rPr dirty="0" sz="1000" spc="-10" i="1">
                <a:solidFill>
                  <a:srgbClr val="212121"/>
                </a:solidFill>
                <a:latin typeface="Trebuchet MS"/>
                <a:cs typeface="Trebuchet MS"/>
              </a:rPr>
              <a:t>What </a:t>
            </a:r>
            <a:r>
              <a:rPr dirty="0" sz="1000" spc="-40" i="1">
                <a:solidFill>
                  <a:srgbClr val="212121"/>
                </a:solidFill>
                <a:latin typeface="Trebuchet MS"/>
                <a:cs typeface="Trebuchet MS"/>
              </a:rPr>
              <a:t>else</a:t>
            </a:r>
            <a:r>
              <a:rPr dirty="0" sz="1000" spc="-1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might</a:t>
            </a:r>
            <a:r>
              <a:rPr dirty="0" sz="10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20" i="1">
                <a:solidFill>
                  <a:srgbClr val="212121"/>
                </a:solidFill>
                <a:latin typeface="Trebuchet MS"/>
                <a:cs typeface="Trebuchet MS"/>
              </a:rPr>
              <a:t>explain</a:t>
            </a:r>
            <a:r>
              <a:rPr dirty="0" sz="1000" spc="-1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50" i="1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dirty="0" sz="1000" spc="-1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differences</a:t>
            </a:r>
            <a:r>
              <a:rPr dirty="0" sz="10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between</a:t>
            </a:r>
            <a:r>
              <a:rPr dirty="0" sz="1000" spc="-10" i="1">
                <a:solidFill>
                  <a:srgbClr val="212121"/>
                </a:solidFill>
                <a:latin typeface="Trebuchet MS"/>
                <a:cs typeface="Trebuchet MS"/>
              </a:rPr>
              <a:t> countries?</a:t>
            </a:r>
            <a:r>
              <a:rPr dirty="0" sz="1000" spc="-10">
                <a:solidFill>
                  <a:srgbClr val="212121"/>
                </a:solidFill>
                <a:latin typeface="SimSun"/>
                <a:cs typeface="SimSun"/>
              </a:rPr>
              <a:t>”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,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do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endParaRPr sz="1000">
              <a:latin typeface="Arial Black"/>
              <a:cs typeface="Arial Black"/>
            </a:endParaRPr>
          </a:p>
          <a:p>
            <a:pPr>
              <a:lnSpc>
                <a:spcPts val="1200"/>
              </a:lnSpc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stop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at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SimSun"/>
                <a:cs typeface="SimSun"/>
              </a:rPr>
              <a:t>“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because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economy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different</a:t>
            </a:r>
            <a:r>
              <a:rPr dirty="0" sz="1000">
                <a:solidFill>
                  <a:srgbClr val="212121"/>
                </a:solidFill>
                <a:latin typeface="SimSun"/>
                <a:cs typeface="SimSun"/>
              </a:rPr>
              <a:t>”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r>
              <a:rPr dirty="0" sz="1000" spc="2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Give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named</a:t>
            </a:r>
            <a:r>
              <a:rPr dirty="0" sz="1000" spc="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mechanisms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787"/>
                </a:lnTo>
                <a:lnTo>
                  <a:pt x="5759996" y="431787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439"/>
            <a:ext cx="1972310" cy="38989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105"/>
              <a:t>GDP</a:t>
            </a:r>
            <a:r>
              <a:rPr dirty="0" spc="-75"/>
              <a:t> </a:t>
            </a:r>
            <a:r>
              <a:rPr dirty="0" spc="-45"/>
              <a:t>and</a:t>
            </a:r>
            <a:r>
              <a:rPr dirty="0" spc="-70"/>
              <a:t> </a:t>
            </a:r>
            <a:r>
              <a:rPr dirty="0" spc="-40"/>
              <a:t>the</a:t>
            </a:r>
            <a:r>
              <a:rPr dirty="0" spc="-75"/>
              <a:t> </a:t>
            </a:r>
            <a:r>
              <a:rPr dirty="0" spc="-65"/>
              <a:t>circular</a:t>
            </a:r>
            <a:r>
              <a:rPr dirty="0" spc="-75"/>
              <a:t> </a:t>
            </a:r>
            <a:r>
              <a:rPr dirty="0" spc="-20"/>
              <a:t>flow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85">
                <a:solidFill>
                  <a:srgbClr val="666666"/>
                </a:solidFill>
              </a:rPr>
              <a:t>GDP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5" b="1">
                <a:solidFill>
                  <a:srgbClr val="666666"/>
                </a:solidFill>
                <a:latin typeface="Microsoft JhengHei"/>
                <a:cs typeface="Microsoft JhengHei"/>
              </a:rPr>
              <a:t>以及它和 </a:t>
            </a:r>
            <a:r>
              <a:rPr dirty="0" sz="900" spc="-50">
                <a:solidFill>
                  <a:srgbClr val="666666"/>
                </a:solidFill>
              </a:rPr>
              <a:t>circular </a:t>
            </a:r>
            <a:r>
              <a:rPr dirty="0" sz="900" spc="-40">
                <a:solidFill>
                  <a:srgbClr val="666666"/>
                </a:solidFill>
              </a:rPr>
              <a:t>flow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25" b="1">
                <a:solidFill>
                  <a:srgbClr val="666666"/>
                </a:solidFill>
                <a:latin typeface="Microsoft JhengHei"/>
                <a:cs typeface="Microsoft JhengHei"/>
              </a:rPr>
              <a:t>的关系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4354"/>
            <a:ext cx="2506345" cy="1468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20891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GDP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be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measured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through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spending,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production,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or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income.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支出法、生产法、收入法本质上是在看同一个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circular</a:t>
            </a:r>
            <a:r>
              <a:rPr dirty="0" sz="700" spc="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Arial MT"/>
                <a:cs typeface="Arial MT"/>
              </a:rPr>
              <a:t>flow.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ts val="12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By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expenditure: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ts val="1200"/>
              </a:lnSpc>
            </a:pP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GDP</a:t>
            </a:r>
            <a:r>
              <a:rPr dirty="0" sz="1000" spc="-1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-25" i="1">
                <a:solidFill>
                  <a:srgbClr val="212121"/>
                </a:solidFill>
                <a:latin typeface="Trebuchet MS"/>
                <a:cs typeface="Trebuchet MS"/>
              </a:rPr>
              <a:t>C</a:t>
            </a:r>
            <a:r>
              <a:rPr dirty="0" sz="1000" spc="-7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1000" spc="-7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1000" spc="-7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-45" i="1">
                <a:solidFill>
                  <a:srgbClr val="212121"/>
                </a:solidFill>
                <a:latin typeface="Trebuchet MS"/>
                <a:cs typeface="Trebuchet MS"/>
              </a:rPr>
              <a:t>X</a:t>
            </a:r>
            <a:r>
              <a:rPr dirty="0" sz="1000" spc="-7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2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1000" spc="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000" spc="-25" i="1">
                <a:solidFill>
                  <a:srgbClr val="212121"/>
                </a:solidFill>
                <a:latin typeface="Trebuchet MS"/>
                <a:cs typeface="Trebuchet MS"/>
              </a:rPr>
              <a:t>M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10">
                <a:solidFill>
                  <a:srgbClr val="666666"/>
                </a:solidFill>
                <a:latin typeface="SimSun"/>
                <a:cs typeface="SimSun"/>
              </a:rPr>
              <a:t>最常用的是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expenditure</a:t>
            </a:r>
            <a:r>
              <a:rPr dirty="0" sz="700" spc="2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identity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，这个式子必须会写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10287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Imports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are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subtracted;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transfers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are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part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current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production.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imports</a:t>
            </a:r>
            <a:r>
              <a:rPr dirty="0" sz="700" spc="20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要减，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transfer</a:t>
            </a:r>
            <a:r>
              <a:rPr dirty="0" sz="700" spc="204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payments</a:t>
            </a:r>
            <a:r>
              <a:rPr dirty="0" sz="700" spc="204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不算进当期生产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8763" y="635304"/>
            <a:ext cx="1645794" cy="110907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015"/>
                </a:lnTo>
                <a:lnTo>
                  <a:pt x="5759996" y="432015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134"/>
            <a:ext cx="2995930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50"/>
              <a:t>Worked</a:t>
            </a:r>
            <a:r>
              <a:rPr dirty="0" spc="-75"/>
              <a:t> </a:t>
            </a:r>
            <a:r>
              <a:rPr dirty="0" spc="-60"/>
              <a:t>example:</a:t>
            </a:r>
            <a:r>
              <a:rPr dirty="0" spc="40"/>
              <a:t> </a:t>
            </a:r>
            <a:r>
              <a:rPr dirty="0" spc="-45"/>
              <a:t>what</a:t>
            </a:r>
            <a:r>
              <a:rPr dirty="0" spc="-70"/>
              <a:t> </a:t>
            </a:r>
            <a:r>
              <a:rPr dirty="0" spc="-75"/>
              <a:t>counts</a:t>
            </a:r>
            <a:r>
              <a:rPr dirty="0" spc="-65"/>
              <a:t> </a:t>
            </a:r>
            <a:r>
              <a:rPr dirty="0" spc="-20"/>
              <a:t>in</a:t>
            </a:r>
            <a:r>
              <a:rPr dirty="0" spc="-70"/>
              <a:t> </a:t>
            </a:r>
            <a:r>
              <a:rPr dirty="0" spc="-80"/>
              <a:t>GDP?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0" b="1">
                <a:solidFill>
                  <a:srgbClr val="666666"/>
                </a:solidFill>
                <a:latin typeface="Microsoft JhengHei"/>
                <a:cs typeface="Microsoft JhengHei"/>
              </a:rPr>
              <a:t>做题时最容易错的 </a:t>
            </a:r>
            <a:r>
              <a:rPr dirty="0" sz="900" spc="-85">
                <a:solidFill>
                  <a:srgbClr val="666666"/>
                </a:solidFill>
              </a:rPr>
              <a:t>GDP</a:t>
            </a:r>
            <a:r>
              <a:rPr dirty="0" sz="900" spc="-60">
                <a:solidFill>
                  <a:srgbClr val="666666"/>
                </a:solidFill>
              </a:rPr>
              <a:t> </a:t>
            </a:r>
            <a:r>
              <a:rPr dirty="0" sz="900" spc="-30" b="1">
                <a:solidFill>
                  <a:srgbClr val="666666"/>
                </a:solidFill>
                <a:latin typeface="Microsoft JhengHei"/>
                <a:cs typeface="Microsoft JhengHei"/>
              </a:rPr>
              <a:t>细节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708303"/>
            <a:ext cx="3105785" cy="212725"/>
          </a:xfrm>
          <a:custGeom>
            <a:avLst/>
            <a:gdLst/>
            <a:ahLst/>
            <a:cxnLst/>
            <a:rect l="l" t="t" r="r" b="b"/>
            <a:pathLst>
              <a:path w="3105785" h="212725">
                <a:moveTo>
                  <a:pt x="305466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657"/>
                </a:lnTo>
                <a:lnTo>
                  <a:pt x="3105465" y="212657"/>
                </a:lnTo>
                <a:lnTo>
                  <a:pt x="3105465" y="50800"/>
                </a:lnTo>
                <a:lnTo>
                  <a:pt x="3101457" y="31075"/>
                </a:lnTo>
                <a:lnTo>
                  <a:pt x="3090542" y="14922"/>
                </a:lnTo>
                <a:lnTo>
                  <a:pt x="3074389" y="4008"/>
                </a:lnTo>
                <a:lnTo>
                  <a:pt x="305466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714373"/>
            <a:ext cx="121285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Count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要算进去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765220"/>
            <a:ext cx="3156585" cy="1295400"/>
            <a:chOff x="147205" y="765220"/>
            <a:chExt cx="3156585" cy="12954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908304"/>
              <a:ext cx="31054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765220"/>
              <a:ext cx="3105785" cy="1295400"/>
            </a:xfrm>
            <a:custGeom>
              <a:avLst/>
              <a:gdLst/>
              <a:ahLst/>
              <a:cxnLst/>
              <a:rect l="l" t="t" r="r" b="b"/>
              <a:pathLst>
                <a:path w="3105785" h="1295400">
                  <a:moveTo>
                    <a:pt x="3105465" y="0"/>
                  </a:moveTo>
                  <a:lnTo>
                    <a:pt x="0" y="0"/>
                  </a:lnTo>
                  <a:lnTo>
                    <a:pt x="0" y="1294796"/>
                  </a:lnTo>
                  <a:lnTo>
                    <a:pt x="3105465" y="1294796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952572"/>
              <a:ext cx="3105785" cy="1056640"/>
            </a:xfrm>
            <a:custGeom>
              <a:avLst/>
              <a:gdLst/>
              <a:ahLst/>
              <a:cxnLst/>
              <a:rect l="l" t="t" r="r" b="b"/>
              <a:pathLst>
                <a:path w="3105785" h="1056639">
                  <a:moveTo>
                    <a:pt x="3105465" y="0"/>
                  </a:moveTo>
                  <a:lnTo>
                    <a:pt x="0" y="0"/>
                  </a:lnTo>
                  <a:lnTo>
                    <a:pt x="0" y="1005843"/>
                  </a:lnTo>
                  <a:lnTo>
                    <a:pt x="4008" y="1025568"/>
                  </a:lnTo>
                  <a:lnTo>
                    <a:pt x="14922" y="1041721"/>
                  </a:lnTo>
                  <a:lnTo>
                    <a:pt x="31075" y="1052635"/>
                  </a:lnTo>
                  <a:lnTo>
                    <a:pt x="50800" y="1056643"/>
                  </a:lnTo>
                  <a:lnTo>
                    <a:pt x="3054664" y="1056643"/>
                  </a:lnTo>
                  <a:lnTo>
                    <a:pt x="3074389" y="1052635"/>
                  </a:lnTo>
                  <a:lnTo>
                    <a:pt x="3090542" y="1041721"/>
                  </a:lnTo>
                  <a:lnTo>
                    <a:pt x="3101457" y="1025568"/>
                  </a:lnTo>
                  <a:lnTo>
                    <a:pt x="3105465" y="1005843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47205" y="2161145"/>
            <a:ext cx="3105785" cy="212725"/>
          </a:xfrm>
          <a:custGeom>
            <a:avLst/>
            <a:gdLst/>
            <a:ahLst/>
            <a:cxnLst/>
            <a:rect l="l" t="t" r="r" b="b"/>
            <a:pathLst>
              <a:path w="3105785" h="212725">
                <a:moveTo>
                  <a:pt x="305466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657"/>
                </a:lnTo>
                <a:lnTo>
                  <a:pt x="3105465" y="212657"/>
                </a:lnTo>
                <a:lnTo>
                  <a:pt x="3105465" y="50800"/>
                </a:lnTo>
                <a:lnTo>
                  <a:pt x="3101457" y="31075"/>
                </a:lnTo>
                <a:lnTo>
                  <a:pt x="3090542" y="14922"/>
                </a:lnTo>
                <a:lnTo>
                  <a:pt x="3074389" y="4008"/>
                </a:lnTo>
                <a:lnTo>
                  <a:pt x="305466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8005" y="2167202"/>
            <a:ext cx="203390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Do </a:t>
            </a:r>
            <a:r>
              <a:rPr dirty="0" sz="1200" spc="50" b="1" i="1">
                <a:solidFill>
                  <a:srgbClr val="FFFFFF"/>
                </a:solidFill>
                <a:latin typeface="Cambria"/>
                <a:cs typeface="Cambria"/>
              </a:rPr>
              <a:t>not</a:t>
            </a:r>
            <a:r>
              <a:rPr dirty="0" sz="1200" spc="70" b="1" i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count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不直接算进去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7205" y="2218079"/>
            <a:ext cx="3156585" cy="650240"/>
            <a:chOff x="147205" y="2218079"/>
            <a:chExt cx="3156585" cy="6502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05" y="2361145"/>
              <a:ext cx="3105465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98005" y="2218079"/>
              <a:ext cx="3105785" cy="650240"/>
            </a:xfrm>
            <a:custGeom>
              <a:avLst/>
              <a:gdLst/>
              <a:ahLst/>
              <a:cxnLst/>
              <a:rect l="l" t="t" r="r" b="b"/>
              <a:pathLst>
                <a:path w="3105785" h="650239">
                  <a:moveTo>
                    <a:pt x="3105465" y="0"/>
                  </a:moveTo>
                  <a:lnTo>
                    <a:pt x="0" y="0"/>
                  </a:lnTo>
                  <a:lnTo>
                    <a:pt x="0" y="650140"/>
                  </a:lnTo>
                  <a:lnTo>
                    <a:pt x="3105465" y="650140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7205" y="2405431"/>
              <a:ext cx="3105785" cy="412115"/>
            </a:xfrm>
            <a:custGeom>
              <a:avLst/>
              <a:gdLst/>
              <a:ahLst/>
              <a:cxnLst/>
              <a:rect l="l" t="t" r="r" b="b"/>
              <a:pathLst>
                <a:path w="3105785" h="412114">
                  <a:moveTo>
                    <a:pt x="3105465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4008" y="380911"/>
                  </a:lnTo>
                  <a:lnTo>
                    <a:pt x="14922" y="397064"/>
                  </a:lnTo>
                  <a:lnTo>
                    <a:pt x="31075" y="407979"/>
                  </a:lnTo>
                  <a:lnTo>
                    <a:pt x="50800" y="411987"/>
                  </a:lnTo>
                  <a:lnTo>
                    <a:pt x="3054664" y="411987"/>
                  </a:lnTo>
                  <a:lnTo>
                    <a:pt x="3074389" y="407979"/>
                  </a:lnTo>
                  <a:lnTo>
                    <a:pt x="3090542" y="397064"/>
                  </a:lnTo>
                  <a:lnTo>
                    <a:pt x="3101457" y="380911"/>
                  </a:lnTo>
                  <a:lnTo>
                    <a:pt x="3105465" y="361187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98005" y="871556"/>
            <a:ext cx="3105785" cy="190944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252729" indent="-161925">
              <a:lnSpc>
                <a:spcPct val="100000"/>
              </a:lnSpc>
              <a:spcBef>
                <a:spcPts val="5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household</a:t>
            </a:r>
            <a:r>
              <a:rPr dirty="0" sz="1000" spc="1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consumption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capital</a:t>
            </a:r>
            <a:r>
              <a:rPr dirty="0" sz="1000" spc="1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goods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change</a:t>
            </a:r>
            <a:r>
              <a:rPr dirty="0" sz="1000" spc="10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1000" spc="1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inventories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government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goods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services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exports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B90B2E"/>
              </a:buClr>
              <a:buFont typeface="Cambria"/>
              <a:buChar char="►"/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B90B2E"/>
              </a:buClr>
              <a:buFont typeface="Cambria"/>
              <a:buChar char="►"/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B90B2E"/>
              </a:buClr>
              <a:buFont typeface="Cambria"/>
              <a:buChar char="►"/>
            </a:pP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transfer</a:t>
            </a:r>
            <a:r>
              <a:rPr dirty="0" sz="1000" spc="2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payments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imports</a:t>
            </a:r>
            <a:r>
              <a:rPr dirty="0" sz="1000" spc="1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(subtract</a:t>
            </a:r>
            <a:r>
              <a:rPr dirty="0" sz="1000" spc="1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them)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65626" y="708303"/>
            <a:ext cx="2247265" cy="376555"/>
          </a:xfrm>
          <a:custGeom>
            <a:avLst/>
            <a:gdLst/>
            <a:ahLst/>
            <a:cxnLst/>
            <a:rect l="l" t="t" r="r" b="b"/>
            <a:pathLst>
              <a:path w="2247265" h="376555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75978"/>
                </a:lnTo>
                <a:lnTo>
                  <a:pt x="2247195" y="375978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16427" y="700555"/>
            <a:ext cx="1965960" cy="3702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ts val="1415"/>
              </a:lnSpc>
              <a:spcBef>
                <a:spcPts val="75"/>
              </a:spcBef>
            </a:pP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Lecture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95">
                <a:solidFill>
                  <a:srgbClr val="FFFFFF"/>
                </a:solidFill>
                <a:latin typeface="Arial Black"/>
                <a:cs typeface="Arial Black"/>
              </a:rPr>
              <a:t>exercise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answer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114">
                <a:solidFill>
                  <a:srgbClr val="FFFFFF"/>
                </a:solidFill>
                <a:latin typeface="Arial Black"/>
                <a:cs typeface="Arial Black"/>
              </a:rPr>
              <a:t>/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ts val="1415"/>
              </a:lnSpc>
            </a:pP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课堂练习答案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65626" y="765226"/>
            <a:ext cx="2298065" cy="1463040"/>
            <a:chOff x="3365626" y="765226"/>
            <a:chExt cx="2298065" cy="146304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5626" y="1071626"/>
              <a:ext cx="2247195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16427" y="765226"/>
              <a:ext cx="2247265" cy="1463040"/>
            </a:xfrm>
            <a:custGeom>
              <a:avLst/>
              <a:gdLst/>
              <a:ahLst/>
              <a:cxnLst/>
              <a:rect l="l" t="t" r="r" b="b"/>
              <a:pathLst>
                <a:path w="2247265" h="1463039">
                  <a:moveTo>
                    <a:pt x="2247195" y="0"/>
                  </a:moveTo>
                  <a:lnTo>
                    <a:pt x="0" y="0"/>
                  </a:lnTo>
                  <a:lnTo>
                    <a:pt x="0" y="1462799"/>
                  </a:lnTo>
                  <a:lnTo>
                    <a:pt x="2247195" y="1462799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365626" y="1115899"/>
              <a:ext cx="2247265" cy="1061720"/>
            </a:xfrm>
            <a:custGeom>
              <a:avLst/>
              <a:gdLst/>
              <a:ahLst/>
              <a:cxnLst/>
              <a:rect l="l" t="t" r="r" b="b"/>
              <a:pathLst>
                <a:path w="2247265" h="1061720">
                  <a:moveTo>
                    <a:pt x="2247195" y="0"/>
                  </a:moveTo>
                  <a:lnTo>
                    <a:pt x="0" y="0"/>
                  </a:lnTo>
                  <a:lnTo>
                    <a:pt x="0" y="1010525"/>
                  </a:lnTo>
                  <a:lnTo>
                    <a:pt x="4008" y="1030250"/>
                  </a:lnTo>
                  <a:lnTo>
                    <a:pt x="14922" y="1046402"/>
                  </a:lnTo>
                  <a:lnTo>
                    <a:pt x="31075" y="1057317"/>
                  </a:lnTo>
                  <a:lnTo>
                    <a:pt x="50800" y="1061325"/>
                  </a:lnTo>
                  <a:lnTo>
                    <a:pt x="2196394" y="1061325"/>
                  </a:lnTo>
                  <a:lnTo>
                    <a:pt x="2216119" y="1057317"/>
                  </a:lnTo>
                  <a:lnTo>
                    <a:pt x="2232272" y="1046402"/>
                  </a:lnTo>
                  <a:lnTo>
                    <a:pt x="2243186" y="1030250"/>
                  </a:lnTo>
                  <a:lnTo>
                    <a:pt x="2247195" y="1010525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416427" y="1093589"/>
            <a:ext cx="2155825" cy="1075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C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100</a:t>
            </a:r>
            <a:r>
              <a:rPr dirty="0" sz="1000" i="1">
                <a:solidFill>
                  <a:srgbClr val="212121"/>
                </a:solidFill>
                <a:latin typeface="Georgia"/>
                <a:cs typeface="Georgia"/>
              </a:rPr>
              <a:t>,</a:t>
            </a:r>
            <a:r>
              <a:rPr dirty="0" sz="1000" spc="165" i="1">
                <a:solidFill>
                  <a:srgbClr val="212121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10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15</a:t>
            </a:r>
            <a:r>
              <a:rPr dirty="0" sz="10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r>
              <a:rPr dirty="0" sz="1000" i="1">
                <a:solidFill>
                  <a:srgbClr val="212121"/>
                </a:solidFill>
                <a:latin typeface="Georgia"/>
                <a:cs typeface="Georgia"/>
              </a:rPr>
              <a:t>,</a:t>
            </a:r>
            <a:r>
              <a:rPr dirty="0" sz="1000" spc="165" i="1">
                <a:solidFill>
                  <a:srgbClr val="212121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10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10</a:t>
            </a:r>
            <a:r>
              <a:rPr dirty="0" sz="10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2</a:t>
            </a:r>
            <a:r>
              <a:rPr dirty="0" sz="1000" i="1">
                <a:solidFill>
                  <a:srgbClr val="212121"/>
                </a:solidFill>
                <a:latin typeface="Georgia"/>
                <a:cs typeface="Georgia"/>
              </a:rPr>
              <a:t>,</a:t>
            </a:r>
            <a:r>
              <a:rPr dirty="0" sz="1000" spc="170" i="1">
                <a:solidFill>
                  <a:srgbClr val="212121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NX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20">
                <a:solidFill>
                  <a:srgbClr val="212121"/>
                </a:solidFill>
                <a:latin typeface="Calibri"/>
                <a:cs typeface="Calibri"/>
              </a:rPr>
              <a:t>=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12</a:t>
            </a:r>
            <a:r>
              <a:rPr dirty="0" sz="10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2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1000" spc="-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10</a:t>
            </a:r>
            <a:r>
              <a:rPr dirty="0" sz="1000" spc="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03200">
              <a:lnSpc>
                <a:spcPct val="100000"/>
              </a:lnSpc>
            </a:pP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GDP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100</a:t>
            </a:r>
            <a:r>
              <a:rPr dirty="0" sz="10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16</a:t>
            </a:r>
            <a:r>
              <a:rPr dirty="0" sz="10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12</a:t>
            </a:r>
            <a:r>
              <a:rPr dirty="0" sz="10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2</a:t>
            </a:r>
            <a:r>
              <a:rPr dirty="0" sz="1000" spc="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Calibri"/>
                <a:cs typeface="Calibri"/>
              </a:rPr>
              <a:t>130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Transfers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are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excluded.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105"/>
              <a:t>GDP</a:t>
            </a:r>
            <a:r>
              <a:rPr dirty="0" spc="-80"/>
              <a:t> is </a:t>
            </a:r>
            <a:r>
              <a:rPr dirty="0" spc="-50"/>
              <a:t>useful,</a:t>
            </a:r>
            <a:r>
              <a:rPr dirty="0" spc="-80"/>
              <a:t> </a:t>
            </a:r>
            <a:r>
              <a:rPr dirty="0" spc="-25"/>
              <a:t>but</a:t>
            </a:r>
            <a:r>
              <a:rPr dirty="0" spc="-75"/>
              <a:t> </a:t>
            </a:r>
            <a:r>
              <a:rPr dirty="0" spc="-105"/>
              <a:t>GDP</a:t>
            </a:r>
            <a:r>
              <a:rPr dirty="0" spc="-80"/>
              <a:t> is </a:t>
            </a:r>
            <a:r>
              <a:rPr dirty="0" spc="-25"/>
              <a:t>not</a:t>
            </a:r>
            <a:r>
              <a:rPr dirty="0" spc="-80"/>
              <a:t> </a:t>
            </a:r>
            <a:r>
              <a:rPr dirty="0" spc="-35"/>
              <a:t>welfare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85">
                <a:solidFill>
                  <a:srgbClr val="666666"/>
                </a:solidFill>
              </a:rPr>
              <a:t>GDP</a:t>
            </a:r>
            <a:r>
              <a:rPr dirty="0" sz="900" spc="-60">
                <a:solidFill>
                  <a:srgbClr val="666666"/>
                </a:solidFill>
              </a:rPr>
              <a:t> </a:t>
            </a:r>
            <a:r>
              <a:rPr dirty="0" sz="900" spc="-10" b="1">
                <a:solidFill>
                  <a:srgbClr val="666666"/>
                </a:solidFill>
                <a:latin typeface="Microsoft JhengHei"/>
                <a:cs typeface="Microsoft JhengHei"/>
              </a:rPr>
              <a:t>很有用，但它不是 </a:t>
            </a:r>
            <a:r>
              <a:rPr dirty="0" sz="900" spc="-10">
                <a:solidFill>
                  <a:srgbClr val="666666"/>
                </a:solidFill>
              </a:rPr>
              <a:t>wellbeing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682" y="615243"/>
            <a:ext cx="2774315" cy="1468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40449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GDP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powerful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size,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planning,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forecasting,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 comparison.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30">
                <a:solidFill>
                  <a:srgbClr val="666666"/>
                </a:solidFill>
                <a:latin typeface="Arial MT"/>
                <a:cs typeface="Arial MT"/>
              </a:rPr>
              <a:t>GDP</a:t>
            </a:r>
            <a:r>
              <a:rPr dirty="0" sz="700" spc="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65">
                <a:solidFill>
                  <a:srgbClr val="666666"/>
                </a:solidFill>
                <a:latin typeface="SimSun"/>
                <a:cs typeface="SimSun"/>
              </a:rPr>
              <a:t>对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policy</a:t>
            </a:r>
            <a:r>
              <a:rPr dirty="0" sz="700" spc="5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和比较国家经济规模非常有用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5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But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GDP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misses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inequality,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unpaid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work, and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environmental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damage.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它不直接告诉你分配、公平、家庭劳动和环境成本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7239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Good exam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style:</a:t>
            </a:r>
            <a:r>
              <a:rPr dirty="0" sz="1000" spc="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define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GDP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first,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then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criticise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briefly.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考试里先定义再批判，不要一上来就说 </a:t>
            </a:r>
            <a:r>
              <a:rPr dirty="0" sz="700" spc="-30">
                <a:solidFill>
                  <a:srgbClr val="666666"/>
                </a:solidFill>
                <a:latin typeface="Arial MT"/>
                <a:cs typeface="Arial MT"/>
              </a:rPr>
              <a:t>GDP</a:t>
            </a:r>
            <a:r>
              <a:rPr dirty="0" sz="700" spc="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没用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65626" y="708075"/>
            <a:ext cx="2247265" cy="212090"/>
          </a:xfrm>
          <a:custGeom>
            <a:avLst/>
            <a:gdLst/>
            <a:ahLst/>
            <a:cxnLst/>
            <a:rect l="l" t="t" r="r" b="b"/>
            <a:pathLst>
              <a:path w="2247265" h="212090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1594"/>
                </a:lnTo>
                <a:lnTo>
                  <a:pt x="2247195" y="211594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16427" y="713078"/>
            <a:ext cx="208724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One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neat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line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一个好用句子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65626" y="765000"/>
            <a:ext cx="2298065" cy="709295"/>
            <a:chOff x="3365626" y="765000"/>
            <a:chExt cx="2298065" cy="7092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5626" y="907021"/>
              <a:ext cx="224719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6427" y="765000"/>
              <a:ext cx="2247265" cy="709295"/>
            </a:xfrm>
            <a:custGeom>
              <a:avLst/>
              <a:gdLst/>
              <a:ahLst/>
              <a:cxnLst/>
              <a:rect l="l" t="t" r="r" b="b"/>
              <a:pathLst>
                <a:path w="2247265" h="709294">
                  <a:moveTo>
                    <a:pt x="2247195" y="0"/>
                  </a:moveTo>
                  <a:lnTo>
                    <a:pt x="0" y="0"/>
                  </a:lnTo>
                  <a:lnTo>
                    <a:pt x="0" y="709178"/>
                  </a:lnTo>
                  <a:lnTo>
                    <a:pt x="2247195" y="709178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65626" y="951290"/>
              <a:ext cx="2247265" cy="472440"/>
            </a:xfrm>
            <a:custGeom>
              <a:avLst/>
              <a:gdLst/>
              <a:ahLst/>
              <a:cxnLst/>
              <a:rect l="l" t="t" r="r" b="b"/>
              <a:pathLst>
                <a:path w="2247265" h="472440">
                  <a:moveTo>
                    <a:pt x="2247195" y="0"/>
                  </a:moveTo>
                  <a:lnTo>
                    <a:pt x="0" y="0"/>
                  </a:lnTo>
                  <a:lnTo>
                    <a:pt x="0" y="421287"/>
                  </a:lnTo>
                  <a:lnTo>
                    <a:pt x="4008" y="441012"/>
                  </a:lnTo>
                  <a:lnTo>
                    <a:pt x="14922" y="457165"/>
                  </a:lnTo>
                  <a:lnTo>
                    <a:pt x="31075" y="468079"/>
                  </a:lnTo>
                  <a:lnTo>
                    <a:pt x="50800" y="472088"/>
                  </a:lnTo>
                  <a:lnTo>
                    <a:pt x="2196394" y="472088"/>
                  </a:lnTo>
                  <a:lnTo>
                    <a:pt x="2216119" y="468079"/>
                  </a:lnTo>
                  <a:lnTo>
                    <a:pt x="2232272" y="457165"/>
                  </a:lnTo>
                  <a:lnTo>
                    <a:pt x="2243186" y="441012"/>
                  </a:lnTo>
                  <a:lnTo>
                    <a:pt x="2247195" y="421287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416427" y="934420"/>
            <a:ext cx="224726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133350">
              <a:lnSpc>
                <a:spcPct val="100000"/>
              </a:lnSpc>
              <a:spcBef>
                <a:spcPts val="95"/>
              </a:spcBef>
            </a:pP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GDP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measure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economic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activity,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complete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measure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human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welfare.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015"/>
                </a:lnTo>
                <a:lnTo>
                  <a:pt x="5759996" y="432015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134"/>
            <a:ext cx="1925955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55"/>
              <a:t>Consumption</a:t>
            </a:r>
            <a:r>
              <a:rPr dirty="0" spc="-5"/>
              <a:t> </a:t>
            </a:r>
            <a:r>
              <a:rPr dirty="0" spc="-35"/>
              <a:t>smoothing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b="1">
                <a:solidFill>
                  <a:srgbClr val="666666"/>
                </a:solidFill>
                <a:latin typeface="Microsoft JhengHei"/>
                <a:cs typeface="Microsoft JhengHei"/>
              </a:rPr>
              <a:t>为什么 </a:t>
            </a:r>
            <a:r>
              <a:rPr dirty="0" sz="900" spc="-45">
                <a:solidFill>
                  <a:srgbClr val="666666"/>
                </a:solidFill>
              </a:rPr>
              <a:t>households</a:t>
            </a:r>
            <a:r>
              <a:rPr dirty="0" sz="900" spc="-40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想把消费变平滑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5218"/>
            <a:ext cx="2401570" cy="177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38544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Households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usually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 prefer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smoother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consumption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than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income.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收入会波动，但消费如果也大幅波动，福利会更差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8064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Temporary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shock:</a:t>
            </a:r>
            <a:r>
              <a:rPr dirty="0" sz="1000" spc="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borrow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save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smooth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consumption.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暂时性冲击通常通过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borrowing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/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saving</a:t>
            </a:r>
            <a:r>
              <a:rPr dirty="0" sz="700" spc="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去平滑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4699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Permanent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shock:</a:t>
            </a:r>
            <a:r>
              <a:rPr dirty="0" sz="1000" spc="8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revise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long-run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consumption.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如果冲击是永久的，就要把长期消费水平重新往下或往上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改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517" y="669201"/>
            <a:ext cx="2591193" cy="161743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015"/>
                </a:lnTo>
                <a:lnTo>
                  <a:pt x="5759996" y="432015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134"/>
            <a:ext cx="2747010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65"/>
              <a:t>Credit</a:t>
            </a:r>
            <a:r>
              <a:rPr dirty="0" spc="-45"/>
              <a:t> </a:t>
            </a:r>
            <a:r>
              <a:rPr dirty="0" spc="-70"/>
              <a:t>constraints</a:t>
            </a:r>
            <a:r>
              <a:rPr dirty="0" spc="-45"/>
              <a:t> </a:t>
            </a:r>
            <a:r>
              <a:rPr dirty="0" spc="-70"/>
              <a:t>change</a:t>
            </a:r>
            <a:r>
              <a:rPr dirty="0" spc="-40"/>
              <a:t> the </a:t>
            </a:r>
            <a:r>
              <a:rPr dirty="0" spc="-10"/>
              <a:t>story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10" b="1">
                <a:solidFill>
                  <a:srgbClr val="666666"/>
                </a:solidFill>
                <a:latin typeface="Microsoft JhengHei"/>
                <a:cs typeface="Microsoft JhengHei"/>
              </a:rPr>
              <a:t>一旦有 </a:t>
            </a:r>
            <a:r>
              <a:rPr dirty="0" sz="900" spc="-50">
                <a:solidFill>
                  <a:srgbClr val="666666"/>
                </a:solidFill>
              </a:rPr>
              <a:t>credit</a:t>
            </a:r>
            <a:r>
              <a:rPr dirty="0" sz="900" spc="10">
                <a:solidFill>
                  <a:srgbClr val="666666"/>
                </a:solidFill>
              </a:rPr>
              <a:t> </a:t>
            </a:r>
            <a:r>
              <a:rPr dirty="0" sz="900" spc="-50">
                <a:solidFill>
                  <a:srgbClr val="666666"/>
                </a:solidFill>
              </a:rPr>
              <a:t>constraints</a:t>
            </a:r>
            <a:r>
              <a:rPr dirty="0" sz="900" spc="-30" b="1">
                <a:solidFill>
                  <a:srgbClr val="666666"/>
                </a:solidFill>
                <a:latin typeface="Microsoft JhengHei"/>
                <a:cs typeface="Microsoft JhengHei"/>
              </a:rPr>
              <a:t>，平滑消费就没那么容易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4583"/>
            <a:ext cx="2283460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Some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households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cannot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borrow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against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future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income.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有些家庭即使知道以后会赚更多，现在也借不到钱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algn="just" marL="173990" marR="386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Then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current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consumption </a:t>
            </a: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becomes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more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sensitive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to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current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income.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这时当前消费就会更依赖当前收入，而不是长期收入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211454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This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why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temporary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shocks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hurt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welfare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more.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所以同样是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temporary</a:t>
            </a:r>
            <a:r>
              <a:rPr dirty="0" sz="700" spc="1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shock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，被约束家庭会更难受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6238" y="679548"/>
            <a:ext cx="2263917" cy="195734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1439"/>
            <a:ext cx="2248535" cy="38989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65"/>
              <a:t>Direct</a:t>
            </a:r>
            <a:r>
              <a:rPr dirty="0" spc="-95"/>
              <a:t> </a:t>
            </a:r>
            <a:r>
              <a:rPr dirty="0" spc="-75"/>
              <a:t>exam</a:t>
            </a:r>
            <a:r>
              <a:rPr dirty="0" spc="-90"/>
              <a:t> </a:t>
            </a:r>
            <a:r>
              <a:rPr dirty="0" spc="-20"/>
              <a:t>link:</a:t>
            </a:r>
            <a:r>
              <a:rPr dirty="0" spc="20"/>
              <a:t> </a:t>
            </a:r>
            <a:r>
              <a:rPr dirty="0" spc="-55"/>
              <a:t>Short</a:t>
            </a:r>
            <a:r>
              <a:rPr dirty="0" spc="-90"/>
              <a:t> </a:t>
            </a:r>
            <a:r>
              <a:rPr dirty="0" spc="-50"/>
              <a:t>Q2(a)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5" b="1">
                <a:solidFill>
                  <a:srgbClr val="666666"/>
                </a:solidFill>
                <a:latin typeface="Microsoft JhengHei"/>
                <a:cs typeface="Microsoft JhengHei"/>
              </a:rPr>
              <a:t>这就是 </a:t>
            </a:r>
            <a:r>
              <a:rPr dirty="0" sz="900" spc="-90">
                <a:solidFill>
                  <a:srgbClr val="666666"/>
                </a:solidFill>
              </a:rPr>
              <a:t>2025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5" b="1">
                <a:solidFill>
                  <a:srgbClr val="666666"/>
                </a:solidFill>
                <a:latin typeface="Microsoft JhengHei"/>
                <a:cs typeface="Microsoft JhengHei"/>
              </a:rPr>
              <a:t>试卷 </a:t>
            </a:r>
            <a:r>
              <a:rPr dirty="0" sz="900" spc="-45">
                <a:solidFill>
                  <a:srgbClr val="666666"/>
                </a:solidFill>
              </a:rPr>
              <a:t>Short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60">
                <a:solidFill>
                  <a:srgbClr val="666666"/>
                </a:solidFill>
              </a:rPr>
              <a:t>Q2(a)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25" b="1">
                <a:solidFill>
                  <a:srgbClr val="666666"/>
                </a:solidFill>
                <a:latin typeface="Microsoft JhengHei"/>
                <a:cs typeface="Microsoft JhengHei"/>
              </a:rPr>
              <a:t>的核心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6524" y="624961"/>
            <a:ext cx="2834640" cy="150050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64465" marR="56515" indent="-152400">
              <a:lnSpc>
                <a:spcPct val="101499"/>
              </a:lnSpc>
              <a:spcBef>
                <a:spcPts val="80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Unconstrained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households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treat 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 temporary 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income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gain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mostly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temporary.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所以他们往往只小幅增加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current</a:t>
            </a:r>
            <a:r>
              <a:rPr dirty="0" sz="700" spc="1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consumption</a:t>
            </a:r>
            <a:r>
              <a:rPr dirty="0" sz="700" spc="-5">
                <a:solidFill>
                  <a:srgbClr val="666666"/>
                </a:solidFill>
                <a:latin typeface="SimSun"/>
                <a:cs typeface="SimSun"/>
              </a:rPr>
              <a:t>，更多是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save.</a:t>
            </a:r>
            <a:endParaRPr sz="700">
              <a:latin typeface="Arial MT"/>
              <a:cs typeface="Arial MT"/>
            </a:endParaRPr>
          </a:p>
          <a:p>
            <a:pPr marL="164465" marR="103505" indent="-152400">
              <a:lnSpc>
                <a:spcPct val="101499"/>
              </a:lnSpc>
              <a:spcBef>
                <a:spcPts val="635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Credit-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constrained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households</a:t>
            </a:r>
            <a:r>
              <a:rPr dirty="0" sz="9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12121"/>
                </a:solidFill>
                <a:latin typeface="Arial Black"/>
                <a:cs typeface="Arial Black"/>
              </a:rPr>
              <a:t>use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9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extra 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income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immediately.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因为之前本来就消费被卡住，收入一来就会马上增加消费或还紧急账</a:t>
            </a:r>
            <a:endParaRPr sz="70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  <a:spcBef>
                <a:spcPts val="25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单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64465" marR="118745" indent="-152400">
              <a:lnSpc>
                <a:spcPct val="101499"/>
              </a:lnSpc>
              <a:spcBef>
                <a:spcPts val="640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Therefore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temporary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income</a:t>
            </a:r>
            <a:r>
              <a:rPr dirty="0" sz="9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changes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affect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them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more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strongly.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这就是题目想要的主结论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2253538"/>
            <a:ext cx="3105785" cy="230504"/>
          </a:xfrm>
          <a:custGeom>
            <a:avLst/>
            <a:gdLst/>
            <a:ahLst/>
            <a:cxnLst/>
            <a:rect l="l" t="t" r="r" b="b"/>
            <a:pathLst>
              <a:path w="3105785" h="230505">
                <a:moveTo>
                  <a:pt x="305466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0269"/>
                </a:lnTo>
                <a:lnTo>
                  <a:pt x="3105465" y="230269"/>
                </a:lnTo>
                <a:lnTo>
                  <a:pt x="3105465" y="50800"/>
                </a:lnTo>
                <a:lnTo>
                  <a:pt x="3101457" y="31075"/>
                </a:lnTo>
                <a:lnTo>
                  <a:pt x="3090542" y="14922"/>
                </a:lnTo>
                <a:lnTo>
                  <a:pt x="3074389" y="4008"/>
                </a:lnTo>
                <a:lnTo>
                  <a:pt x="305466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2259747"/>
            <a:ext cx="288036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Simple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example</a:t>
            </a:r>
            <a:r>
              <a:rPr dirty="0" sz="1200" spc="3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一个学生能秒懂的例子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2310462"/>
            <a:ext cx="3156585" cy="566420"/>
            <a:chOff x="147205" y="2310462"/>
            <a:chExt cx="3156585" cy="5664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471153"/>
              <a:ext cx="31054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2310462"/>
              <a:ext cx="3105785" cy="566420"/>
            </a:xfrm>
            <a:custGeom>
              <a:avLst/>
              <a:gdLst/>
              <a:ahLst/>
              <a:cxnLst/>
              <a:rect l="l" t="t" r="r" b="b"/>
              <a:pathLst>
                <a:path w="3105785" h="566419">
                  <a:moveTo>
                    <a:pt x="3105465" y="0"/>
                  </a:moveTo>
                  <a:lnTo>
                    <a:pt x="0" y="0"/>
                  </a:lnTo>
                  <a:lnTo>
                    <a:pt x="0" y="565898"/>
                  </a:lnTo>
                  <a:lnTo>
                    <a:pt x="3105465" y="565898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2515426"/>
              <a:ext cx="3105785" cy="310515"/>
            </a:xfrm>
            <a:custGeom>
              <a:avLst/>
              <a:gdLst/>
              <a:ahLst/>
              <a:cxnLst/>
              <a:rect l="l" t="t" r="r" b="b"/>
              <a:pathLst>
                <a:path w="3105785" h="310514">
                  <a:moveTo>
                    <a:pt x="3105465" y="0"/>
                  </a:moveTo>
                  <a:lnTo>
                    <a:pt x="0" y="0"/>
                  </a:lnTo>
                  <a:lnTo>
                    <a:pt x="0" y="259333"/>
                  </a:lnTo>
                  <a:lnTo>
                    <a:pt x="4008" y="279057"/>
                  </a:lnTo>
                  <a:lnTo>
                    <a:pt x="14922" y="295210"/>
                  </a:lnTo>
                  <a:lnTo>
                    <a:pt x="31075" y="306125"/>
                  </a:lnTo>
                  <a:lnTo>
                    <a:pt x="50800" y="310133"/>
                  </a:lnTo>
                  <a:lnTo>
                    <a:pt x="3054664" y="310133"/>
                  </a:lnTo>
                  <a:lnTo>
                    <a:pt x="3074389" y="306125"/>
                  </a:lnTo>
                  <a:lnTo>
                    <a:pt x="3090542" y="295210"/>
                  </a:lnTo>
                  <a:lnTo>
                    <a:pt x="3101457" y="279057"/>
                  </a:lnTo>
                  <a:lnTo>
                    <a:pt x="3105465" y="259333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8005" y="2486037"/>
            <a:ext cx="3105785" cy="304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319405">
              <a:lnSpc>
                <a:spcPct val="114199"/>
              </a:lnSpc>
              <a:spcBef>
                <a:spcPts val="100"/>
              </a:spcBef>
            </a:pPr>
            <a:r>
              <a:rPr dirty="0" sz="8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8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212121"/>
                </a:solidFill>
                <a:latin typeface="Arial MT"/>
                <a:cs typeface="Arial MT"/>
              </a:rPr>
              <a:t>student</a:t>
            </a:r>
            <a:r>
              <a:rPr dirty="0" sz="8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212121"/>
                </a:solidFill>
                <a:latin typeface="Arial MT"/>
                <a:cs typeface="Arial MT"/>
              </a:rPr>
              <a:t>with</a:t>
            </a:r>
            <a:r>
              <a:rPr dirty="0" sz="8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212121"/>
                </a:solidFill>
                <a:latin typeface="Arial MT"/>
                <a:cs typeface="Arial MT"/>
              </a:rPr>
              <a:t>savings</a:t>
            </a:r>
            <a:r>
              <a:rPr dirty="0" sz="8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212121"/>
                </a:solidFill>
                <a:latin typeface="Arial MT"/>
                <a:cs typeface="Arial MT"/>
              </a:rPr>
              <a:t>mostly</a:t>
            </a:r>
            <a:r>
              <a:rPr dirty="0" sz="800" spc="10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MT"/>
                <a:cs typeface="Arial MT"/>
              </a:rPr>
              <a:t>saves</a:t>
            </a:r>
            <a:r>
              <a:rPr dirty="0" sz="8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8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212121"/>
                </a:solidFill>
                <a:latin typeface="Arial MT"/>
                <a:cs typeface="Arial MT"/>
              </a:rPr>
              <a:t>one-month</a:t>
            </a:r>
            <a:r>
              <a:rPr dirty="0" sz="8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212121"/>
                </a:solidFill>
                <a:latin typeface="Arial MT"/>
                <a:cs typeface="Arial MT"/>
              </a:rPr>
              <a:t>bonus;</a:t>
            </a:r>
            <a:r>
              <a:rPr dirty="0" sz="8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800" spc="10">
                <a:solidFill>
                  <a:srgbClr val="212121"/>
                </a:solidFill>
                <a:latin typeface="Arial MT"/>
                <a:cs typeface="Arial MT"/>
              </a:rPr>
              <a:t> cash-strapped</a:t>
            </a:r>
            <a:r>
              <a:rPr dirty="0" sz="8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212121"/>
                </a:solidFill>
                <a:latin typeface="Arial MT"/>
                <a:cs typeface="Arial MT"/>
              </a:rPr>
              <a:t>student</a:t>
            </a:r>
            <a:r>
              <a:rPr dirty="0" sz="8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212121"/>
                </a:solidFill>
                <a:latin typeface="Arial MT"/>
                <a:cs typeface="Arial MT"/>
              </a:rPr>
              <a:t>spends</a:t>
            </a:r>
            <a:r>
              <a:rPr dirty="0" sz="8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212121"/>
                </a:solidFill>
                <a:latin typeface="Arial MT"/>
                <a:cs typeface="Arial MT"/>
              </a:rPr>
              <a:t>much</a:t>
            </a:r>
            <a:r>
              <a:rPr dirty="0" sz="8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212121"/>
                </a:solidFill>
                <a:latin typeface="Arial MT"/>
                <a:cs typeface="Arial MT"/>
              </a:rPr>
              <a:t>more</a:t>
            </a:r>
            <a:r>
              <a:rPr dirty="0" sz="8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MT"/>
                <a:cs typeface="Arial MT"/>
              </a:rPr>
              <a:t>immediately.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65626" y="702207"/>
            <a:ext cx="2247265" cy="389255"/>
          </a:xfrm>
          <a:custGeom>
            <a:avLst/>
            <a:gdLst/>
            <a:ahLst/>
            <a:cxnLst/>
            <a:rect l="l" t="t" r="r" b="b"/>
            <a:pathLst>
              <a:path w="2247265" h="389255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9036"/>
                </a:lnTo>
                <a:lnTo>
                  <a:pt x="2247195" y="389036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416427" y="707515"/>
            <a:ext cx="2129155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Exam-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safe 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sentence</a:t>
            </a:r>
            <a:r>
              <a:rPr dirty="0" sz="120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可直接</a:t>
            </a:r>
            <a:r>
              <a:rPr dirty="0" sz="1200" spc="-50" b="1">
                <a:solidFill>
                  <a:srgbClr val="FFFFFF"/>
                </a:solidFill>
                <a:latin typeface="Microsoft JhengHei"/>
                <a:cs typeface="Microsoft JhengHei"/>
              </a:rPr>
              <a:t>背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65626" y="759131"/>
            <a:ext cx="2298065" cy="1259205"/>
            <a:chOff x="3365626" y="759131"/>
            <a:chExt cx="2298065" cy="125920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5626" y="1078585"/>
              <a:ext cx="2247195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416427" y="759131"/>
              <a:ext cx="2247265" cy="1259205"/>
            </a:xfrm>
            <a:custGeom>
              <a:avLst/>
              <a:gdLst/>
              <a:ahLst/>
              <a:cxnLst/>
              <a:rect l="l" t="t" r="r" b="b"/>
              <a:pathLst>
                <a:path w="2247265" h="1259205">
                  <a:moveTo>
                    <a:pt x="2247195" y="0"/>
                  </a:moveTo>
                  <a:lnTo>
                    <a:pt x="0" y="0"/>
                  </a:lnTo>
                  <a:lnTo>
                    <a:pt x="0" y="1259115"/>
                  </a:lnTo>
                  <a:lnTo>
                    <a:pt x="2247195" y="1259115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65626" y="1122861"/>
              <a:ext cx="2247265" cy="845185"/>
            </a:xfrm>
            <a:custGeom>
              <a:avLst/>
              <a:gdLst/>
              <a:ahLst/>
              <a:cxnLst/>
              <a:rect l="l" t="t" r="r" b="b"/>
              <a:pathLst>
                <a:path w="2247265" h="845185">
                  <a:moveTo>
                    <a:pt x="2247195" y="0"/>
                  </a:moveTo>
                  <a:lnTo>
                    <a:pt x="0" y="0"/>
                  </a:lnTo>
                  <a:lnTo>
                    <a:pt x="0" y="793783"/>
                  </a:lnTo>
                  <a:lnTo>
                    <a:pt x="4008" y="813508"/>
                  </a:lnTo>
                  <a:lnTo>
                    <a:pt x="14922" y="829661"/>
                  </a:lnTo>
                  <a:lnTo>
                    <a:pt x="31075" y="840575"/>
                  </a:lnTo>
                  <a:lnTo>
                    <a:pt x="50800" y="844584"/>
                  </a:lnTo>
                  <a:lnTo>
                    <a:pt x="2196394" y="844584"/>
                  </a:lnTo>
                  <a:lnTo>
                    <a:pt x="2216119" y="840575"/>
                  </a:lnTo>
                  <a:lnTo>
                    <a:pt x="2232272" y="829661"/>
                  </a:lnTo>
                  <a:lnTo>
                    <a:pt x="2243186" y="813508"/>
                  </a:lnTo>
                  <a:lnTo>
                    <a:pt x="2247195" y="793783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416427" y="1094168"/>
            <a:ext cx="2247265" cy="861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191135">
              <a:lnSpc>
                <a:spcPct val="114199"/>
              </a:lnSpc>
              <a:spcBef>
                <a:spcPts val="100"/>
              </a:spcBef>
            </a:pPr>
            <a:r>
              <a:rPr dirty="0" sz="800" spc="-65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30">
                <a:solidFill>
                  <a:srgbClr val="212121"/>
                </a:solidFill>
                <a:latin typeface="Arial Black"/>
                <a:cs typeface="Arial Black"/>
              </a:rPr>
              <a:t>temporary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212121"/>
                </a:solidFill>
                <a:latin typeface="Arial Black"/>
                <a:cs typeface="Arial Black"/>
              </a:rPr>
              <a:t>income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55">
                <a:solidFill>
                  <a:srgbClr val="212121"/>
                </a:solidFill>
                <a:latin typeface="Arial Black"/>
                <a:cs typeface="Arial Black"/>
              </a:rPr>
              <a:t>change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affects </a:t>
            </a:r>
            <a:r>
              <a:rPr dirty="0" sz="800" spc="-45">
                <a:solidFill>
                  <a:srgbClr val="212121"/>
                </a:solidFill>
                <a:latin typeface="Arial Black"/>
                <a:cs typeface="Arial Black"/>
              </a:rPr>
              <a:t>credit-</a:t>
            </a:r>
            <a:r>
              <a:rPr dirty="0" sz="800" spc="-40">
                <a:solidFill>
                  <a:srgbClr val="212121"/>
                </a:solidFill>
                <a:latin typeface="Arial Black"/>
                <a:cs typeface="Arial Black"/>
              </a:rPr>
              <a:t>constrained</a:t>
            </a:r>
            <a:r>
              <a:rPr dirty="0" sz="800" spc="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45">
                <a:solidFill>
                  <a:srgbClr val="212121"/>
                </a:solidFill>
                <a:latin typeface="Arial Black"/>
                <a:cs typeface="Arial Black"/>
              </a:rPr>
              <a:t>households</a:t>
            </a:r>
            <a:r>
              <a:rPr dirty="0" sz="800" spc="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more </a:t>
            </a:r>
            <a:r>
              <a:rPr dirty="0" sz="800" spc="-65">
                <a:solidFill>
                  <a:srgbClr val="212121"/>
                </a:solidFill>
                <a:latin typeface="Arial Black"/>
                <a:cs typeface="Arial Black"/>
              </a:rPr>
              <a:t>because</a:t>
            </a:r>
            <a:r>
              <a:rPr dirty="0" sz="800" spc="-35">
                <a:solidFill>
                  <a:srgbClr val="212121"/>
                </a:solidFill>
                <a:latin typeface="Arial Black"/>
                <a:cs typeface="Arial Black"/>
              </a:rPr>
              <a:t> they </a:t>
            </a:r>
            <a:r>
              <a:rPr dirty="0" sz="800" spc="-45">
                <a:solidFill>
                  <a:srgbClr val="212121"/>
                </a:solidFill>
                <a:latin typeface="Arial Black"/>
                <a:cs typeface="Arial Black"/>
              </a:rPr>
              <a:t>cannot</a:t>
            </a:r>
            <a:r>
              <a:rPr dirty="0" sz="8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35">
                <a:solidFill>
                  <a:srgbClr val="212121"/>
                </a:solidFill>
                <a:latin typeface="Arial Black"/>
                <a:cs typeface="Arial Black"/>
              </a:rPr>
              <a:t>borrow 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8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smooth </a:t>
            </a:r>
            <a:r>
              <a:rPr dirty="0" sz="800" spc="-45">
                <a:solidFill>
                  <a:srgbClr val="212121"/>
                </a:solidFill>
                <a:latin typeface="Arial Black"/>
                <a:cs typeface="Arial Black"/>
              </a:rPr>
              <a:t>consumption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 in </a:t>
            </a:r>
            <a:r>
              <a:rPr dirty="0" sz="800" spc="-50">
                <a:solidFill>
                  <a:srgbClr val="212121"/>
                </a:solidFill>
                <a:latin typeface="Arial Black"/>
                <a:cs typeface="Arial Black"/>
              </a:rPr>
              <a:t>advance,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65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current </a:t>
            </a:r>
            <a:r>
              <a:rPr dirty="0" sz="800" spc="-45">
                <a:solidFill>
                  <a:srgbClr val="212121"/>
                </a:solidFill>
                <a:latin typeface="Arial Black"/>
                <a:cs typeface="Arial Black"/>
              </a:rPr>
              <a:t>consumption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5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8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tightly</a:t>
            </a:r>
            <a:r>
              <a:rPr dirty="0" sz="8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35">
                <a:solidFill>
                  <a:srgbClr val="212121"/>
                </a:solidFill>
                <a:latin typeface="Arial Black"/>
                <a:cs typeface="Arial Black"/>
              </a:rPr>
              <a:t>linked</a:t>
            </a:r>
            <a:r>
              <a:rPr dirty="0" sz="8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8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current 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income.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3970020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20"/>
              <a:t>Why</a:t>
            </a:r>
            <a:r>
              <a:rPr dirty="0" spc="-65"/>
              <a:t> </a:t>
            </a:r>
            <a:r>
              <a:rPr dirty="0" spc="-50"/>
              <a:t>investment</a:t>
            </a:r>
            <a:r>
              <a:rPr dirty="0" spc="-65"/>
              <a:t> </a:t>
            </a:r>
            <a:r>
              <a:rPr dirty="0" spc="-80"/>
              <a:t>is</a:t>
            </a:r>
            <a:r>
              <a:rPr dirty="0" spc="-65"/>
              <a:t> </a:t>
            </a:r>
            <a:r>
              <a:rPr dirty="0" spc="-50"/>
              <a:t>more</a:t>
            </a:r>
            <a:r>
              <a:rPr dirty="0" spc="-70"/>
              <a:t> </a:t>
            </a:r>
            <a:r>
              <a:rPr dirty="0" spc="-50"/>
              <a:t>volatile</a:t>
            </a:r>
            <a:r>
              <a:rPr dirty="0" spc="-65"/>
              <a:t> </a:t>
            </a:r>
            <a:r>
              <a:rPr dirty="0" spc="-25"/>
              <a:t>than</a:t>
            </a:r>
            <a:r>
              <a:rPr dirty="0" spc="-65"/>
              <a:t> </a:t>
            </a:r>
            <a:r>
              <a:rPr dirty="0" spc="-30"/>
              <a:t>consumption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b="1">
                <a:solidFill>
                  <a:srgbClr val="666666"/>
                </a:solidFill>
                <a:latin typeface="Microsoft JhengHei"/>
                <a:cs typeface="Microsoft JhengHei"/>
              </a:rPr>
              <a:t>为什么 </a:t>
            </a:r>
            <a:r>
              <a:rPr dirty="0" sz="900" spc="-40">
                <a:solidFill>
                  <a:srgbClr val="666666"/>
                </a:solidFill>
              </a:rPr>
              <a:t>investment </a:t>
            </a:r>
            <a:r>
              <a:rPr dirty="0" sz="900" b="1">
                <a:solidFill>
                  <a:srgbClr val="666666"/>
                </a:solidFill>
                <a:latin typeface="Microsoft JhengHei"/>
                <a:cs typeface="Microsoft JhengHei"/>
              </a:rPr>
              <a:t>往往比 </a:t>
            </a:r>
            <a:r>
              <a:rPr dirty="0" sz="900" spc="-40">
                <a:solidFill>
                  <a:srgbClr val="666666"/>
                </a:solidFill>
              </a:rPr>
              <a:t>consumption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波动更大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63921"/>
            <a:ext cx="5001260" cy="10344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Firms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do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have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preference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smooth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investment.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10">
                <a:solidFill>
                  <a:srgbClr val="666666"/>
                </a:solidFill>
                <a:latin typeface="SimSun"/>
                <a:cs typeface="SimSun"/>
              </a:rPr>
              <a:t>家庭会追求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smooth</a:t>
            </a:r>
            <a:r>
              <a:rPr dirty="0" sz="700" spc="2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consumption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，但企业不会追求‘平滑投资’本身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Investment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be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postponed.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机器、厂房、扩张计划都可以拖到以后做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Investment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depends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heavily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expectations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future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demand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and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profits.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预期一变，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investment</a:t>
            </a:r>
            <a:r>
              <a:rPr dirty="0" sz="700" spc="1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plan</a:t>
            </a:r>
            <a:r>
              <a:rPr dirty="0" sz="700" spc="1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很容易一起变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727986"/>
            <a:ext cx="5466080" cy="220345"/>
          </a:xfrm>
          <a:custGeom>
            <a:avLst/>
            <a:gdLst/>
            <a:ahLst/>
            <a:cxnLst/>
            <a:rect l="l" t="t" r="r" b="b"/>
            <a:pathLst>
              <a:path w="5466080" h="220344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9944"/>
                </a:lnTo>
                <a:lnTo>
                  <a:pt x="5465668" y="219944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734501"/>
            <a:ext cx="300799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Direct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exam </a:t>
            </a:r>
            <a:r>
              <a:rPr dirty="0" sz="1200" spc="-30">
                <a:solidFill>
                  <a:srgbClr val="FFFFFF"/>
                </a:solidFill>
                <a:latin typeface="Arial Black"/>
                <a:cs typeface="Arial Black"/>
              </a:rPr>
              <a:t>link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b="1">
                <a:solidFill>
                  <a:srgbClr val="FFFFFF"/>
                </a:solidFill>
                <a:latin typeface="Microsoft JhengHei"/>
                <a:cs typeface="Microsoft JhengHei"/>
              </a:rPr>
              <a:t>对应 </a:t>
            </a:r>
            <a:r>
              <a:rPr dirty="0" sz="1200" spc="-120">
                <a:solidFill>
                  <a:srgbClr val="FFFFFF"/>
                </a:solidFill>
                <a:latin typeface="Arial Black"/>
                <a:cs typeface="Arial Black"/>
              </a:rPr>
              <a:t>2025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Short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Q2(b)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784915"/>
            <a:ext cx="5516880" cy="594995"/>
            <a:chOff x="147205" y="1784915"/>
            <a:chExt cx="5516880" cy="5949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1935276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784915"/>
              <a:ext cx="5466080" cy="594995"/>
            </a:xfrm>
            <a:custGeom>
              <a:avLst/>
              <a:gdLst/>
              <a:ahLst/>
              <a:cxnLst/>
              <a:rect l="l" t="t" r="r" b="b"/>
              <a:pathLst>
                <a:path w="5466080" h="594994">
                  <a:moveTo>
                    <a:pt x="5465668" y="0"/>
                  </a:moveTo>
                  <a:lnTo>
                    <a:pt x="0" y="0"/>
                  </a:lnTo>
                  <a:lnTo>
                    <a:pt x="0" y="594417"/>
                  </a:lnTo>
                  <a:lnTo>
                    <a:pt x="5465668" y="594417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1979555"/>
              <a:ext cx="5466080" cy="349250"/>
            </a:xfrm>
            <a:custGeom>
              <a:avLst/>
              <a:gdLst/>
              <a:ahLst/>
              <a:cxnLst/>
              <a:rect l="l" t="t" r="r" b="b"/>
              <a:pathLst>
                <a:path w="5466080" h="349250">
                  <a:moveTo>
                    <a:pt x="5465668" y="0"/>
                  </a:moveTo>
                  <a:lnTo>
                    <a:pt x="0" y="0"/>
                  </a:lnTo>
                  <a:lnTo>
                    <a:pt x="0" y="298176"/>
                  </a:lnTo>
                  <a:lnTo>
                    <a:pt x="4008" y="317901"/>
                  </a:lnTo>
                  <a:lnTo>
                    <a:pt x="14922" y="334054"/>
                  </a:lnTo>
                  <a:lnTo>
                    <a:pt x="31075" y="344968"/>
                  </a:lnTo>
                  <a:lnTo>
                    <a:pt x="50800" y="348977"/>
                  </a:lnTo>
                  <a:lnTo>
                    <a:pt x="5414867" y="348977"/>
                  </a:lnTo>
                  <a:lnTo>
                    <a:pt x="5434592" y="344968"/>
                  </a:lnTo>
                  <a:lnTo>
                    <a:pt x="5450745" y="334054"/>
                  </a:lnTo>
                  <a:lnTo>
                    <a:pt x="5461659" y="317901"/>
                  </a:lnTo>
                  <a:lnTo>
                    <a:pt x="5465668" y="298176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1962688"/>
            <a:ext cx="54660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37465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question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not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asking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for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formula.</a:t>
            </a:r>
            <a:r>
              <a:rPr dirty="0" sz="1000" spc="1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It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asking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for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mechanisms</a:t>
            </a:r>
            <a:r>
              <a:rPr dirty="0" sz="1000" spc="-45">
                <a:solidFill>
                  <a:srgbClr val="212121"/>
                </a:solidFill>
                <a:latin typeface="Arial MT"/>
                <a:cs typeface="Arial MT"/>
              </a:rPr>
              <a:t>:</a:t>
            </a:r>
            <a:r>
              <a:rPr dirty="0" sz="1000" spc="1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postponability,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expectations,</a:t>
            </a:r>
            <a:r>
              <a:rPr dirty="0" sz="1000" spc="1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1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coordination.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55"/>
              <a:t>Coordination</a:t>
            </a:r>
            <a:r>
              <a:rPr dirty="0" spc="-45"/>
              <a:t> and</a:t>
            </a:r>
            <a:r>
              <a:rPr dirty="0" spc="-35"/>
              <a:t> </a:t>
            </a:r>
            <a:r>
              <a:rPr dirty="0" spc="-80"/>
              <a:t>business</a:t>
            </a:r>
            <a:r>
              <a:rPr dirty="0" spc="-30"/>
              <a:t> </a:t>
            </a:r>
            <a:r>
              <a:rPr dirty="0" spc="-10"/>
              <a:t>confidence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10" b="1">
                <a:solidFill>
                  <a:srgbClr val="666666"/>
                </a:solidFill>
                <a:latin typeface="Microsoft JhengHei"/>
                <a:cs typeface="Microsoft JhengHei"/>
              </a:rPr>
              <a:t>协调、信心、以及 </a:t>
            </a:r>
            <a:r>
              <a:rPr dirty="0" sz="900" spc="-40">
                <a:solidFill>
                  <a:srgbClr val="666666"/>
                </a:solidFill>
              </a:rPr>
              <a:t>why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50">
                <a:solidFill>
                  <a:srgbClr val="666666"/>
                </a:solidFill>
              </a:rPr>
              <a:t>booms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35">
                <a:solidFill>
                  <a:srgbClr val="666666"/>
                </a:solidFill>
              </a:rPr>
              <a:t>and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55">
                <a:solidFill>
                  <a:srgbClr val="666666"/>
                </a:solidFill>
              </a:rPr>
              <a:t>busts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70">
                <a:solidFill>
                  <a:srgbClr val="666666"/>
                </a:solidFill>
              </a:rPr>
              <a:t>can</a:t>
            </a:r>
            <a:r>
              <a:rPr dirty="0" sz="900" spc="-45">
                <a:solidFill>
                  <a:srgbClr val="666666"/>
                </a:solidFill>
              </a:rPr>
              <a:t> reinforce </a:t>
            </a:r>
            <a:r>
              <a:rPr dirty="0" sz="900" spc="-30">
                <a:solidFill>
                  <a:srgbClr val="666666"/>
                </a:solidFill>
              </a:rPr>
              <a:t>themselves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4850"/>
            <a:ext cx="2234565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If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one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firm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invests,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workers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and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suppliers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receive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more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income.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一家企业投资之后，别人收入也会上去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18415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raises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demand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other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firms</a:t>
            </a:r>
            <a:r>
              <a:rPr dirty="0" sz="1000" spc="-10" b="1">
                <a:solidFill>
                  <a:srgbClr val="212121"/>
                </a:solidFill>
                <a:latin typeface="Microsoft JhengHei"/>
                <a:cs typeface="Microsoft JhengHei"/>
              </a:rPr>
              <a:t>’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goods.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于是别的企业看到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demand</a:t>
            </a:r>
            <a:r>
              <a:rPr dirty="0" sz="700" spc="6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更强，也更愿意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invest.</a:t>
            </a:r>
            <a:endParaRPr sz="700">
              <a:latin typeface="Arial MT"/>
              <a:cs typeface="Arial MT"/>
            </a:endParaRPr>
          </a:p>
          <a:p>
            <a:pPr marL="173990" marR="13970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reverse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also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true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bad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times.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坏消息时这种机制会反过来，形成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self-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reinforcing</a:t>
            </a:r>
            <a:endParaRPr sz="7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downturn.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4146" y="636240"/>
            <a:ext cx="1357002" cy="123676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2618105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20"/>
              <a:t>Inflation:</a:t>
            </a:r>
            <a:r>
              <a:rPr dirty="0" spc="10"/>
              <a:t> </a:t>
            </a:r>
            <a:r>
              <a:rPr dirty="0" spc="-85"/>
              <a:t>CPI</a:t>
            </a:r>
            <a:r>
              <a:rPr dirty="0" spc="-90"/>
              <a:t> </a:t>
            </a:r>
            <a:r>
              <a:rPr dirty="0" spc="-70"/>
              <a:t>versus</a:t>
            </a:r>
            <a:r>
              <a:rPr dirty="0" spc="-85"/>
              <a:t> </a:t>
            </a:r>
            <a:r>
              <a:rPr dirty="0" spc="-105"/>
              <a:t>GDP</a:t>
            </a:r>
            <a:r>
              <a:rPr dirty="0" spc="-90"/>
              <a:t> </a:t>
            </a:r>
            <a:r>
              <a:rPr dirty="0" spc="-20"/>
              <a:t>deflator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通胀怎么量，以及为什么不要把两个指标混掉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4850"/>
            <a:ext cx="2875915" cy="1468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Inflation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means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rise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general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price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level.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30">
                <a:solidFill>
                  <a:srgbClr val="666666"/>
                </a:solidFill>
                <a:latin typeface="SimSun"/>
                <a:cs typeface="SimSun"/>
              </a:rPr>
              <a:t>通胀是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general</a:t>
            </a:r>
            <a:r>
              <a:rPr dirty="0" sz="700" spc="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price</a:t>
            </a:r>
            <a:r>
              <a:rPr dirty="0" sz="700" spc="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level</a:t>
            </a:r>
            <a:r>
              <a:rPr dirty="0" sz="700" spc="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的上升，不是某一个商品涨价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24130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CPI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tracks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cost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representative consumption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bundle.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666666"/>
                </a:solidFill>
                <a:latin typeface="Arial MT"/>
                <a:cs typeface="Arial MT"/>
              </a:rPr>
              <a:t>CPI</a:t>
            </a:r>
            <a:r>
              <a:rPr dirty="0" sz="700" spc="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更贴近日常消费和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cost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living.</a:t>
            </a:r>
            <a:endParaRPr sz="700">
              <a:latin typeface="Arial MT"/>
              <a:cs typeface="Arial MT"/>
            </a:endParaRPr>
          </a:p>
          <a:p>
            <a:pPr marL="173990" marR="5937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GDP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deflator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tracks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prices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of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domestically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produced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output.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30">
                <a:solidFill>
                  <a:srgbClr val="666666"/>
                </a:solidFill>
                <a:latin typeface="Arial MT"/>
                <a:cs typeface="Arial MT"/>
              </a:rPr>
              <a:t>GDP</a:t>
            </a:r>
            <a:r>
              <a:rPr dirty="0" sz="700" spc="13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deflator</a:t>
            </a:r>
            <a:r>
              <a:rPr dirty="0" sz="700" spc="13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关注国内产出价格，所以覆盖面不一样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2200922"/>
            <a:ext cx="3105785" cy="229870"/>
          </a:xfrm>
          <a:custGeom>
            <a:avLst/>
            <a:gdLst/>
            <a:ahLst/>
            <a:cxnLst/>
            <a:rect l="l" t="t" r="r" b="b"/>
            <a:pathLst>
              <a:path w="3105785" h="229869">
                <a:moveTo>
                  <a:pt x="305466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9662"/>
                </a:lnTo>
                <a:lnTo>
                  <a:pt x="3105465" y="229662"/>
                </a:lnTo>
                <a:lnTo>
                  <a:pt x="3105465" y="50800"/>
                </a:lnTo>
                <a:lnTo>
                  <a:pt x="3101457" y="31075"/>
                </a:lnTo>
                <a:lnTo>
                  <a:pt x="3090542" y="14922"/>
                </a:lnTo>
                <a:lnTo>
                  <a:pt x="3074389" y="4008"/>
                </a:lnTo>
                <a:lnTo>
                  <a:pt x="305466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2206534"/>
            <a:ext cx="223393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25">
                <a:solidFill>
                  <a:srgbClr val="FFFFFF"/>
                </a:solidFill>
                <a:latin typeface="Arial Black"/>
                <a:cs typeface="Arial Black"/>
              </a:rPr>
              <a:t>Why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matters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为什么要会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2257860"/>
            <a:ext cx="3156585" cy="879475"/>
            <a:chOff x="147205" y="2257860"/>
            <a:chExt cx="3156585" cy="8794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417940"/>
              <a:ext cx="3105465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2257860"/>
              <a:ext cx="3105785" cy="879475"/>
            </a:xfrm>
            <a:custGeom>
              <a:avLst/>
              <a:gdLst/>
              <a:ahLst/>
              <a:cxnLst/>
              <a:rect l="l" t="t" r="r" b="b"/>
              <a:pathLst>
                <a:path w="3105785" h="879475">
                  <a:moveTo>
                    <a:pt x="3105465" y="0"/>
                  </a:moveTo>
                  <a:lnTo>
                    <a:pt x="0" y="0"/>
                  </a:lnTo>
                  <a:lnTo>
                    <a:pt x="0" y="878951"/>
                  </a:lnTo>
                  <a:lnTo>
                    <a:pt x="3105465" y="878951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462217"/>
              <a:ext cx="3105785" cy="624205"/>
            </a:xfrm>
            <a:custGeom>
              <a:avLst/>
              <a:gdLst/>
              <a:ahLst/>
              <a:cxnLst/>
              <a:rect l="l" t="t" r="r" b="b"/>
              <a:pathLst>
                <a:path w="3105785" h="624205">
                  <a:moveTo>
                    <a:pt x="3105465" y="0"/>
                  </a:moveTo>
                  <a:lnTo>
                    <a:pt x="0" y="0"/>
                  </a:lnTo>
                  <a:lnTo>
                    <a:pt x="0" y="572993"/>
                  </a:lnTo>
                  <a:lnTo>
                    <a:pt x="4008" y="592718"/>
                  </a:lnTo>
                  <a:lnTo>
                    <a:pt x="14922" y="608871"/>
                  </a:lnTo>
                  <a:lnTo>
                    <a:pt x="31075" y="619785"/>
                  </a:lnTo>
                  <a:lnTo>
                    <a:pt x="50800" y="623794"/>
                  </a:lnTo>
                  <a:lnTo>
                    <a:pt x="3054664" y="623794"/>
                  </a:lnTo>
                  <a:lnTo>
                    <a:pt x="3074389" y="619785"/>
                  </a:lnTo>
                  <a:lnTo>
                    <a:pt x="3090542" y="608871"/>
                  </a:lnTo>
                  <a:lnTo>
                    <a:pt x="3101457" y="592718"/>
                  </a:lnTo>
                  <a:lnTo>
                    <a:pt x="3105465" y="572993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445085"/>
            <a:ext cx="310578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772160">
              <a:lnSpc>
                <a:spcPct val="100000"/>
              </a:lnSpc>
              <a:spcBef>
                <a:spcPts val="95"/>
              </a:spcBef>
            </a:pP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later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lectures,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inflation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interacts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5">
                <a:solidFill>
                  <a:srgbClr val="212121"/>
                </a:solidFill>
                <a:latin typeface="Arial MT"/>
                <a:cs typeface="Arial MT"/>
              </a:rPr>
              <a:t>with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policy.</a:t>
            </a:r>
            <a:endParaRPr sz="1000">
              <a:latin typeface="Arial MT"/>
              <a:cs typeface="Arial MT"/>
            </a:endParaRPr>
          </a:p>
          <a:p>
            <a:pPr marR="626110">
              <a:lnSpc>
                <a:spcPts val="1200"/>
              </a:lnSpc>
              <a:spcBef>
                <a:spcPts val="30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now,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only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need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measurement intuition.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65626" y="707681"/>
            <a:ext cx="2247265" cy="388620"/>
          </a:xfrm>
          <a:custGeom>
            <a:avLst/>
            <a:gdLst/>
            <a:ahLst/>
            <a:cxnLst/>
            <a:rect l="l" t="t" r="r" b="b"/>
            <a:pathLst>
              <a:path w="2247265" h="388619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8580"/>
                </a:lnTo>
                <a:lnTo>
                  <a:pt x="2247195" y="388580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16427" y="712532"/>
            <a:ext cx="2116455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One-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line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distinction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一句话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区别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65626" y="764605"/>
            <a:ext cx="2298065" cy="763270"/>
            <a:chOff x="3365626" y="764605"/>
            <a:chExt cx="2298065" cy="76327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5626" y="1083601"/>
              <a:ext cx="2247195" cy="5060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16427" y="764605"/>
              <a:ext cx="2247265" cy="763270"/>
            </a:xfrm>
            <a:custGeom>
              <a:avLst/>
              <a:gdLst/>
              <a:ahLst/>
              <a:cxnLst/>
              <a:rect l="l" t="t" r="r" b="b"/>
              <a:pathLst>
                <a:path w="2247265" h="763269">
                  <a:moveTo>
                    <a:pt x="2247195" y="0"/>
                  </a:moveTo>
                  <a:lnTo>
                    <a:pt x="0" y="0"/>
                  </a:lnTo>
                  <a:lnTo>
                    <a:pt x="0" y="763053"/>
                  </a:lnTo>
                  <a:lnTo>
                    <a:pt x="2247195" y="763053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65626" y="1127880"/>
              <a:ext cx="2247265" cy="349250"/>
            </a:xfrm>
            <a:custGeom>
              <a:avLst/>
              <a:gdLst/>
              <a:ahLst/>
              <a:cxnLst/>
              <a:rect l="l" t="t" r="r" b="b"/>
              <a:pathLst>
                <a:path w="2247265" h="349250">
                  <a:moveTo>
                    <a:pt x="2247195" y="0"/>
                  </a:moveTo>
                  <a:lnTo>
                    <a:pt x="0" y="0"/>
                  </a:lnTo>
                  <a:lnTo>
                    <a:pt x="0" y="298176"/>
                  </a:lnTo>
                  <a:lnTo>
                    <a:pt x="4008" y="317901"/>
                  </a:lnTo>
                  <a:lnTo>
                    <a:pt x="14922" y="334054"/>
                  </a:lnTo>
                  <a:lnTo>
                    <a:pt x="31075" y="344968"/>
                  </a:lnTo>
                  <a:lnTo>
                    <a:pt x="50800" y="348977"/>
                  </a:lnTo>
                  <a:lnTo>
                    <a:pt x="2196394" y="348977"/>
                  </a:lnTo>
                  <a:lnTo>
                    <a:pt x="2216119" y="344968"/>
                  </a:lnTo>
                  <a:lnTo>
                    <a:pt x="2232272" y="334054"/>
                  </a:lnTo>
                  <a:lnTo>
                    <a:pt x="2243186" y="317901"/>
                  </a:lnTo>
                  <a:lnTo>
                    <a:pt x="2247195" y="298176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416427" y="1111013"/>
            <a:ext cx="224726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106045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CPI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consumer-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bundle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based;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GDP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deflator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output-based.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015"/>
                </a:lnTo>
                <a:lnTo>
                  <a:pt x="5759996" y="432015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134"/>
            <a:ext cx="3611245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75"/>
              <a:t>Lecture</a:t>
            </a:r>
            <a:r>
              <a:rPr dirty="0" spc="-80"/>
              <a:t> </a:t>
            </a:r>
            <a:r>
              <a:rPr dirty="0" spc="-120"/>
              <a:t>1</a:t>
            </a:r>
            <a:r>
              <a:rPr dirty="0" spc="-70"/>
              <a:t> </a:t>
            </a:r>
            <a:r>
              <a:rPr dirty="0" spc="-75"/>
              <a:t>recap:</a:t>
            </a:r>
            <a:r>
              <a:rPr dirty="0" spc="35"/>
              <a:t> </a:t>
            </a:r>
            <a:r>
              <a:rPr dirty="0" spc="-45"/>
              <a:t>what</a:t>
            </a:r>
            <a:r>
              <a:rPr dirty="0" spc="-70"/>
              <a:t> </a:t>
            </a:r>
            <a:r>
              <a:rPr dirty="0" spc="-45"/>
              <a:t>must</a:t>
            </a:r>
            <a:r>
              <a:rPr dirty="0" spc="-75"/>
              <a:t> </a:t>
            </a:r>
            <a:r>
              <a:rPr dirty="0" spc="-55"/>
              <a:t>survive</a:t>
            </a:r>
            <a:r>
              <a:rPr dirty="0" spc="-70"/>
              <a:t> </a:t>
            </a:r>
            <a:r>
              <a:rPr dirty="0" spc="-20"/>
              <a:t>in</a:t>
            </a:r>
            <a:r>
              <a:rPr dirty="0" spc="-70"/>
              <a:t> </a:t>
            </a:r>
            <a:r>
              <a:rPr dirty="0" spc="-10"/>
              <a:t>memory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60">
                <a:solidFill>
                  <a:srgbClr val="666666"/>
                </a:solidFill>
              </a:rPr>
              <a:t>Lecture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85">
                <a:solidFill>
                  <a:srgbClr val="666666"/>
                </a:solidFill>
              </a:rPr>
              <a:t>1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讲完以后你至少要带走这四句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636942"/>
            <a:ext cx="5466080" cy="212725"/>
          </a:xfrm>
          <a:custGeom>
            <a:avLst/>
            <a:gdLst/>
            <a:ahLst/>
            <a:cxnLst/>
            <a:rect l="l" t="t" r="r" b="b"/>
            <a:pathLst>
              <a:path w="5466080" h="21272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505"/>
                </a:lnTo>
                <a:lnTo>
                  <a:pt x="5465668" y="212505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642859"/>
            <a:ext cx="316166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Four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lines </a:t>
            </a:r>
            <a:r>
              <a:rPr dirty="0" sz="1200" spc="-35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remember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四句最该记住的话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693866"/>
            <a:ext cx="5516880" cy="1361440"/>
            <a:chOff x="147205" y="693866"/>
            <a:chExt cx="5516880" cy="13614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836790"/>
              <a:ext cx="5465668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693866"/>
              <a:ext cx="5466080" cy="1361440"/>
            </a:xfrm>
            <a:custGeom>
              <a:avLst/>
              <a:gdLst/>
              <a:ahLst/>
              <a:cxnLst/>
              <a:rect l="l" t="t" r="r" b="b"/>
              <a:pathLst>
                <a:path w="5466080" h="1361439">
                  <a:moveTo>
                    <a:pt x="5465668" y="0"/>
                  </a:moveTo>
                  <a:lnTo>
                    <a:pt x="0" y="0"/>
                  </a:lnTo>
                  <a:lnTo>
                    <a:pt x="0" y="1360994"/>
                  </a:lnTo>
                  <a:lnTo>
                    <a:pt x="5465668" y="1360994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881066"/>
              <a:ext cx="5466080" cy="1123315"/>
            </a:xfrm>
            <a:custGeom>
              <a:avLst/>
              <a:gdLst/>
              <a:ahLst/>
              <a:cxnLst/>
              <a:rect l="l" t="t" r="r" b="b"/>
              <a:pathLst>
                <a:path w="5466080" h="1123314">
                  <a:moveTo>
                    <a:pt x="5465668" y="0"/>
                  </a:moveTo>
                  <a:lnTo>
                    <a:pt x="0" y="0"/>
                  </a:lnTo>
                  <a:lnTo>
                    <a:pt x="0" y="1072193"/>
                  </a:lnTo>
                  <a:lnTo>
                    <a:pt x="4008" y="1091918"/>
                  </a:lnTo>
                  <a:lnTo>
                    <a:pt x="14922" y="1108071"/>
                  </a:lnTo>
                  <a:lnTo>
                    <a:pt x="31075" y="1118985"/>
                  </a:lnTo>
                  <a:lnTo>
                    <a:pt x="50800" y="1122994"/>
                  </a:lnTo>
                  <a:lnTo>
                    <a:pt x="5414867" y="1122994"/>
                  </a:lnTo>
                  <a:lnTo>
                    <a:pt x="5434592" y="1118985"/>
                  </a:lnTo>
                  <a:lnTo>
                    <a:pt x="5450745" y="1108071"/>
                  </a:lnTo>
                  <a:lnTo>
                    <a:pt x="5461659" y="1091918"/>
                  </a:lnTo>
                  <a:lnTo>
                    <a:pt x="5465668" y="1072193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076" y="911316"/>
              <a:ext cx="125793" cy="12579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89179" y="914497"/>
            <a:ext cx="61594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7076" y="1164361"/>
            <a:ext cx="125793" cy="12579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89179" y="1167862"/>
            <a:ext cx="61594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7076" y="1417405"/>
            <a:ext cx="125793" cy="12579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89179" y="1420592"/>
            <a:ext cx="61594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7076" y="1670472"/>
            <a:ext cx="125793" cy="12579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89179" y="1673780"/>
            <a:ext cx="61594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8353" y="879060"/>
            <a:ext cx="4559300" cy="1088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business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cycle</a:t>
            </a:r>
            <a:r>
              <a:rPr dirty="0" sz="100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long-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run</a:t>
            </a:r>
            <a:r>
              <a:rPr dirty="0" sz="100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growth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plus</a:t>
            </a:r>
            <a:r>
              <a:rPr dirty="0" sz="100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short-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run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fluctuations.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000" spc="-35">
                <a:solidFill>
                  <a:srgbClr val="212121"/>
                </a:solidFill>
                <a:latin typeface="Arial MT"/>
                <a:cs typeface="Arial MT"/>
              </a:rPr>
              <a:t>GDP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by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expenditure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 i="1">
                <a:solidFill>
                  <a:srgbClr val="212121"/>
                </a:solidFill>
                <a:latin typeface="Trebuchet MS"/>
                <a:cs typeface="Trebuchet MS"/>
              </a:rPr>
              <a:t>C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-45" i="1">
                <a:solidFill>
                  <a:srgbClr val="212121"/>
                </a:solidFill>
                <a:latin typeface="Trebuchet MS"/>
                <a:cs typeface="Trebuchet MS"/>
              </a:rPr>
              <a:t>X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2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1000" spc="4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000" spc="-25" i="1">
                <a:solidFill>
                  <a:srgbClr val="212121"/>
                </a:solidFill>
                <a:latin typeface="Trebuchet MS"/>
                <a:cs typeface="Trebuchet MS"/>
              </a:rPr>
              <a:t>M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Credit-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constrained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households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react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more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temporary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income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changes.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790"/>
              </a:spcBef>
            </a:pP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Investment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is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more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volatile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than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consumption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because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it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is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postponable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expectation-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driven.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5305" y="2155883"/>
            <a:ext cx="507428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 i="1">
                <a:solidFill>
                  <a:srgbClr val="212121"/>
                </a:solidFill>
                <a:latin typeface="Trebuchet MS"/>
                <a:cs typeface="Trebuchet MS"/>
              </a:rPr>
              <a:t>If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20" i="1">
                <a:solidFill>
                  <a:srgbClr val="212121"/>
                </a:solidFill>
                <a:latin typeface="Trebuchet MS"/>
                <a:cs typeface="Trebuchet MS"/>
              </a:rPr>
              <a:t>student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remembers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these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20" i="1">
                <a:solidFill>
                  <a:srgbClr val="212121"/>
                </a:solidFill>
                <a:latin typeface="Trebuchet MS"/>
                <a:cs typeface="Trebuchet MS"/>
              </a:rPr>
              <a:t>four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20" i="1">
                <a:solidFill>
                  <a:srgbClr val="212121"/>
                </a:solidFill>
                <a:latin typeface="Trebuchet MS"/>
                <a:cs typeface="Trebuchet MS"/>
              </a:rPr>
              <a:t>lines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20" i="1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Lecture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45" i="1">
                <a:solidFill>
                  <a:srgbClr val="212121"/>
                </a:solidFill>
                <a:latin typeface="Trebuchet MS"/>
                <a:cs typeface="Trebuchet MS"/>
              </a:rPr>
              <a:t>1,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50" i="1">
                <a:solidFill>
                  <a:srgbClr val="212121"/>
                </a:solidFill>
                <a:latin typeface="Trebuchet MS"/>
                <a:cs typeface="Trebuchet MS"/>
              </a:rPr>
              <a:t>they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already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45" i="1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spine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of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Short</a:t>
            </a:r>
            <a:r>
              <a:rPr dirty="0" sz="900" spc="-3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25" i="1">
                <a:solidFill>
                  <a:srgbClr val="212121"/>
                </a:solidFill>
                <a:latin typeface="Trebuchet MS"/>
                <a:cs typeface="Trebuchet MS"/>
              </a:rPr>
              <a:t>Q2.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21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58" y="0"/>
                </a:moveTo>
                <a:lnTo>
                  <a:pt x="0" y="0"/>
                </a:lnTo>
                <a:lnTo>
                  <a:pt x="0" y="3240023"/>
                </a:lnTo>
                <a:lnTo>
                  <a:pt x="5759958" y="3240023"/>
                </a:lnTo>
                <a:lnTo>
                  <a:pt x="5759958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5262" y="298397"/>
            <a:ext cx="1503045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30"/>
              <a:t>Lecture</a:t>
            </a:r>
            <a:r>
              <a:rPr dirty="0" sz="2450" spc="-170"/>
              <a:t> </a:t>
            </a:r>
            <a:r>
              <a:rPr dirty="0" sz="2450" spc="-60"/>
              <a:t>2</a:t>
            </a:r>
            <a:endParaRPr sz="2450"/>
          </a:p>
        </p:txBody>
      </p:sp>
      <p:sp>
        <p:nvSpPr>
          <p:cNvPr id="4" name="object 4"/>
          <p:cNvSpPr txBox="1"/>
          <p:nvPr/>
        </p:nvSpPr>
        <p:spPr>
          <a:xfrm>
            <a:off x="295262" y="627110"/>
            <a:ext cx="4113529" cy="1146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85">
                <a:solidFill>
                  <a:srgbClr val="FFFFFF"/>
                </a:solidFill>
                <a:latin typeface="Arial MT"/>
                <a:cs typeface="Arial MT"/>
              </a:rPr>
              <a:t>Unemployment</a:t>
            </a:r>
            <a:r>
              <a:rPr dirty="0" sz="14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7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4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fiscal</a:t>
            </a:r>
            <a:r>
              <a:rPr dirty="0" sz="14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4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spc="-85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dirty="0" sz="14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dirty="0" sz="14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Arial Black"/>
                <a:cs typeface="Arial Black"/>
              </a:rPr>
              <a:t>where</a:t>
            </a:r>
            <a:r>
              <a:rPr dirty="0" sz="14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Arial Black"/>
                <a:cs typeface="Arial Black"/>
              </a:rPr>
              <a:t>revision</a:t>
            </a:r>
            <a:r>
              <a:rPr dirty="0" sz="14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Black"/>
                <a:cs typeface="Arial Black"/>
              </a:rPr>
              <a:t>turns</a:t>
            </a:r>
            <a:r>
              <a:rPr dirty="0" sz="14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into</a:t>
            </a:r>
            <a:r>
              <a:rPr dirty="0" sz="14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Arial Black"/>
                <a:cs typeface="Arial Black"/>
              </a:rPr>
              <a:t>policy</a:t>
            </a:r>
            <a:r>
              <a:rPr dirty="0" sz="14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Black"/>
                <a:cs typeface="Arial Black"/>
              </a:rPr>
              <a:t>logic.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200" spc="60">
                <a:solidFill>
                  <a:srgbClr val="FFFFFF"/>
                </a:solidFill>
                <a:latin typeface="Arial MT"/>
                <a:cs typeface="Arial MT"/>
              </a:rPr>
              <a:t>multiplier</a:t>
            </a:r>
            <a:r>
              <a:rPr dirty="0" sz="12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12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FFFFFF"/>
                </a:solidFill>
                <a:latin typeface="Arial MT"/>
                <a:cs typeface="Arial MT"/>
              </a:rPr>
              <a:t>fiscal</a:t>
            </a:r>
            <a:r>
              <a:rPr dirty="0" sz="12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FFFFFF"/>
                </a:solidFill>
                <a:latin typeface="Arial MT"/>
                <a:cs typeface="Arial MT"/>
              </a:rPr>
              <a:t>stimulus</a:t>
            </a:r>
            <a:r>
              <a:rPr dirty="0" sz="12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12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FFFFFF"/>
                </a:solidFill>
                <a:latin typeface="Arial MT"/>
                <a:cs typeface="Arial MT"/>
              </a:rPr>
              <a:t>austerity</a:t>
            </a:r>
            <a:r>
              <a:rPr dirty="0" sz="12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12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FFFFFF"/>
                </a:solidFill>
                <a:latin typeface="Arial MT"/>
                <a:cs typeface="Arial MT"/>
              </a:rPr>
              <a:t>deficit</a:t>
            </a:r>
            <a:r>
              <a:rPr dirty="0" sz="12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10">
                <a:solidFill>
                  <a:srgbClr val="FFFFFF"/>
                </a:solidFill>
                <a:latin typeface="Arial MT"/>
                <a:cs typeface="Arial MT"/>
              </a:rPr>
              <a:t>vs</a:t>
            </a:r>
            <a:r>
              <a:rPr dirty="0" sz="1200" spc="35">
                <a:solidFill>
                  <a:srgbClr val="FFFFFF"/>
                </a:solidFill>
                <a:latin typeface="Arial MT"/>
                <a:cs typeface="Arial MT"/>
              </a:rPr>
              <a:t> debt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900" spc="-35">
                <a:solidFill>
                  <a:srgbClr val="FFFFFF"/>
                </a:solidFill>
                <a:latin typeface="SimSun"/>
                <a:cs typeface="SimSun"/>
              </a:rPr>
              <a:t>这一讲既是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short</a:t>
            </a:r>
            <a:r>
              <a:rPr dirty="0" sz="9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question</a:t>
            </a:r>
            <a:r>
              <a:rPr dirty="0" sz="9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SimSun"/>
                <a:cs typeface="SimSun"/>
              </a:rPr>
              <a:t>高发区，也是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r>
              <a:rPr dirty="0" sz="9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r>
              <a:rPr dirty="0" sz="9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Q2</a:t>
            </a:r>
            <a:r>
              <a:rPr dirty="0" sz="9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SimSun"/>
                <a:cs typeface="SimSun"/>
              </a:rPr>
              <a:t>的主战场</a:t>
            </a:r>
            <a:endParaRPr sz="900">
              <a:latin typeface="SimSun"/>
              <a:cs typeface="SimSu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2674620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60"/>
              <a:t>Aggregate</a:t>
            </a:r>
            <a:r>
              <a:rPr dirty="0" spc="-70"/>
              <a:t> </a:t>
            </a:r>
            <a:r>
              <a:rPr dirty="0" spc="-50"/>
              <a:t>demand</a:t>
            </a:r>
            <a:r>
              <a:rPr dirty="0" spc="-60"/>
              <a:t> </a:t>
            </a:r>
            <a:r>
              <a:rPr dirty="0" spc="-20"/>
              <a:t>in</a:t>
            </a:r>
            <a:r>
              <a:rPr dirty="0" spc="-65"/>
              <a:t> </a:t>
            </a:r>
            <a:r>
              <a:rPr dirty="0" spc="-50"/>
              <a:t>one</a:t>
            </a:r>
            <a:r>
              <a:rPr dirty="0" spc="-60"/>
              <a:t> </a:t>
            </a:r>
            <a:r>
              <a:rPr dirty="0" spc="-10"/>
              <a:t>formula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b="1">
                <a:solidFill>
                  <a:srgbClr val="666666"/>
                </a:solidFill>
                <a:latin typeface="Microsoft JhengHei"/>
                <a:cs typeface="Microsoft JhengHei"/>
              </a:rPr>
              <a:t>先把 </a:t>
            </a:r>
            <a:r>
              <a:rPr dirty="0" sz="900" spc="-60">
                <a:solidFill>
                  <a:srgbClr val="666666"/>
                </a:solidFill>
              </a:rPr>
              <a:t>Lecture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85">
                <a:solidFill>
                  <a:srgbClr val="666666"/>
                </a:solidFill>
              </a:rPr>
              <a:t>2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的主公式抓住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707681"/>
            <a:ext cx="3105785" cy="230504"/>
          </a:xfrm>
          <a:custGeom>
            <a:avLst/>
            <a:gdLst/>
            <a:ahLst/>
            <a:cxnLst/>
            <a:rect l="l" t="t" r="r" b="b"/>
            <a:pathLst>
              <a:path w="3105785" h="230505">
                <a:moveTo>
                  <a:pt x="305466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0269"/>
                </a:lnTo>
                <a:lnTo>
                  <a:pt x="3105465" y="230269"/>
                </a:lnTo>
                <a:lnTo>
                  <a:pt x="3105465" y="50800"/>
                </a:lnTo>
                <a:lnTo>
                  <a:pt x="3101457" y="31075"/>
                </a:lnTo>
                <a:lnTo>
                  <a:pt x="3090542" y="14922"/>
                </a:lnTo>
                <a:lnTo>
                  <a:pt x="3074389" y="4008"/>
                </a:lnTo>
                <a:lnTo>
                  <a:pt x="305466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713903"/>
            <a:ext cx="183578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Core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equation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核心公式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764620"/>
            <a:ext cx="3156585" cy="509270"/>
            <a:chOff x="147205" y="764620"/>
            <a:chExt cx="3156585" cy="5092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925296"/>
              <a:ext cx="31054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764620"/>
              <a:ext cx="3105785" cy="509270"/>
            </a:xfrm>
            <a:custGeom>
              <a:avLst/>
              <a:gdLst/>
              <a:ahLst/>
              <a:cxnLst/>
              <a:rect l="l" t="t" r="r" b="b"/>
              <a:pathLst>
                <a:path w="3105785" h="509269">
                  <a:moveTo>
                    <a:pt x="3105465" y="0"/>
                  </a:moveTo>
                  <a:lnTo>
                    <a:pt x="0" y="0"/>
                  </a:lnTo>
                  <a:lnTo>
                    <a:pt x="0" y="508961"/>
                  </a:lnTo>
                  <a:lnTo>
                    <a:pt x="3105465" y="508961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969585"/>
              <a:ext cx="3105785" cy="253365"/>
            </a:xfrm>
            <a:custGeom>
              <a:avLst/>
              <a:gdLst/>
              <a:ahLst/>
              <a:cxnLst/>
              <a:rect l="l" t="t" r="r" b="b"/>
              <a:pathLst>
                <a:path w="3105785" h="253365">
                  <a:moveTo>
                    <a:pt x="3105465" y="0"/>
                  </a:moveTo>
                  <a:lnTo>
                    <a:pt x="0" y="0"/>
                  </a:lnTo>
                  <a:lnTo>
                    <a:pt x="0" y="202396"/>
                  </a:lnTo>
                  <a:lnTo>
                    <a:pt x="4008" y="222120"/>
                  </a:lnTo>
                  <a:lnTo>
                    <a:pt x="14922" y="238273"/>
                  </a:lnTo>
                  <a:lnTo>
                    <a:pt x="31075" y="249187"/>
                  </a:lnTo>
                  <a:lnTo>
                    <a:pt x="50800" y="253196"/>
                  </a:lnTo>
                  <a:lnTo>
                    <a:pt x="3054664" y="253196"/>
                  </a:lnTo>
                  <a:lnTo>
                    <a:pt x="3074389" y="249187"/>
                  </a:lnTo>
                  <a:lnTo>
                    <a:pt x="3090542" y="238273"/>
                  </a:lnTo>
                  <a:lnTo>
                    <a:pt x="3101457" y="222120"/>
                  </a:lnTo>
                  <a:lnTo>
                    <a:pt x="3105465" y="202396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72605" y="1007496"/>
            <a:ext cx="31565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863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AD</a:t>
            </a:r>
            <a:r>
              <a:rPr dirty="0" sz="1000" spc="-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7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c</a:t>
            </a:r>
            <a:r>
              <a:rPr dirty="0" baseline="-11904" sz="105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baseline="-11904" sz="1050" spc="202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c</a:t>
            </a:r>
            <a:r>
              <a:rPr dirty="0" baseline="-11904" sz="1050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r>
              <a:rPr dirty="0" sz="1000">
                <a:solidFill>
                  <a:srgbClr val="212121"/>
                </a:solidFill>
                <a:latin typeface="Calibri"/>
                <a:cs typeface="Calibri"/>
              </a:rPr>
              <a:t>(1</a:t>
            </a:r>
            <a:r>
              <a:rPr dirty="0" sz="10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22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1000" spc="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dirty="0" sz="1000" spc="-35">
                <a:solidFill>
                  <a:srgbClr val="212121"/>
                </a:solidFill>
                <a:latin typeface="Calibri"/>
                <a:cs typeface="Calibri"/>
              </a:rPr>
              <a:t>)</a:t>
            </a:r>
            <a:r>
              <a:rPr dirty="0" sz="1000" spc="-35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sz="1000" spc="-6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1000" spc="-6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1000" spc="-6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10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00" spc="-45" i="1">
                <a:solidFill>
                  <a:srgbClr val="212121"/>
                </a:solidFill>
                <a:latin typeface="Trebuchet MS"/>
                <a:cs typeface="Trebuchet MS"/>
              </a:rPr>
              <a:t>X</a:t>
            </a:r>
            <a:r>
              <a:rPr dirty="0" sz="1000" spc="-6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220">
                <a:solidFill>
                  <a:srgbClr val="212121"/>
                </a:solidFill>
                <a:latin typeface="Cambria"/>
                <a:cs typeface="Cambria"/>
              </a:rPr>
              <a:t>−</a:t>
            </a:r>
            <a:r>
              <a:rPr dirty="0" sz="1000" spc="2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000" spc="-25" i="1">
                <a:solidFill>
                  <a:srgbClr val="212121"/>
                </a:solidFill>
                <a:latin typeface="Trebuchet MS"/>
                <a:cs typeface="Trebuchet MS"/>
              </a:rPr>
              <a:t>mY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1282" y="1302299"/>
            <a:ext cx="2519045" cy="10344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000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200025" algn="l"/>
              </a:tabLst>
            </a:pP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c</a:t>
            </a:r>
            <a:r>
              <a:rPr dirty="0" baseline="-11904" sz="105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:</a:t>
            </a:r>
            <a:r>
              <a:rPr dirty="0" sz="1000" spc="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autonomous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consumption</a:t>
            </a:r>
            <a:endParaRPr sz="1000">
              <a:latin typeface="Arial Black"/>
              <a:cs typeface="Arial Black"/>
            </a:endParaRPr>
          </a:p>
          <a:p>
            <a:pPr marL="1993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不随当前收入变化的消费部分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2000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200025" algn="l"/>
              </a:tabLst>
            </a:pP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c</a:t>
            </a:r>
            <a:r>
              <a:rPr dirty="0" baseline="-11904" sz="1050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:</a:t>
            </a:r>
            <a:r>
              <a:rPr dirty="0" sz="1000" spc="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marginal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propensity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consume</a:t>
            </a:r>
            <a:endParaRPr sz="1000">
              <a:latin typeface="Arial Black"/>
              <a:cs typeface="Arial Black"/>
            </a:endParaRPr>
          </a:p>
          <a:p>
            <a:pPr marL="1993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每增加一单位收入，消费增加多少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2000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200025" algn="l"/>
              </a:tabLst>
            </a:pPr>
            <a:r>
              <a:rPr dirty="0" sz="1000" spc="-105" i="1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dirty="0" sz="1000" spc="-4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m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:</a:t>
            </a:r>
            <a:r>
              <a:rPr dirty="0" sz="1000" spc="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leakages</a:t>
            </a:r>
            <a:endParaRPr sz="1000">
              <a:latin typeface="Arial Black"/>
              <a:cs typeface="Arial Black"/>
            </a:endParaRPr>
          </a:p>
          <a:p>
            <a:pPr marL="19939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tax</a:t>
            </a:r>
            <a:r>
              <a:rPr dirty="0" sz="700" spc="1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和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imports</a:t>
            </a:r>
            <a:r>
              <a:rPr dirty="0" sz="700" spc="1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都会把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multiplier</a:t>
            </a:r>
            <a:r>
              <a:rPr dirty="0" sz="700" spc="1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变小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65626" y="707681"/>
            <a:ext cx="2247265" cy="375920"/>
          </a:xfrm>
          <a:custGeom>
            <a:avLst/>
            <a:gdLst/>
            <a:ahLst/>
            <a:cxnLst/>
            <a:rect l="l" t="t" r="r" b="b"/>
            <a:pathLst>
              <a:path w="2247265" h="375919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75674"/>
                </a:lnTo>
                <a:lnTo>
                  <a:pt x="2247195" y="375674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16427" y="699628"/>
            <a:ext cx="2065020" cy="3841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ts val="1415"/>
              </a:lnSpc>
              <a:spcBef>
                <a:spcPts val="75"/>
              </a:spcBef>
            </a:pPr>
            <a:r>
              <a:rPr dirty="0" sz="1200" spc="-30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Arial Black"/>
                <a:cs typeface="Arial Black"/>
              </a:rPr>
              <a:t>formula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tells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Arial Black"/>
                <a:cs typeface="Arial Black"/>
              </a:rPr>
              <a:t>you</a:t>
            </a:r>
            <a:endParaRPr sz="1200">
              <a:latin typeface="Arial Black"/>
              <a:cs typeface="Arial Black"/>
            </a:endParaRPr>
          </a:p>
          <a:p>
            <a:pPr>
              <a:lnSpc>
                <a:spcPts val="1415"/>
              </a:lnSpc>
            </a:pPr>
            <a:r>
              <a:rPr dirty="0" sz="1200" spc="60">
                <a:solidFill>
                  <a:srgbClr val="FFFFFF"/>
                </a:solidFill>
                <a:latin typeface="Arial Black"/>
                <a:cs typeface="Arial Black"/>
              </a:rPr>
              <a:t>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这个式子在说什么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65626" y="764613"/>
            <a:ext cx="2298065" cy="901700"/>
            <a:chOff x="3365626" y="764613"/>
            <a:chExt cx="2298065" cy="9017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5626" y="1070698"/>
              <a:ext cx="2247195" cy="5060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16427" y="764613"/>
              <a:ext cx="2247265" cy="901700"/>
            </a:xfrm>
            <a:custGeom>
              <a:avLst/>
              <a:gdLst/>
              <a:ahLst/>
              <a:cxnLst/>
              <a:rect l="l" t="t" r="r" b="b"/>
              <a:pathLst>
                <a:path w="2247265" h="901700">
                  <a:moveTo>
                    <a:pt x="2247195" y="0"/>
                  </a:moveTo>
                  <a:lnTo>
                    <a:pt x="0" y="0"/>
                  </a:lnTo>
                  <a:lnTo>
                    <a:pt x="0" y="901094"/>
                  </a:lnTo>
                  <a:lnTo>
                    <a:pt x="2247195" y="901094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65626" y="1114982"/>
              <a:ext cx="2247265" cy="500380"/>
            </a:xfrm>
            <a:custGeom>
              <a:avLst/>
              <a:gdLst/>
              <a:ahLst/>
              <a:cxnLst/>
              <a:rect l="l" t="t" r="r" b="b"/>
              <a:pathLst>
                <a:path w="2247265" h="500380">
                  <a:moveTo>
                    <a:pt x="2247195" y="0"/>
                  </a:moveTo>
                  <a:lnTo>
                    <a:pt x="0" y="0"/>
                  </a:lnTo>
                  <a:lnTo>
                    <a:pt x="0" y="449123"/>
                  </a:lnTo>
                  <a:lnTo>
                    <a:pt x="4008" y="468848"/>
                  </a:lnTo>
                  <a:lnTo>
                    <a:pt x="14922" y="485001"/>
                  </a:lnTo>
                  <a:lnTo>
                    <a:pt x="31075" y="495915"/>
                  </a:lnTo>
                  <a:lnTo>
                    <a:pt x="50800" y="499924"/>
                  </a:lnTo>
                  <a:lnTo>
                    <a:pt x="2196394" y="499924"/>
                  </a:lnTo>
                  <a:lnTo>
                    <a:pt x="2216119" y="495915"/>
                  </a:lnTo>
                  <a:lnTo>
                    <a:pt x="2232272" y="485001"/>
                  </a:lnTo>
                  <a:lnTo>
                    <a:pt x="2243186" y="468848"/>
                  </a:lnTo>
                  <a:lnTo>
                    <a:pt x="2247195" y="449123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416427" y="1097221"/>
            <a:ext cx="224726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9398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Aggregate</a:t>
            </a:r>
            <a:r>
              <a:rPr dirty="0" sz="1000" spc="1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demand</a:t>
            </a:r>
            <a:r>
              <a:rPr dirty="0" sz="1000" spc="1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depends</a:t>
            </a:r>
            <a:r>
              <a:rPr dirty="0" sz="1000" spc="1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partly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on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current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income,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so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shocks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can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be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amplified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through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the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circular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flow.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55"/>
              <a:t>Consumption</a:t>
            </a:r>
            <a:r>
              <a:rPr dirty="0" spc="-40"/>
              <a:t> function </a:t>
            </a:r>
            <a:r>
              <a:rPr dirty="0" spc="-45"/>
              <a:t>and</a:t>
            </a:r>
            <a:r>
              <a:rPr dirty="0" spc="-40"/>
              <a:t> </a:t>
            </a:r>
            <a:r>
              <a:rPr dirty="0" spc="-25"/>
              <a:t>MPC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5" b="1">
                <a:solidFill>
                  <a:srgbClr val="666666"/>
                </a:solidFill>
                <a:latin typeface="Microsoft JhengHei"/>
                <a:cs typeface="Microsoft JhengHei"/>
              </a:rPr>
              <a:t>消费函数和 </a:t>
            </a:r>
            <a:r>
              <a:rPr dirty="0" sz="900" spc="-35">
                <a:solidFill>
                  <a:srgbClr val="666666"/>
                </a:solidFill>
              </a:rPr>
              <a:t>marginal </a:t>
            </a:r>
            <a:r>
              <a:rPr dirty="0" sz="900" spc="-40">
                <a:solidFill>
                  <a:srgbClr val="666666"/>
                </a:solidFill>
              </a:rPr>
              <a:t>propensity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spc="-25">
                <a:solidFill>
                  <a:srgbClr val="666666"/>
                </a:solidFill>
              </a:rPr>
              <a:t>to</a:t>
            </a:r>
            <a:r>
              <a:rPr dirty="0" sz="900" spc="-35">
                <a:solidFill>
                  <a:srgbClr val="666666"/>
                </a:solidFill>
              </a:rPr>
              <a:t> consume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4850"/>
            <a:ext cx="2222500" cy="177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451484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Consumption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has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an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autonomous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part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and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an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income-related</a:t>
            </a:r>
            <a:r>
              <a:rPr dirty="0" sz="1000" spc="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part.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5">
                <a:solidFill>
                  <a:srgbClr val="666666"/>
                </a:solidFill>
                <a:latin typeface="SimSun"/>
                <a:cs typeface="SimSun"/>
              </a:rPr>
              <a:t>消费函数通常分成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autonomous</a:t>
            </a:r>
            <a:r>
              <a:rPr dirty="0" sz="700" spc="204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consumption</a:t>
            </a:r>
            <a:r>
              <a:rPr dirty="0" sz="700" spc="204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30">
                <a:solidFill>
                  <a:srgbClr val="666666"/>
                </a:solidFill>
                <a:latin typeface="SimSun"/>
                <a:cs typeface="SimSun"/>
              </a:rPr>
              <a:t>和随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收入变化的部分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slope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MPC.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斜率就是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marginal</a:t>
            </a:r>
            <a:r>
              <a:rPr dirty="0" sz="700" spc="13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propensity</a:t>
            </a:r>
            <a:r>
              <a:rPr dirty="0" sz="700" spc="1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to</a:t>
            </a:r>
            <a:r>
              <a:rPr dirty="0" sz="700" spc="13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consume.</a:t>
            </a:r>
            <a:endParaRPr sz="700">
              <a:latin typeface="Arial MT"/>
              <a:cs typeface="Arial MT"/>
            </a:endParaRPr>
          </a:p>
          <a:p>
            <a:pPr marL="173990" marR="1397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Poorer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constrained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households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often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have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higher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MPC.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越紧的人，新增收入越容易转成消费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2133" y="670595"/>
            <a:ext cx="2147155" cy="132264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558"/>
                </a:lnTo>
                <a:lnTo>
                  <a:pt x="5759996" y="431558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90"/>
              <a:t>Goods</a:t>
            </a:r>
            <a:r>
              <a:rPr dirty="0" spc="-50"/>
              <a:t> </a:t>
            </a:r>
            <a:r>
              <a:rPr dirty="0" spc="-45"/>
              <a:t>market</a:t>
            </a:r>
            <a:r>
              <a:rPr dirty="0" spc="-50"/>
              <a:t> </a:t>
            </a:r>
            <a:r>
              <a:rPr dirty="0" spc="-35"/>
              <a:t>equilibrium</a:t>
            </a:r>
            <a:r>
              <a:rPr dirty="0" spc="-50"/>
              <a:t> </a:t>
            </a:r>
            <a:r>
              <a:rPr dirty="0" spc="-45"/>
              <a:t>and</a:t>
            </a:r>
            <a:r>
              <a:rPr dirty="0" spc="-50"/>
              <a:t> </a:t>
            </a:r>
            <a:r>
              <a:rPr dirty="0" spc="-40"/>
              <a:t>the</a:t>
            </a:r>
            <a:r>
              <a:rPr dirty="0" spc="-50"/>
              <a:t> </a:t>
            </a:r>
            <a:r>
              <a:rPr dirty="0" spc="-60"/>
              <a:t>45-</a:t>
            </a:r>
            <a:r>
              <a:rPr dirty="0" spc="-75"/>
              <a:t>degree</a:t>
            </a:r>
            <a:r>
              <a:rPr dirty="0" spc="-55"/>
              <a:t> </a:t>
            </a:r>
            <a:r>
              <a:rPr dirty="0" spc="-20"/>
              <a:t>line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90">
                <a:solidFill>
                  <a:srgbClr val="666666"/>
                </a:solidFill>
              </a:rPr>
              <a:t>45</a:t>
            </a:r>
            <a:r>
              <a:rPr dirty="0" sz="900" spc="-60">
                <a:solidFill>
                  <a:srgbClr val="666666"/>
                </a:solidFill>
              </a:rPr>
              <a:t> </a:t>
            </a: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度线为什么这么重要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5015"/>
            <a:ext cx="2076450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1079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On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45-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degree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line,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output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equals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aggregate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demand.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45-degree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line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666666"/>
                </a:solidFill>
                <a:latin typeface="SimSun"/>
                <a:cs typeface="SimSun"/>
              </a:rPr>
              <a:t>上满足 </a:t>
            </a:r>
            <a:r>
              <a:rPr dirty="0" sz="700" i="1">
                <a:solidFill>
                  <a:srgbClr val="666666"/>
                </a:solidFill>
                <a:latin typeface="Trebuchet MS"/>
                <a:cs typeface="Trebuchet MS"/>
              </a:rPr>
              <a:t>Y</a:t>
            </a:r>
            <a:r>
              <a:rPr dirty="0" sz="700" spc="60" i="1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700" spc="180">
                <a:solidFill>
                  <a:srgbClr val="666666"/>
                </a:solidFill>
                <a:latin typeface="Calibri"/>
                <a:cs typeface="Calibri"/>
              </a:rPr>
              <a:t>= </a:t>
            </a:r>
            <a:r>
              <a:rPr dirty="0" sz="700" spc="-25" i="1">
                <a:solidFill>
                  <a:srgbClr val="666666"/>
                </a:solidFill>
                <a:latin typeface="Trebuchet MS"/>
                <a:cs typeface="Trebuchet MS"/>
              </a:rPr>
              <a:t>AD</a:t>
            </a:r>
            <a:r>
              <a:rPr dirty="0" sz="700" spc="-25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5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If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AD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below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output,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inventories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rise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and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firms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cut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output.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如果需求低于产出，企业会减产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13843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If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AD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above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output,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firms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expand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production.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如果需求高于产出，企业会增产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4233" y="653583"/>
            <a:ext cx="2714004" cy="16984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95"/>
              <a:t>The</a:t>
            </a:r>
            <a:r>
              <a:rPr dirty="0" spc="-60"/>
              <a:t> </a:t>
            </a:r>
            <a:r>
              <a:rPr dirty="0" spc="-30"/>
              <a:t>multiplier</a:t>
            </a:r>
            <a:r>
              <a:rPr dirty="0" spc="-60"/>
              <a:t> </a:t>
            </a:r>
            <a:r>
              <a:rPr dirty="0" spc="-10"/>
              <a:t>process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b="1">
                <a:solidFill>
                  <a:srgbClr val="666666"/>
                </a:solidFill>
                <a:latin typeface="Microsoft JhengHei"/>
                <a:cs typeface="Microsoft JhengHei"/>
              </a:rPr>
              <a:t>乘数不是 </a:t>
            </a:r>
            <a:r>
              <a:rPr dirty="0" sz="900" spc="-50">
                <a:solidFill>
                  <a:srgbClr val="666666"/>
                </a:solidFill>
              </a:rPr>
              <a:t>magic</a:t>
            </a:r>
            <a:r>
              <a:rPr dirty="0" sz="900" spc="-5" b="1">
                <a:solidFill>
                  <a:srgbClr val="666666"/>
                </a:solidFill>
                <a:latin typeface="Microsoft JhengHei"/>
                <a:cs typeface="Microsoft JhengHei"/>
              </a:rPr>
              <a:t>，是 </a:t>
            </a:r>
            <a:r>
              <a:rPr dirty="0" sz="900" spc="-50">
                <a:solidFill>
                  <a:srgbClr val="666666"/>
                </a:solidFill>
              </a:rPr>
              <a:t>repeated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spc="-40">
                <a:solidFill>
                  <a:srgbClr val="666666"/>
                </a:solidFill>
              </a:rPr>
              <a:t>rounds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spc="-25">
                <a:solidFill>
                  <a:srgbClr val="666666"/>
                </a:solidFill>
              </a:rPr>
              <a:t>of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spc="-20">
                <a:solidFill>
                  <a:srgbClr val="666666"/>
                </a:solidFill>
              </a:rPr>
              <a:t>spending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4850"/>
            <a:ext cx="2015489" cy="177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19113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fall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investment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the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first-round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shock.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第一轮只是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investment</a:t>
            </a:r>
            <a:r>
              <a:rPr dirty="0" sz="700" spc="14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自己先掉下去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10858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Lower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output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means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lower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income,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which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lowers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spending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again.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但收入下降会带来第二轮、第三轮的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spending</a:t>
            </a:r>
            <a:endParaRPr sz="7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decline.</a:t>
            </a:r>
            <a:endParaRPr sz="700">
              <a:latin typeface="Arial MT"/>
              <a:cs typeface="Arial MT"/>
            </a:endParaRPr>
          </a:p>
          <a:p>
            <a:pPr marL="173990" marR="5905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11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total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output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fall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by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more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than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initial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shock.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这就是为什么最终变化会大于初始冲击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5169" y="656054"/>
            <a:ext cx="2904200" cy="183131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015"/>
                </a:lnTo>
                <a:lnTo>
                  <a:pt x="5759996" y="432015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134"/>
            <a:ext cx="2784475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30"/>
              <a:t>What</a:t>
            </a:r>
            <a:r>
              <a:rPr dirty="0" spc="-65"/>
              <a:t> </a:t>
            </a:r>
            <a:r>
              <a:rPr dirty="0" spc="-75"/>
              <a:t>makes</a:t>
            </a:r>
            <a:r>
              <a:rPr dirty="0" spc="-60"/>
              <a:t> </a:t>
            </a:r>
            <a:r>
              <a:rPr dirty="0" spc="-40"/>
              <a:t>the</a:t>
            </a:r>
            <a:r>
              <a:rPr dirty="0" spc="-65"/>
              <a:t> </a:t>
            </a:r>
            <a:r>
              <a:rPr dirty="0" spc="-30"/>
              <a:t>multiplier</a:t>
            </a:r>
            <a:r>
              <a:rPr dirty="0" spc="-60"/>
              <a:t> </a:t>
            </a:r>
            <a:r>
              <a:rPr dirty="0" spc="-45"/>
              <a:t>smaller?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什么时候乘数会变小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64544"/>
            <a:ext cx="2860675" cy="10344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Saving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leakage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from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circular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flow.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收入不是全拿去花，乘数就会被削弱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Taxation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leakage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too.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一部分收入进政府，私人消费的反馈减弱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Imports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are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another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leakage.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买外国货不直接增加本国 </a:t>
            </a:r>
            <a:r>
              <a:rPr dirty="0" sz="700" spc="-30">
                <a:solidFill>
                  <a:srgbClr val="666666"/>
                </a:solidFill>
                <a:latin typeface="Arial MT"/>
                <a:cs typeface="Arial MT"/>
              </a:rPr>
              <a:t>GDP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，所以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multiplier</a:t>
            </a:r>
            <a:r>
              <a:rPr dirty="0" sz="700" spc="13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更小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728609"/>
            <a:ext cx="5466080" cy="230504"/>
          </a:xfrm>
          <a:custGeom>
            <a:avLst/>
            <a:gdLst/>
            <a:ahLst/>
            <a:cxnLst/>
            <a:rect l="l" t="t" r="r" b="b"/>
            <a:pathLst>
              <a:path w="5466080" h="23050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0269"/>
                </a:lnTo>
                <a:lnTo>
                  <a:pt x="5465668" y="230269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734818"/>
            <a:ext cx="140017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125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idea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核心一句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785542"/>
            <a:ext cx="5516880" cy="453390"/>
            <a:chOff x="147205" y="1785542"/>
            <a:chExt cx="5516880" cy="4533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1946224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785542"/>
              <a:ext cx="5466080" cy="453390"/>
            </a:xfrm>
            <a:custGeom>
              <a:avLst/>
              <a:gdLst/>
              <a:ahLst/>
              <a:cxnLst/>
              <a:rect l="l" t="t" r="r" b="b"/>
              <a:pathLst>
                <a:path w="5466080" h="453389">
                  <a:moveTo>
                    <a:pt x="5465668" y="0"/>
                  </a:moveTo>
                  <a:lnTo>
                    <a:pt x="0" y="0"/>
                  </a:lnTo>
                  <a:lnTo>
                    <a:pt x="0" y="452909"/>
                  </a:lnTo>
                  <a:lnTo>
                    <a:pt x="5465668" y="452909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1990506"/>
              <a:ext cx="5466080" cy="197485"/>
            </a:xfrm>
            <a:custGeom>
              <a:avLst/>
              <a:gdLst/>
              <a:ahLst/>
              <a:cxnLst/>
              <a:rect l="l" t="t" r="r" b="b"/>
              <a:pathLst>
                <a:path w="5466080" h="197485">
                  <a:moveTo>
                    <a:pt x="5465668" y="0"/>
                  </a:moveTo>
                  <a:lnTo>
                    <a:pt x="0" y="0"/>
                  </a:lnTo>
                  <a:lnTo>
                    <a:pt x="0" y="146344"/>
                  </a:lnTo>
                  <a:lnTo>
                    <a:pt x="4008" y="166068"/>
                  </a:lnTo>
                  <a:lnTo>
                    <a:pt x="14922" y="182221"/>
                  </a:lnTo>
                  <a:lnTo>
                    <a:pt x="31075" y="193136"/>
                  </a:lnTo>
                  <a:lnTo>
                    <a:pt x="50800" y="197144"/>
                  </a:lnTo>
                  <a:lnTo>
                    <a:pt x="5414867" y="197144"/>
                  </a:lnTo>
                  <a:lnTo>
                    <a:pt x="5434592" y="193136"/>
                  </a:lnTo>
                  <a:lnTo>
                    <a:pt x="5450745" y="182221"/>
                  </a:lnTo>
                  <a:lnTo>
                    <a:pt x="5461659" y="166068"/>
                  </a:lnTo>
                  <a:lnTo>
                    <a:pt x="5465668" y="146344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1973635"/>
            <a:ext cx="54660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More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leakages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125">
                <a:solidFill>
                  <a:srgbClr val="212121"/>
                </a:solidFill>
                <a:latin typeface="Cambria"/>
                <a:cs typeface="Cambria"/>
              </a:rPr>
              <a:t>⇒</a:t>
            </a:r>
            <a:r>
              <a:rPr dirty="0" sz="1000" spc="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flatter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AD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125">
                <a:solidFill>
                  <a:srgbClr val="212121"/>
                </a:solidFill>
                <a:latin typeface="Cambria"/>
                <a:cs typeface="Cambria"/>
              </a:rPr>
              <a:t>⇒</a:t>
            </a:r>
            <a:r>
              <a:rPr dirty="0" sz="1000" spc="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smaller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multiplier.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55"/>
              <a:t>Tutorial</a:t>
            </a:r>
            <a:r>
              <a:rPr dirty="0" spc="-70"/>
              <a:t> </a:t>
            </a:r>
            <a:r>
              <a:rPr dirty="0" spc="-55"/>
              <a:t>question</a:t>
            </a:r>
            <a:r>
              <a:rPr dirty="0" spc="-60"/>
              <a:t> </a:t>
            </a:r>
            <a:r>
              <a:rPr dirty="0" spc="-95"/>
              <a:t>closest</a:t>
            </a:r>
            <a:r>
              <a:rPr dirty="0" spc="-60"/>
              <a:t> </a:t>
            </a:r>
            <a:r>
              <a:rPr dirty="0" spc="-35"/>
              <a:t>to</a:t>
            </a:r>
            <a:r>
              <a:rPr dirty="0" spc="-65"/>
              <a:t> </a:t>
            </a:r>
            <a:r>
              <a:rPr dirty="0" spc="-40"/>
              <a:t>the</a:t>
            </a:r>
            <a:r>
              <a:rPr dirty="0" spc="-60"/>
              <a:t> </a:t>
            </a:r>
            <a:r>
              <a:rPr dirty="0" spc="-75"/>
              <a:t>exam</a:t>
            </a:r>
            <a:r>
              <a:rPr dirty="0" spc="-65"/>
              <a:t> </a:t>
            </a:r>
            <a:r>
              <a:rPr dirty="0" spc="-25"/>
              <a:t>#1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45">
                <a:solidFill>
                  <a:srgbClr val="666666"/>
                </a:solidFill>
              </a:rPr>
              <a:t>Problem</a:t>
            </a:r>
            <a:r>
              <a:rPr dirty="0" sz="900" spc="-60">
                <a:solidFill>
                  <a:srgbClr val="666666"/>
                </a:solidFill>
              </a:rPr>
              <a:t> </a:t>
            </a:r>
            <a:r>
              <a:rPr dirty="0" sz="900" spc="-75">
                <a:solidFill>
                  <a:srgbClr val="666666"/>
                </a:solidFill>
              </a:rPr>
              <a:t>Set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85">
                <a:solidFill>
                  <a:srgbClr val="666666"/>
                </a:solidFill>
              </a:rPr>
              <a:t>2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45">
                <a:solidFill>
                  <a:srgbClr val="666666"/>
                </a:solidFill>
              </a:rPr>
              <a:t>Q1(a):</a:t>
            </a:r>
            <a:r>
              <a:rPr dirty="0" sz="900" spc="25">
                <a:solidFill>
                  <a:srgbClr val="666666"/>
                </a:solidFill>
              </a:rPr>
              <a:t> </a:t>
            </a:r>
            <a:r>
              <a:rPr dirty="0" sz="900" spc="-10" b="1">
                <a:solidFill>
                  <a:srgbClr val="666666"/>
                </a:solidFill>
                <a:latin typeface="Microsoft JhengHei"/>
                <a:cs typeface="Microsoft JhengHei"/>
              </a:rPr>
              <a:t>哪个经济体的 </a:t>
            </a:r>
            <a:r>
              <a:rPr dirty="0" sz="900" spc="-25">
                <a:solidFill>
                  <a:srgbClr val="666666"/>
                </a:solidFill>
              </a:rPr>
              <a:t>multiplier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30" b="1">
                <a:solidFill>
                  <a:srgbClr val="666666"/>
                </a:solidFill>
                <a:latin typeface="Microsoft JhengHei"/>
                <a:cs typeface="Microsoft JhengHei"/>
              </a:rPr>
              <a:t>更大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636320"/>
            <a:ext cx="5466080" cy="212725"/>
          </a:xfrm>
          <a:custGeom>
            <a:avLst/>
            <a:gdLst/>
            <a:ahLst/>
            <a:cxnLst/>
            <a:rect l="l" t="t" r="r" b="b"/>
            <a:pathLst>
              <a:path w="5466080" h="21272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353"/>
                </a:lnTo>
                <a:lnTo>
                  <a:pt x="5465668" y="212353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642085"/>
            <a:ext cx="180657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Problem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00">
                <a:solidFill>
                  <a:srgbClr val="FFFFFF"/>
                </a:solidFill>
                <a:latin typeface="Arial Black"/>
                <a:cs typeface="Arial Black"/>
              </a:rPr>
              <a:t>Set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你先判断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693257"/>
            <a:ext cx="5516880" cy="586740"/>
            <a:chOff x="147205" y="693257"/>
            <a:chExt cx="5516880" cy="5867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836028"/>
              <a:ext cx="5465668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693257"/>
              <a:ext cx="5466080" cy="586740"/>
            </a:xfrm>
            <a:custGeom>
              <a:avLst/>
              <a:gdLst/>
              <a:ahLst/>
              <a:cxnLst/>
              <a:rect l="l" t="t" r="r" b="b"/>
              <a:pathLst>
                <a:path w="5466080" h="586740">
                  <a:moveTo>
                    <a:pt x="5465668" y="0"/>
                  </a:moveTo>
                  <a:lnTo>
                    <a:pt x="0" y="0"/>
                  </a:lnTo>
                  <a:lnTo>
                    <a:pt x="0" y="586573"/>
                  </a:lnTo>
                  <a:lnTo>
                    <a:pt x="5465668" y="586573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880306"/>
              <a:ext cx="5466080" cy="349250"/>
            </a:xfrm>
            <a:custGeom>
              <a:avLst/>
              <a:gdLst/>
              <a:ahLst/>
              <a:cxnLst/>
              <a:rect l="l" t="t" r="r" b="b"/>
              <a:pathLst>
                <a:path w="5466080" h="349250">
                  <a:moveTo>
                    <a:pt x="5465668" y="0"/>
                  </a:moveTo>
                  <a:lnTo>
                    <a:pt x="0" y="0"/>
                  </a:lnTo>
                  <a:lnTo>
                    <a:pt x="0" y="297923"/>
                  </a:lnTo>
                  <a:lnTo>
                    <a:pt x="4008" y="317648"/>
                  </a:lnTo>
                  <a:lnTo>
                    <a:pt x="14922" y="333801"/>
                  </a:lnTo>
                  <a:lnTo>
                    <a:pt x="31075" y="344715"/>
                  </a:lnTo>
                  <a:lnTo>
                    <a:pt x="50800" y="348724"/>
                  </a:lnTo>
                  <a:lnTo>
                    <a:pt x="5414867" y="348724"/>
                  </a:lnTo>
                  <a:lnTo>
                    <a:pt x="5434592" y="344715"/>
                  </a:lnTo>
                  <a:lnTo>
                    <a:pt x="5450745" y="333801"/>
                  </a:lnTo>
                  <a:lnTo>
                    <a:pt x="5461659" y="317648"/>
                  </a:lnTo>
                  <a:lnTo>
                    <a:pt x="5465668" y="297923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8005" y="863173"/>
            <a:ext cx="54660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200"/>
              </a:lnSpc>
              <a:spcBef>
                <a:spcPts val="95"/>
              </a:spcBef>
            </a:pP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Two</a:t>
            </a:r>
            <a:r>
              <a:rPr dirty="0" sz="10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economies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differ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only in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share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credit-constrained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households.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ts val="1200"/>
              </a:lnSpc>
            </a:pP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Which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economy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has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larger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multiplier?</a:t>
            </a:r>
            <a:r>
              <a:rPr dirty="0" sz="1000" spc="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Why?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7205" y="1469516"/>
            <a:ext cx="5466080" cy="230504"/>
          </a:xfrm>
          <a:custGeom>
            <a:avLst/>
            <a:gdLst/>
            <a:ahLst/>
            <a:cxnLst/>
            <a:rect l="l" t="t" r="r" b="b"/>
            <a:pathLst>
              <a:path w="5466080" h="23050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0421"/>
                </a:lnTo>
                <a:lnTo>
                  <a:pt x="5465668" y="230421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8005" y="1475890"/>
            <a:ext cx="3703954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Try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saying </a:t>
            </a:r>
            <a:r>
              <a:rPr dirty="0" sz="1200" spc="-20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one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sentence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先试着用一句英文说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7205" y="1526446"/>
            <a:ext cx="5516880" cy="452755"/>
            <a:chOff x="147205" y="1526446"/>
            <a:chExt cx="5516880" cy="45275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05" y="1687283"/>
              <a:ext cx="5465668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8005" y="1526446"/>
              <a:ext cx="5466080" cy="452755"/>
            </a:xfrm>
            <a:custGeom>
              <a:avLst/>
              <a:gdLst/>
              <a:ahLst/>
              <a:cxnLst/>
              <a:rect l="l" t="t" r="r" b="b"/>
              <a:pathLst>
                <a:path w="5466080" h="452755">
                  <a:moveTo>
                    <a:pt x="5465668" y="0"/>
                  </a:moveTo>
                  <a:lnTo>
                    <a:pt x="0" y="0"/>
                  </a:lnTo>
                  <a:lnTo>
                    <a:pt x="0" y="452176"/>
                  </a:lnTo>
                  <a:lnTo>
                    <a:pt x="5465668" y="452176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7205" y="1731563"/>
              <a:ext cx="5466080" cy="196850"/>
            </a:xfrm>
            <a:custGeom>
              <a:avLst/>
              <a:gdLst/>
              <a:ahLst/>
              <a:cxnLst/>
              <a:rect l="l" t="t" r="r" b="b"/>
              <a:pathLst>
                <a:path w="5466080" h="196850">
                  <a:moveTo>
                    <a:pt x="5465668" y="0"/>
                  </a:moveTo>
                  <a:lnTo>
                    <a:pt x="0" y="0"/>
                  </a:lnTo>
                  <a:lnTo>
                    <a:pt x="0" y="145458"/>
                  </a:lnTo>
                  <a:lnTo>
                    <a:pt x="4008" y="165183"/>
                  </a:lnTo>
                  <a:lnTo>
                    <a:pt x="14922" y="181336"/>
                  </a:lnTo>
                  <a:lnTo>
                    <a:pt x="31075" y="192250"/>
                  </a:lnTo>
                  <a:lnTo>
                    <a:pt x="50800" y="196259"/>
                  </a:lnTo>
                  <a:lnTo>
                    <a:pt x="5414867" y="196259"/>
                  </a:lnTo>
                  <a:lnTo>
                    <a:pt x="5434592" y="192250"/>
                  </a:lnTo>
                  <a:lnTo>
                    <a:pt x="5450745" y="181336"/>
                  </a:lnTo>
                  <a:lnTo>
                    <a:pt x="5461659" y="165183"/>
                  </a:lnTo>
                  <a:lnTo>
                    <a:pt x="5465668" y="145458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98005" y="1713806"/>
            <a:ext cx="54660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868805" algn="l"/>
                <a:tab pos="5304155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economy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with </a:t>
            </a:r>
            <a:r>
              <a:rPr dirty="0" u="sng" sz="100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has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the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larger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multiplier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because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u="sng" sz="100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000" spc="-50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787"/>
                </a:lnTo>
                <a:lnTo>
                  <a:pt x="5759996" y="431787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439"/>
            <a:ext cx="2335530" cy="38989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45"/>
              <a:t>Model</a:t>
            </a:r>
            <a:r>
              <a:rPr dirty="0" spc="-70"/>
              <a:t> answer</a:t>
            </a:r>
            <a:r>
              <a:rPr dirty="0" spc="-65"/>
              <a:t> </a:t>
            </a:r>
            <a:r>
              <a:rPr dirty="0" spc="-70"/>
              <a:t>logic</a:t>
            </a:r>
            <a:r>
              <a:rPr dirty="0" spc="-65"/>
              <a:t> </a:t>
            </a:r>
            <a:r>
              <a:rPr dirty="0" spc="-20"/>
              <a:t>for</a:t>
            </a:r>
            <a:r>
              <a:rPr dirty="0" spc="-65"/>
              <a:t> </a:t>
            </a:r>
            <a:r>
              <a:rPr dirty="0" spc="-145"/>
              <a:t>PS2</a:t>
            </a:r>
            <a:r>
              <a:rPr dirty="0" spc="-65"/>
              <a:t> </a:t>
            </a:r>
            <a:r>
              <a:rPr dirty="0" spc="-25"/>
              <a:t>Q1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把口语答案升级成考试答案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64315"/>
            <a:ext cx="4373245" cy="10344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More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credit-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constrained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households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usually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means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higher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MPC.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被约束的人对当前收入更敏感，所以 </a:t>
            </a:r>
            <a:r>
              <a:rPr dirty="0" sz="700" spc="-20">
                <a:solidFill>
                  <a:srgbClr val="666666"/>
                </a:solidFill>
                <a:latin typeface="Arial MT"/>
                <a:cs typeface="Arial MT"/>
              </a:rPr>
              <a:t>MPC</a:t>
            </a:r>
            <a:r>
              <a:rPr dirty="0" sz="700" spc="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更高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higher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MPC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makes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AD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steeper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multiplier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larger.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20">
                <a:solidFill>
                  <a:srgbClr val="666666"/>
                </a:solidFill>
                <a:latin typeface="Arial MT"/>
                <a:cs typeface="Arial MT"/>
              </a:rPr>
              <a:t>MPC</a:t>
            </a:r>
            <a:r>
              <a:rPr dirty="0" sz="700" spc="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越高，收入反馈越强，乘数越大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deep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downturns,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multiplier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be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especially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strong.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资源闲置多、约束强的时候，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policy</a:t>
            </a:r>
            <a:r>
              <a:rPr dirty="0" sz="700" spc="1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effects</a:t>
            </a:r>
            <a:r>
              <a:rPr dirty="0" sz="700" spc="1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往往更明显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728380"/>
            <a:ext cx="5466080" cy="212090"/>
          </a:xfrm>
          <a:custGeom>
            <a:avLst/>
            <a:gdLst/>
            <a:ahLst/>
            <a:cxnLst/>
            <a:rect l="l" t="t" r="r" b="b"/>
            <a:pathLst>
              <a:path w="5466080" h="212089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1898"/>
                </a:lnTo>
                <a:lnTo>
                  <a:pt x="5465668" y="211898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733688"/>
            <a:ext cx="228092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Exam-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safe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sentence</a:t>
            </a:r>
            <a:r>
              <a:rPr dirty="0" sz="1200" spc="2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可直接用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785316"/>
            <a:ext cx="5516880" cy="586740"/>
            <a:chOff x="147205" y="1785316"/>
            <a:chExt cx="5516880" cy="5867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1927618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785316"/>
              <a:ext cx="5466080" cy="586740"/>
            </a:xfrm>
            <a:custGeom>
              <a:avLst/>
              <a:gdLst/>
              <a:ahLst/>
              <a:cxnLst/>
              <a:rect l="l" t="t" r="r" b="b"/>
              <a:pathLst>
                <a:path w="5466080" h="586739">
                  <a:moveTo>
                    <a:pt x="5465668" y="0"/>
                  </a:moveTo>
                  <a:lnTo>
                    <a:pt x="0" y="0"/>
                  </a:lnTo>
                  <a:lnTo>
                    <a:pt x="0" y="586370"/>
                  </a:lnTo>
                  <a:lnTo>
                    <a:pt x="5465668" y="586370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1971909"/>
              <a:ext cx="5466080" cy="349250"/>
            </a:xfrm>
            <a:custGeom>
              <a:avLst/>
              <a:gdLst/>
              <a:ahLst/>
              <a:cxnLst/>
              <a:rect l="l" t="t" r="r" b="b"/>
              <a:pathLst>
                <a:path w="5466080" h="349250">
                  <a:moveTo>
                    <a:pt x="5465668" y="0"/>
                  </a:moveTo>
                  <a:lnTo>
                    <a:pt x="0" y="0"/>
                  </a:lnTo>
                  <a:lnTo>
                    <a:pt x="0" y="298176"/>
                  </a:lnTo>
                  <a:lnTo>
                    <a:pt x="4008" y="317901"/>
                  </a:lnTo>
                  <a:lnTo>
                    <a:pt x="14922" y="334054"/>
                  </a:lnTo>
                  <a:lnTo>
                    <a:pt x="31075" y="344968"/>
                  </a:lnTo>
                  <a:lnTo>
                    <a:pt x="50800" y="348977"/>
                  </a:lnTo>
                  <a:lnTo>
                    <a:pt x="5414867" y="348977"/>
                  </a:lnTo>
                  <a:lnTo>
                    <a:pt x="5434592" y="344968"/>
                  </a:lnTo>
                  <a:lnTo>
                    <a:pt x="5450745" y="334054"/>
                  </a:lnTo>
                  <a:lnTo>
                    <a:pt x="5461659" y="317901"/>
                  </a:lnTo>
                  <a:lnTo>
                    <a:pt x="5465668" y="298176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1955030"/>
            <a:ext cx="54660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3175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multiplier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larger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economy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with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bigger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share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credit-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constrained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households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because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more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any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extra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income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spent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rather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than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saved.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3259454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95"/>
              <a:t>The</a:t>
            </a:r>
            <a:r>
              <a:rPr dirty="0" spc="-65"/>
              <a:t> </a:t>
            </a:r>
            <a:r>
              <a:rPr dirty="0" spc="-70"/>
              <a:t>Great Depression</a:t>
            </a:r>
            <a:r>
              <a:rPr dirty="0" spc="-65"/>
              <a:t> </a:t>
            </a:r>
            <a:r>
              <a:rPr dirty="0" spc="-100"/>
              <a:t>as</a:t>
            </a:r>
            <a:r>
              <a:rPr dirty="0" spc="-65"/>
              <a:t> </a:t>
            </a:r>
            <a:r>
              <a:rPr dirty="0" spc="-80"/>
              <a:t>a</a:t>
            </a:r>
            <a:r>
              <a:rPr dirty="0" spc="-60"/>
              <a:t> </a:t>
            </a:r>
            <a:r>
              <a:rPr dirty="0" spc="-30"/>
              <a:t>multiplier</a:t>
            </a:r>
            <a:r>
              <a:rPr dirty="0" spc="-60"/>
              <a:t> </a:t>
            </a:r>
            <a:r>
              <a:rPr dirty="0" spc="-20"/>
              <a:t>story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50">
                <a:solidFill>
                  <a:srgbClr val="666666"/>
                </a:solidFill>
              </a:rPr>
              <a:t>Great</a:t>
            </a:r>
            <a:r>
              <a:rPr dirty="0" sz="900" spc="-40">
                <a:solidFill>
                  <a:srgbClr val="666666"/>
                </a:solidFill>
              </a:rPr>
              <a:t> </a:t>
            </a:r>
            <a:r>
              <a:rPr dirty="0" sz="900" spc="-55">
                <a:solidFill>
                  <a:srgbClr val="666666"/>
                </a:solidFill>
              </a:rPr>
              <a:t>Depression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b="1">
                <a:solidFill>
                  <a:srgbClr val="666666"/>
                </a:solidFill>
                <a:latin typeface="Microsoft JhengHei"/>
                <a:cs typeface="Microsoft JhengHei"/>
              </a:rPr>
              <a:t>为什么是 </a:t>
            </a:r>
            <a:r>
              <a:rPr dirty="0" sz="900" spc="-60">
                <a:solidFill>
                  <a:srgbClr val="666666"/>
                </a:solidFill>
              </a:rPr>
              <a:t>Lecture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spc="-85">
                <a:solidFill>
                  <a:srgbClr val="666666"/>
                </a:solidFill>
              </a:rPr>
              <a:t>2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的经典例子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4850"/>
            <a:ext cx="2138680" cy="177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45720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first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fall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came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from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investment.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一开始是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investment</a:t>
            </a:r>
            <a:r>
              <a:rPr dirty="0" sz="700" spc="1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下滑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54419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Then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autonomous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consumption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also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fell.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之后因为恐慌、信贷崩塌、悲观预期，消费函数也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往下移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1587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11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multiple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parts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AD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moved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down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together.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结果不是单一冲击，而是多重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AD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components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SimSun"/>
                <a:cs typeface="SimSun"/>
              </a:rPr>
              <a:t>一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起向下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849" y="653433"/>
            <a:ext cx="2715474" cy="18733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244"/>
                </a:lnTo>
                <a:lnTo>
                  <a:pt x="5759996" y="432244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0829"/>
            <a:ext cx="3769360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50"/>
              <a:t>Wealth,</a:t>
            </a:r>
            <a:r>
              <a:rPr dirty="0" spc="-40"/>
              <a:t> </a:t>
            </a:r>
            <a:r>
              <a:rPr dirty="0" spc="-45"/>
              <a:t>target</a:t>
            </a:r>
            <a:r>
              <a:rPr dirty="0" spc="-40"/>
              <a:t> </a:t>
            </a:r>
            <a:r>
              <a:rPr dirty="0" spc="-55"/>
              <a:t>wealth,</a:t>
            </a:r>
            <a:r>
              <a:rPr dirty="0" spc="-35"/>
              <a:t> </a:t>
            </a:r>
            <a:r>
              <a:rPr dirty="0" spc="-45"/>
              <a:t>and</a:t>
            </a:r>
            <a:r>
              <a:rPr dirty="0" spc="-35"/>
              <a:t> </a:t>
            </a:r>
            <a:r>
              <a:rPr dirty="0" spc="-55"/>
              <a:t>precautionary</a:t>
            </a:r>
            <a:r>
              <a:rPr dirty="0" spc="-40"/>
              <a:t> </a:t>
            </a:r>
            <a:r>
              <a:rPr dirty="0" spc="-20"/>
              <a:t>saving</a:t>
            </a: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为什么家庭会因为变穷而进一步少花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5688"/>
            <a:ext cx="2186940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27051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Households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often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aim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a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target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level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wealth.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家庭心里对‘安全资产水平’常常有个目标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6794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If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wealth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falls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below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target,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they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try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rebuild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by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saving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more.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财富跌破目标后，会通过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cut</a:t>
            </a:r>
            <a:r>
              <a:rPr dirty="0" sz="700" spc="10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spending</a:t>
            </a:r>
            <a:r>
              <a:rPr dirty="0" sz="700" spc="10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来恢复目标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9"/>
              </a:spcBef>
            </a:pP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wealth.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0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precautionary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saving.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这就是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precautionary</a:t>
            </a:r>
            <a:r>
              <a:rPr dirty="0" sz="700" spc="13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saving</a:t>
            </a:r>
            <a:r>
              <a:rPr dirty="0" sz="700" spc="14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的核心逻辑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260" y="649691"/>
            <a:ext cx="2382738" cy="189129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80"/>
              <a:t>House</a:t>
            </a:r>
            <a:r>
              <a:rPr dirty="0" spc="-65"/>
              <a:t> </a:t>
            </a:r>
            <a:r>
              <a:rPr dirty="0" spc="-80"/>
              <a:t>prices</a:t>
            </a:r>
            <a:r>
              <a:rPr dirty="0" spc="-60"/>
              <a:t> </a:t>
            </a:r>
            <a:r>
              <a:rPr dirty="0" spc="-45"/>
              <a:t>and</a:t>
            </a:r>
            <a:r>
              <a:rPr dirty="0" spc="-65"/>
              <a:t> </a:t>
            </a:r>
            <a:r>
              <a:rPr dirty="0" spc="-40"/>
              <a:t>the</a:t>
            </a:r>
            <a:r>
              <a:rPr dirty="0" spc="-60"/>
              <a:t> </a:t>
            </a:r>
            <a:r>
              <a:rPr dirty="0" spc="-50"/>
              <a:t>financial</a:t>
            </a:r>
            <a:r>
              <a:rPr dirty="0" spc="-60"/>
              <a:t> accelerator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10" b="1">
                <a:solidFill>
                  <a:srgbClr val="666666"/>
                </a:solidFill>
                <a:latin typeface="Microsoft JhengHei"/>
                <a:cs typeface="Microsoft JhengHei"/>
              </a:rPr>
              <a:t>房价、借贷约束、和 </a:t>
            </a:r>
            <a:r>
              <a:rPr dirty="0" sz="900" spc="-40">
                <a:solidFill>
                  <a:srgbClr val="666666"/>
                </a:solidFill>
              </a:rPr>
              <a:t>financial </a:t>
            </a:r>
            <a:r>
              <a:rPr dirty="0" sz="900" spc="-10">
                <a:solidFill>
                  <a:srgbClr val="666666"/>
                </a:solidFill>
              </a:rPr>
              <a:t>accelerator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63921"/>
            <a:ext cx="4946015" cy="10344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If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rising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house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prices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increase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borrowing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capacity,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spending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rises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more.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房价上涨如果能让你更容易借钱，消费就会被进一步放大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channel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stronger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places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like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30">
                <a:solidFill>
                  <a:srgbClr val="212121"/>
                </a:solidFill>
                <a:latin typeface="Arial Black"/>
                <a:cs typeface="Arial Black"/>
              </a:rPr>
              <a:t>US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UK.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在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home</a:t>
            </a:r>
            <a:r>
              <a:rPr dirty="0" sz="700" spc="1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equity</a:t>
            </a:r>
            <a:r>
              <a:rPr dirty="0" sz="700" spc="16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borrowing</a:t>
            </a:r>
            <a:r>
              <a:rPr dirty="0" sz="700" spc="1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更容易的国家，这个机制更强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weaker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where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mortgage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rules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are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tighter,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such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France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Germany.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首付高、提取房屋净值难的地方，这个放大器会弱很多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716214"/>
            <a:ext cx="5466080" cy="229235"/>
          </a:xfrm>
          <a:custGeom>
            <a:avLst/>
            <a:gdLst/>
            <a:ahLst/>
            <a:cxnLst/>
            <a:rect l="l" t="t" r="r" b="b"/>
            <a:pathLst>
              <a:path w="5466080" h="22923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9055"/>
                </a:lnTo>
                <a:lnTo>
                  <a:pt x="5465668" y="229055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721204"/>
            <a:ext cx="261112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25">
                <a:solidFill>
                  <a:srgbClr val="FFFFFF"/>
                </a:solidFill>
                <a:latin typeface="Arial Black"/>
                <a:cs typeface="Arial Black"/>
              </a:rPr>
              <a:t>Why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interesting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为什么值得讲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773138"/>
            <a:ext cx="5516880" cy="603885"/>
            <a:chOff x="147205" y="1773138"/>
            <a:chExt cx="5516880" cy="6038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1932609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773138"/>
              <a:ext cx="5466080" cy="603885"/>
            </a:xfrm>
            <a:custGeom>
              <a:avLst/>
              <a:gdLst/>
              <a:ahLst/>
              <a:cxnLst/>
              <a:rect l="l" t="t" r="r" b="b"/>
              <a:pathLst>
                <a:path w="5466080" h="603885">
                  <a:moveTo>
                    <a:pt x="5465668" y="0"/>
                  </a:moveTo>
                  <a:lnTo>
                    <a:pt x="0" y="0"/>
                  </a:lnTo>
                  <a:lnTo>
                    <a:pt x="0" y="603527"/>
                  </a:lnTo>
                  <a:lnTo>
                    <a:pt x="5465668" y="603527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1976888"/>
              <a:ext cx="5466080" cy="349250"/>
            </a:xfrm>
            <a:custGeom>
              <a:avLst/>
              <a:gdLst/>
              <a:ahLst/>
              <a:cxnLst/>
              <a:rect l="l" t="t" r="r" b="b"/>
              <a:pathLst>
                <a:path w="5466080" h="349250">
                  <a:moveTo>
                    <a:pt x="5465668" y="0"/>
                  </a:moveTo>
                  <a:lnTo>
                    <a:pt x="0" y="0"/>
                  </a:lnTo>
                  <a:lnTo>
                    <a:pt x="0" y="298176"/>
                  </a:lnTo>
                  <a:lnTo>
                    <a:pt x="4008" y="317901"/>
                  </a:lnTo>
                  <a:lnTo>
                    <a:pt x="14922" y="334054"/>
                  </a:lnTo>
                  <a:lnTo>
                    <a:pt x="31075" y="344968"/>
                  </a:lnTo>
                  <a:lnTo>
                    <a:pt x="50800" y="348977"/>
                  </a:lnTo>
                  <a:lnTo>
                    <a:pt x="5414867" y="348977"/>
                  </a:lnTo>
                  <a:lnTo>
                    <a:pt x="5434592" y="344968"/>
                  </a:lnTo>
                  <a:lnTo>
                    <a:pt x="5450745" y="334054"/>
                  </a:lnTo>
                  <a:lnTo>
                    <a:pt x="5461659" y="317901"/>
                  </a:lnTo>
                  <a:lnTo>
                    <a:pt x="5465668" y="298176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1960021"/>
            <a:ext cx="54660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41719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This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00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nice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real-world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example</a:t>
            </a:r>
            <a:r>
              <a:rPr dirty="0" sz="100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how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financial</a:t>
            </a:r>
            <a:r>
              <a:rPr dirty="0" sz="1000" spc="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structure</a:t>
            </a:r>
            <a:r>
              <a:rPr dirty="0" sz="1000" spc="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changes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strength</a:t>
            </a:r>
            <a:r>
              <a:rPr dirty="0" sz="100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of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aggregate</a:t>
            </a:r>
            <a:r>
              <a:rPr dirty="0" sz="1000" spc="1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demand.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1958975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60"/>
              <a:t>Automatic</a:t>
            </a:r>
            <a:r>
              <a:rPr dirty="0" spc="-30"/>
              <a:t> </a:t>
            </a:r>
            <a:r>
              <a:rPr dirty="0" spc="-10"/>
              <a:t>stabilisers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45">
                <a:solidFill>
                  <a:srgbClr val="666666"/>
                </a:solidFill>
              </a:rPr>
              <a:t>automatic</a:t>
            </a:r>
            <a:r>
              <a:rPr dirty="0" sz="900" spc="5">
                <a:solidFill>
                  <a:srgbClr val="666666"/>
                </a:solidFill>
              </a:rPr>
              <a:t> </a:t>
            </a:r>
            <a:r>
              <a:rPr dirty="0" sz="900" spc="-55">
                <a:solidFill>
                  <a:srgbClr val="666666"/>
                </a:solidFill>
              </a:rPr>
              <a:t>stabilisers</a:t>
            </a:r>
            <a:r>
              <a:rPr dirty="0" sz="900" spc="5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为什么很重要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93156"/>
            <a:ext cx="2917825" cy="13379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114">
                <a:solidFill>
                  <a:srgbClr val="212121"/>
                </a:solidFill>
                <a:latin typeface="Arial Black"/>
                <a:cs typeface="Arial Black"/>
              </a:rPr>
              <a:t>Taxes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automatically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dampen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booms.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收入上涨时税收上升，私人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spending</a:t>
            </a:r>
            <a:r>
              <a:rPr dirty="0" sz="700" spc="1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的放大效应被削弱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64389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benefits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support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consumption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recessions.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失业时福利会托住部分收入，消费不会掉得那么猛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5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They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stabilise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GDP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without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new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law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each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time.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5">
                <a:solidFill>
                  <a:srgbClr val="666666"/>
                </a:solidFill>
                <a:latin typeface="SimSun"/>
                <a:cs typeface="SimSun"/>
              </a:rPr>
              <a:t>这就是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automatic</a:t>
            </a:r>
            <a:r>
              <a:rPr dirty="0" sz="700" spc="2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stabilisers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：不需要每次都重新立法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65626" y="707681"/>
            <a:ext cx="2247265" cy="390525"/>
          </a:xfrm>
          <a:custGeom>
            <a:avLst/>
            <a:gdLst/>
            <a:ahLst/>
            <a:cxnLst/>
            <a:rect l="l" t="t" r="r" b="b"/>
            <a:pathLst>
              <a:path w="2247265" h="390525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90098"/>
                </a:lnTo>
                <a:lnTo>
                  <a:pt x="2247195" y="390098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16427" y="714056"/>
            <a:ext cx="2145030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114">
                <a:solidFill>
                  <a:srgbClr val="FFFFFF"/>
                </a:solidFill>
                <a:latin typeface="Arial Black"/>
                <a:cs typeface="Arial Black"/>
              </a:rPr>
              <a:t>Two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examples</a:t>
            </a:r>
            <a:r>
              <a:rPr dirty="0" sz="1200" spc="-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两个一定会说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的例子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65626" y="764611"/>
            <a:ext cx="2298065" cy="979169"/>
            <a:chOff x="3365626" y="764611"/>
            <a:chExt cx="2298065" cy="97916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5626" y="1085126"/>
              <a:ext cx="2247195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416427" y="764611"/>
              <a:ext cx="2247265" cy="979169"/>
            </a:xfrm>
            <a:custGeom>
              <a:avLst/>
              <a:gdLst/>
              <a:ahLst/>
              <a:cxnLst/>
              <a:rect l="l" t="t" r="r" b="b"/>
              <a:pathLst>
                <a:path w="2247265" h="979169">
                  <a:moveTo>
                    <a:pt x="2247195" y="0"/>
                  </a:moveTo>
                  <a:lnTo>
                    <a:pt x="0" y="0"/>
                  </a:lnTo>
                  <a:lnTo>
                    <a:pt x="0" y="978782"/>
                  </a:lnTo>
                  <a:lnTo>
                    <a:pt x="2247195" y="978782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65626" y="1129404"/>
              <a:ext cx="2247265" cy="563245"/>
            </a:xfrm>
            <a:custGeom>
              <a:avLst/>
              <a:gdLst/>
              <a:ahLst/>
              <a:cxnLst/>
              <a:rect l="l" t="t" r="r" b="b"/>
              <a:pathLst>
                <a:path w="2247265" h="563244">
                  <a:moveTo>
                    <a:pt x="2247195" y="0"/>
                  </a:moveTo>
                  <a:lnTo>
                    <a:pt x="0" y="0"/>
                  </a:lnTo>
                  <a:lnTo>
                    <a:pt x="0" y="512387"/>
                  </a:lnTo>
                  <a:lnTo>
                    <a:pt x="4008" y="532112"/>
                  </a:lnTo>
                  <a:lnTo>
                    <a:pt x="14922" y="548265"/>
                  </a:lnTo>
                  <a:lnTo>
                    <a:pt x="31075" y="559179"/>
                  </a:lnTo>
                  <a:lnTo>
                    <a:pt x="50800" y="563187"/>
                  </a:lnTo>
                  <a:lnTo>
                    <a:pt x="2196394" y="563187"/>
                  </a:lnTo>
                  <a:lnTo>
                    <a:pt x="2216119" y="559179"/>
                  </a:lnTo>
                  <a:lnTo>
                    <a:pt x="2232272" y="548265"/>
                  </a:lnTo>
                  <a:lnTo>
                    <a:pt x="2243186" y="532112"/>
                  </a:lnTo>
                  <a:lnTo>
                    <a:pt x="2247195" y="512387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416427" y="1111648"/>
            <a:ext cx="2247265" cy="544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2729" marR="35179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proportional</a:t>
            </a:r>
            <a:r>
              <a:rPr dirty="0" sz="100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dirty="0" sz="10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progressive taxation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r>
              <a:rPr dirty="0" sz="10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insurance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358"/>
                </a:lnTo>
                <a:lnTo>
                  <a:pt x="5759996" y="432358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0677"/>
            <a:ext cx="1620520" cy="391160"/>
          </a:xfrm>
          <a:prstGeom prst="rect"/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pc="-105"/>
              <a:t>Fiscal</a:t>
            </a:r>
            <a:r>
              <a:rPr dirty="0" spc="-55"/>
              <a:t> </a:t>
            </a:r>
            <a:r>
              <a:rPr dirty="0" spc="-10"/>
              <a:t>stimulus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5" b="1">
                <a:solidFill>
                  <a:srgbClr val="666666"/>
                </a:solidFill>
                <a:latin typeface="Microsoft JhengHei"/>
                <a:cs typeface="Microsoft JhengHei"/>
              </a:rPr>
              <a:t>财政刺激怎么把 </a:t>
            </a:r>
            <a:r>
              <a:rPr dirty="0" sz="900" spc="-25">
                <a:solidFill>
                  <a:srgbClr val="666666"/>
                </a:solidFill>
              </a:rPr>
              <a:t>output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25" b="1">
                <a:solidFill>
                  <a:srgbClr val="666666"/>
                </a:solidFill>
                <a:latin typeface="Microsoft JhengHei"/>
                <a:cs typeface="Microsoft JhengHei"/>
              </a:rPr>
              <a:t>往上拉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5802"/>
            <a:ext cx="2184400" cy="1468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37274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An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increase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1000" spc="-2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shifts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AD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upward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directly.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政府支出增加，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aggregate</a:t>
            </a:r>
            <a:r>
              <a:rPr dirty="0" sz="700" spc="19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demand</a:t>
            </a:r>
            <a:r>
              <a:rPr dirty="0" sz="700" spc="19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先直接往上移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13525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Then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multiplier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amplifies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effect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随后收入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–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支出反馈把效果继续放大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11620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This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especially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useful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when private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demand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weak.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私人部门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spending</a:t>
            </a:r>
            <a:r>
              <a:rPr dirty="0" sz="700" spc="1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太弱时，政府可以顶上去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502" y="637859"/>
            <a:ext cx="2764838" cy="178376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015"/>
                </a:lnTo>
                <a:lnTo>
                  <a:pt x="5759996" y="432015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55"/>
              <a:t>Tutorial</a:t>
            </a:r>
            <a:r>
              <a:rPr dirty="0" spc="-70"/>
              <a:t> </a:t>
            </a:r>
            <a:r>
              <a:rPr dirty="0" spc="-55"/>
              <a:t>question</a:t>
            </a:r>
            <a:r>
              <a:rPr dirty="0" spc="-60"/>
              <a:t> </a:t>
            </a:r>
            <a:r>
              <a:rPr dirty="0" spc="-95"/>
              <a:t>closest</a:t>
            </a:r>
            <a:r>
              <a:rPr dirty="0" spc="-60"/>
              <a:t> </a:t>
            </a:r>
            <a:r>
              <a:rPr dirty="0" spc="-35"/>
              <a:t>to</a:t>
            </a:r>
            <a:r>
              <a:rPr dirty="0" spc="-65"/>
              <a:t> </a:t>
            </a:r>
            <a:r>
              <a:rPr dirty="0" spc="-40"/>
              <a:t>the</a:t>
            </a:r>
            <a:r>
              <a:rPr dirty="0" spc="-60"/>
              <a:t> </a:t>
            </a:r>
            <a:r>
              <a:rPr dirty="0" spc="-75"/>
              <a:t>exam</a:t>
            </a:r>
            <a:r>
              <a:rPr dirty="0" spc="-65"/>
              <a:t> </a:t>
            </a:r>
            <a:r>
              <a:rPr dirty="0" spc="-25"/>
              <a:t>#2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45">
                <a:solidFill>
                  <a:srgbClr val="666666"/>
                </a:solidFill>
              </a:rPr>
              <a:t>Problem</a:t>
            </a:r>
            <a:r>
              <a:rPr dirty="0" sz="900" spc="-60">
                <a:solidFill>
                  <a:srgbClr val="666666"/>
                </a:solidFill>
              </a:rPr>
              <a:t> </a:t>
            </a:r>
            <a:r>
              <a:rPr dirty="0" sz="900" spc="-75">
                <a:solidFill>
                  <a:srgbClr val="666666"/>
                </a:solidFill>
              </a:rPr>
              <a:t>Set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85">
                <a:solidFill>
                  <a:srgbClr val="666666"/>
                </a:solidFill>
              </a:rPr>
              <a:t>2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45">
                <a:solidFill>
                  <a:srgbClr val="666666"/>
                </a:solidFill>
              </a:rPr>
              <a:t>Q2:</a:t>
            </a:r>
            <a:r>
              <a:rPr dirty="0" sz="900" spc="30">
                <a:solidFill>
                  <a:srgbClr val="666666"/>
                </a:solidFill>
              </a:rPr>
              <a:t> </a:t>
            </a:r>
            <a:r>
              <a:rPr dirty="0" sz="900" spc="-65">
                <a:solidFill>
                  <a:srgbClr val="666666"/>
                </a:solidFill>
              </a:rPr>
              <a:t>recession</a:t>
            </a:r>
            <a:r>
              <a:rPr dirty="0" sz="900" spc="-60">
                <a:solidFill>
                  <a:srgbClr val="666666"/>
                </a:solidFill>
              </a:rPr>
              <a:t> </a:t>
            </a:r>
            <a:r>
              <a:rPr dirty="0" sz="900" spc="10" b="1">
                <a:solidFill>
                  <a:srgbClr val="666666"/>
                </a:solidFill>
                <a:latin typeface="Microsoft JhengHei"/>
                <a:cs typeface="Microsoft JhengHei"/>
              </a:rPr>
              <a:t>里 </a:t>
            </a:r>
            <a:r>
              <a:rPr dirty="0" sz="900" spc="-55">
                <a:solidFill>
                  <a:srgbClr val="666666"/>
                </a:solidFill>
              </a:rPr>
              <a:t>cut </a:t>
            </a:r>
            <a:r>
              <a:rPr dirty="0" sz="900" spc="-60">
                <a:solidFill>
                  <a:srgbClr val="666666"/>
                </a:solidFill>
              </a:rPr>
              <a:t>G</a:t>
            </a:r>
            <a:r>
              <a:rPr dirty="0" sz="900" spc="-30" b="1">
                <a:solidFill>
                  <a:srgbClr val="666666"/>
                </a:solidFill>
                <a:latin typeface="Microsoft JhengHei"/>
                <a:cs typeface="Microsoft JhengHei"/>
              </a:rPr>
              <a:t>，预算会变好吗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636942"/>
            <a:ext cx="5466080" cy="213360"/>
          </a:xfrm>
          <a:custGeom>
            <a:avLst/>
            <a:gdLst/>
            <a:ahLst/>
            <a:cxnLst/>
            <a:rect l="l" t="t" r="r" b="b"/>
            <a:pathLst>
              <a:path w="5466080" h="213359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960"/>
                </a:lnTo>
                <a:lnTo>
                  <a:pt x="5465668" y="212960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643304"/>
            <a:ext cx="241427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Problem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00">
                <a:solidFill>
                  <a:srgbClr val="FFFFFF"/>
                </a:solidFill>
                <a:latin typeface="Arial Black"/>
                <a:cs typeface="Arial Black"/>
              </a:rPr>
              <a:t>Set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r>
              <a:rPr dirty="0" sz="1200" spc="1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先别急着说“会”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693879"/>
            <a:ext cx="5516880" cy="586740"/>
            <a:chOff x="147205" y="693879"/>
            <a:chExt cx="5516880" cy="5867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837247"/>
              <a:ext cx="5465668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693879"/>
              <a:ext cx="5466080" cy="586740"/>
            </a:xfrm>
            <a:custGeom>
              <a:avLst/>
              <a:gdLst/>
              <a:ahLst/>
              <a:cxnLst/>
              <a:rect l="l" t="t" r="r" b="b"/>
              <a:pathLst>
                <a:path w="5466080" h="586740">
                  <a:moveTo>
                    <a:pt x="5465668" y="0"/>
                  </a:moveTo>
                  <a:lnTo>
                    <a:pt x="0" y="0"/>
                  </a:lnTo>
                  <a:lnTo>
                    <a:pt x="0" y="586547"/>
                  </a:lnTo>
                  <a:lnTo>
                    <a:pt x="5465668" y="586547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881535"/>
              <a:ext cx="5466080" cy="348615"/>
            </a:xfrm>
            <a:custGeom>
              <a:avLst/>
              <a:gdLst/>
              <a:ahLst/>
              <a:cxnLst/>
              <a:rect l="l" t="t" r="r" b="b"/>
              <a:pathLst>
                <a:path w="5466080" h="348615">
                  <a:moveTo>
                    <a:pt x="5465668" y="0"/>
                  </a:moveTo>
                  <a:lnTo>
                    <a:pt x="0" y="0"/>
                  </a:lnTo>
                  <a:lnTo>
                    <a:pt x="0" y="297291"/>
                  </a:lnTo>
                  <a:lnTo>
                    <a:pt x="4008" y="317016"/>
                  </a:lnTo>
                  <a:lnTo>
                    <a:pt x="14922" y="333169"/>
                  </a:lnTo>
                  <a:lnTo>
                    <a:pt x="31075" y="344083"/>
                  </a:lnTo>
                  <a:lnTo>
                    <a:pt x="50800" y="348091"/>
                  </a:lnTo>
                  <a:lnTo>
                    <a:pt x="5414867" y="348091"/>
                  </a:lnTo>
                  <a:lnTo>
                    <a:pt x="5434592" y="344083"/>
                  </a:lnTo>
                  <a:lnTo>
                    <a:pt x="5450745" y="333169"/>
                  </a:lnTo>
                  <a:lnTo>
                    <a:pt x="5461659" y="317016"/>
                  </a:lnTo>
                  <a:lnTo>
                    <a:pt x="5465668" y="297291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85305" y="863770"/>
            <a:ext cx="5478780" cy="692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government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starts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budget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balance.</a:t>
            </a:r>
            <a:r>
              <a:rPr dirty="0" sz="1000" spc="1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recession,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it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cuts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1000" spc="5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improve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budget.</a:t>
            </a:r>
            <a:endParaRPr sz="1000">
              <a:latin typeface="Arial MT"/>
              <a:cs typeface="Arial MT"/>
            </a:endParaRPr>
          </a:p>
          <a:p>
            <a:pPr marL="12065">
              <a:lnSpc>
                <a:spcPts val="1200"/>
              </a:lnSpc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Does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budget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balance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improve,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deteriorate,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remain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unchanged?</a:t>
            </a:r>
            <a:endParaRPr sz="1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Hint:</a:t>
            </a:r>
            <a:r>
              <a:rPr dirty="0" sz="900" spc="1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think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about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tax</a:t>
            </a:r>
            <a:r>
              <a:rPr dirty="0" sz="900" spc="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revenue</a:t>
            </a:r>
            <a:r>
              <a:rPr dirty="0" sz="900" spc="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as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well</a:t>
            </a:r>
            <a:r>
              <a:rPr dirty="0" sz="9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as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spending.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2799715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20"/>
              <a:t>Why</a:t>
            </a:r>
            <a:r>
              <a:rPr dirty="0" spc="-75"/>
              <a:t> </a:t>
            </a:r>
            <a:r>
              <a:rPr dirty="0" spc="-45"/>
              <a:t>austerity</a:t>
            </a:r>
            <a:r>
              <a:rPr dirty="0" spc="-75"/>
              <a:t> </a:t>
            </a:r>
            <a:r>
              <a:rPr dirty="0" spc="-90"/>
              <a:t>can</a:t>
            </a:r>
            <a:r>
              <a:rPr dirty="0" spc="-75"/>
              <a:t> </a:t>
            </a:r>
            <a:r>
              <a:rPr dirty="0" spc="-30"/>
              <a:t>fail</a:t>
            </a:r>
            <a:r>
              <a:rPr dirty="0" spc="-75"/>
              <a:t> </a:t>
            </a:r>
            <a:r>
              <a:rPr dirty="0" spc="-20"/>
              <a:t>in</a:t>
            </a:r>
            <a:r>
              <a:rPr dirty="0" spc="-75"/>
              <a:t> </a:t>
            </a:r>
            <a:r>
              <a:rPr dirty="0" spc="-80"/>
              <a:t>a</a:t>
            </a:r>
            <a:r>
              <a:rPr dirty="0" spc="-75"/>
              <a:t> </a:t>
            </a:r>
            <a:r>
              <a:rPr dirty="0" spc="-70"/>
              <a:t>recession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5" b="1">
                <a:solidFill>
                  <a:srgbClr val="666666"/>
                </a:solidFill>
                <a:latin typeface="Microsoft JhengHei"/>
                <a:cs typeface="Microsoft JhengHei"/>
              </a:rPr>
              <a:t>为什么 </a:t>
            </a:r>
            <a:r>
              <a:rPr dirty="0" sz="900" spc="-65">
                <a:solidFill>
                  <a:srgbClr val="666666"/>
                </a:solidFill>
              </a:rPr>
              <a:t>recession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5" b="1">
                <a:solidFill>
                  <a:srgbClr val="666666"/>
                </a:solidFill>
                <a:latin typeface="Microsoft JhengHei"/>
                <a:cs typeface="Microsoft JhengHei"/>
              </a:rPr>
              <a:t>里的 </a:t>
            </a:r>
            <a:r>
              <a:rPr dirty="0" sz="900" spc="-35">
                <a:solidFill>
                  <a:srgbClr val="666666"/>
                </a:solidFill>
              </a:rPr>
              <a:t>austerity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可能适得其反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524" y="615144"/>
            <a:ext cx="2157730" cy="123126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64465" indent="-151765">
              <a:lnSpc>
                <a:spcPct val="100000"/>
              </a:lnSpc>
              <a:spcBef>
                <a:spcPts val="170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Cutting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9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shifts </a:t>
            </a: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AD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down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further.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本来需求就弱，再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cut</a:t>
            </a:r>
            <a:r>
              <a:rPr dirty="0" sz="700" spc="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G</a:t>
            </a:r>
            <a:r>
              <a:rPr dirty="0" sz="700" spc="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等于继续往下踩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64465" indent="-15176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Lower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0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sz="9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means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lower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tax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revenue.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产出和收入下降后，税收也会减少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64465" marR="33655" indent="-152400">
              <a:lnSpc>
                <a:spcPct val="101499"/>
              </a:lnSpc>
              <a:spcBef>
                <a:spcPts val="640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10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budget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may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improve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much,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while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rises.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结果可能是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deficit</a:t>
            </a:r>
            <a:r>
              <a:rPr dirty="0" sz="700" spc="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没改善多少，但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recession</a:t>
            </a:r>
            <a:r>
              <a:rPr dirty="0" sz="700" spc="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30">
                <a:solidFill>
                  <a:srgbClr val="666666"/>
                </a:solidFill>
                <a:latin typeface="SimSun"/>
                <a:cs typeface="SimSun"/>
              </a:rPr>
              <a:t>更深</a:t>
            </a:r>
            <a:endParaRPr sz="70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  <a:spcBef>
                <a:spcPts val="25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了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974697"/>
            <a:ext cx="2354580" cy="229235"/>
          </a:xfrm>
          <a:custGeom>
            <a:avLst/>
            <a:gdLst/>
            <a:ahLst/>
            <a:cxnLst/>
            <a:rect l="l" t="t" r="r" b="b"/>
            <a:pathLst>
              <a:path w="2354580" h="229235">
                <a:moveTo>
                  <a:pt x="230369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9055"/>
                </a:lnTo>
                <a:lnTo>
                  <a:pt x="2354499" y="229055"/>
                </a:lnTo>
                <a:lnTo>
                  <a:pt x="2354499" y="50800"/>
                </a:lnTo>
                <a:lnTo>
                  <a:pt x="2350490" y="31075"/>
                </a:lnTo>
                <a:lnTo>
                  <a:pt x="2339576" y="14922"/>
                </a:lnTo>
                <a:lnTo>
                  <a:pt x="2323423" y="4008"/>
                </a:lnTo>
                <a:lnTo>
                  <a:pt x="2303698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979699"/>
            <a:ext cx="221234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Good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closing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line</a:t>
            </a:r>
            <a:r>
              <a:rPr dirty="0" sz="1200" spc="1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一个好结尾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2031631"/>
            <a:ext cx="2405380" cy="704850"/>
            <a:chOff x="147205" y="2031631"/>
            <a:chExt cx="2405380" cy="7048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191105"/>
              <a:ext cx="2354499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2031631"/>
              <a:ext cx="2354580" cy="704850"/>
            </a:xfrm>
            <a:custGeom>
              <a:avLst/>
              <a:gdLst/>
              <a:ahLst/>
              <a:cxnLst/>
              <a:rect l="l" t="t" r="r" b="b"/>
              <a:pathLst>
                <a:path w="2354580" h="704850">
                  <a:moveTo>
                    <a:pt x="2354499" y="0"/>
                  </a:moveTo>
                  <a:lnTo>
                    <a:pt x="0" y="0"/>
                  </a:lnTo>
                  <a:lnTo>
                    <a:pt x="0" y="704572"/>
                  </a:lnTo>
                  <a:lnTo>
                    <a:pt x="2354499" y="704572"/>
                  </a:lnTo>
                  <a:lnTo>
                    <a:pt x="23544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235380"/>
              <a:ext cx="2354580" cy="450215"/>
            </a:xfrm>
            <a:custGeom>
              <a:avLst/>
              <a:gdLst/>
              <a:ahLst/>
              <a:cxnLst/>
              <a:rect l="l" t="t" r="r" b="b"/>
              <a:pathLst>
                <a:path w="2354580" h="450214">
                  <a:moveTo>
                    <a:pt x="2354499" y="0"/>
                  </a:moveTo>
                  <a:lnTo>
                    <a:pt x="0" y="0"/>
                  </a:lnTo>
                  <a:lnTo>
                    <a:pt x="0" y="399221"/>
                  </a:lnTo>
                  <a:lnTo>
                    <a:pt x="4008" y="418946"/>
                  </a:lnTo>
                  <a:lnTo>
                    <a:pt x="14922" y="435099"/>
                  </a:lnTo>
                  <a:lnTo>
                    <a:pt x="31075" y="446013"/>
                  </a:lnTo>
                  <a:lnTo>
                    <a:pt x="50800" y="450021"/>
                  </a:lnTo>
                  <a:lnTo>
                    <a:pt x="2303698" y="450021"/>
                  </a:lnTo>
                  <a:lnTo>
                    <a:pt x="2323423" y="446013"/>
                  </a:lnTo>
                  <a:lnTo>
                    <a:pt x="2339576" y="435099"/>
                  </a:lnTo>
                  <a:lnTo>
                    <a:pt x="2350490" y="418946"/>
                  </a:lnTo>
                  <a:lnTo>
                    <a:pt x="2354499" y="399221"/>
                  </a:lnTo>
                  <a:lnTo>
                    <a:pt x="2354499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206688"/>
            <a:ext cx="2354580" cy="44323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r>
              <a:rPr dirty="0" sz="800" spc="-35">
                <a:solidFill>
                  <a:srgbClr val="212121"/>
                </a:solidFill>
                <a:latin typeface="Arial Black"/>
                <a:cs typeface="Arial Black"/>
              </a:rPr>
              <a:t>Austerity 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55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60">
                <a:solidFill>
                  <a:srgbClr val="212121"/>
                </a:solidFill>
                <a:latin typeface="Arial Black"/>
                <a:cs typeface="Arial Black"/>
              </a:rPr>
              <a:t>recession</a:t>
            </a:r>
            <a:r>
              <a:rPr dirty="0" sz="8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65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be</a:t>
            </a:r>
            <a:endParaRPr sz="800">
              <a:latin typeface="Arial Black"/>
              <a:cs typeface="Arial Black"/>
            </a:endParaRPr>
          </a:p>
          <a:p>
            <a:pPr marR="274320">
              <a:lnSpc>
                <a:spcPct val="114199"/>
              </a:lnSpc>
            </a:pPr>
            <a:r>
              <a:rPr dirty="0" sz="800" spc="-35">
                <a:solidFill>
                  <a:srgbClr val="212121"/>
                </a:solidFill>
                <a:latin typeface="Arial Black"/>
                <a:cs typeface="Arial Black"/>
              </a:rPr>
              <a:t>self-</a:t>
            </a:r>
            <a:r>
              <a:rPr dirty="0" sz="800" spc="-40">
                <a:solidFill>
                  <a:srgbClr val="212121"/>
                </a:solidFill>
                <a:latin typeface="Arial Black"/>
                <a:cs typeface="Arial Black"/>
              </a:rPr>
              <a:t>defeating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65">
                <a:solidFill>
                  <a:srgbClr val="212121"/>
                </a:solidFill>
                <a:latin typeface="Arial Black"/>
                <a:cs typeface="Arial Black"/>
              </a:rPr>
              <a:t>because</a:t>
            </a:r>
            <a:r>
              <a:rPr dirty="0" sz="8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8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65">
                <a:solidFill>
                  <a:srgbClr val="212121"/>
                </a:solidFill>
                <a:latin typeface="Arial Black"/>
                <a:cs typeface="Arial Black"/>
              </a:rPr>
              <a:t>reduces</a:t>
            </a:r>
            <a:r>
              <a:rPr dirty="0" sz="8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output </a:t>
            </a:r>
            <a:r>
              <a:rPr dirty="0" sz="800" spc="-40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8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45">
                <a:solidFill>
                  <a:srgbClr val="212121"/>
                </a:solidFill>
                <a:latin typeface="Arial Black"/>
                <a:cs typeface="Arial Black"/>
              </a:rPr>
              <a:t>tax</a:t>
            </a:r>
            <a:r>
              <a:rPr dirty="0" sz="800" spc="-40">
                <a:solidFill>
                  <a:srgbClr val="212121"/>
                </a:solidFill>
                <a:latin typeface="Arial Black"/>
                <a:cs typeface="Arial Black"/>
              </a:rPr>
              <a:t> revenue</a:t>
            </a:r>
            <a:r>
              <a:rPr dirty="0" sz="8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70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800" spc="-40">
                <a:solidFill>
                  <a:srgbClr val="212121"/>
                </a:solidFill>
                <a:latin typeface="Arial Black"/>
                <a:cs typeface="Arial Black"/>
              </a:rPr>
              <a:t> well </a:t>
            </a:r>
            <a:r>
              <a:rPr dirty="0" sz="800" spc="-70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8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spending.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6385" y="629372"/>
            <a:ext cx="2524385" cy="1618195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1286"/>
            <a:ext cx="2367915" cy="389890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95"/>
              <a:t>The</a:t>
            </a:r>
            <a:r>
              <a:rPr dirty="0" spc="-65"/>
              <a:t> paradox</a:t>
            </a:r>
            <a:r>
              <a:rPr dirty="0" spc="-70"/>
              <a:t> </a:t>
            </a:r>
            <a:r>
              <a:rPr dirty="0" spc="-20"/>
              <a:t>of</a:t>
            </a:r>
            <a:r>
              <a:rPr dirty="0" spc="-65"/>
              <a:t> </a:t>
            </a:r>
            <a:r>
              <a:rPr dirty="0" spc="-20"/>
              <a:t>thrift,</a:t>
            </a:r>
            <a:r>
              <a:rPr dirty="0" spc="-65"/>
              <a:t> </a:t>
            </a:r>
            <a:r>
              <a:rPr dirty="0" spc="-20"/>
              <a:t>in</a:t>
            </a:r>
            <a:r>
              <a:rPr dirty="0" spc="-65"/>
              <a:t> </a:t>
            </a:r>
            <a:r>
              <a:rPr dirty="0" spc="-40"/>
              <a:t>words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5" b="1">
                <a:solidFill>
                  <a:srgbClr val="666666"/>
                </a:solidFill>
                <a:latin typeface="Microsoft JhengHei"/>
                <a:cs typeface="Microsoft JhengHei"/>
              </a:rPr>
              <a:t>先用文字把 </a:t>
            </a:r>
            <a:r>
              <a:rPr dirty="0" sz="900" spc="-50">
                <a:solidFill>
                  <a:srgbClr val="666666"/>
                </a:solidFill>
              </a:rPr>
              <a:t>paradox </a:t>
            </a:r>
            <a:r>
              <a:rPr dirty="0" sz="900" spc="-25">
                <a:solidFill>
                  <a:srgbClr val="666666"/>
                </a:solidFill>
              </a:rPr>
              <a:t>of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10">
                <a:solidFill>
                  <a:srgbClr val="666666"/>
                </a:solidFill>
              </a:rPr>
              <a:t>thrift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25" b="1">
                <a:solidFill>
                  <a:srgbClr val="666666"/>
                </a:solidFill>
                <a:latin typeface="Microsoft JhengHei"/>
                <a:cs typeface="Microsoft JhengHei"/>
              </a:rPr>
              <a:t>说清楚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682" y="615358"/>
            <a:ext cx="2915920" cy="1468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7937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one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household, cutting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spending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may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raise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saving.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对单个家庭来说，少花钱看上去是合理的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25146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whole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economy,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one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person</a:t>
            </a:r>
            <a:r>
              <a:rPr dirty="0" sz="1000" spc="-30" b="1">
                <a:solidFill>
                  <a:srgbClr val="212121"/>
                </a:solidFill>
                <a:latin typeface="Microsoft JhengHei"/>
                <a:cs typeface="Microsoft JhengHei"/>
              </a:rPr>
              <a:t>’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s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spending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another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person</a:t>
            </a:r>
            <a:r>
              <a:rPr dirty="0" sz="1000" spc="-55" b="1">
                <a:solidFill>
                  <a:srgbClr val="212121"/>
                </a:solidFill>
                <a:latin typeface="Microsoft JhengHei"/>
                <a:cs typeface="Microsoft JhengHei"/>
              </a:rPr>
              <a:t>’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income.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但在总量层面，大家一起少花，大家收入也会一起少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5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11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aggregate saving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may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rise,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because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aggregate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income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falls.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这就是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thrift</a:t>
            </a:r>
            <a:r>
              <a:rPr dirty="0" sz="700" spc="1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的悖论：想多存钱，最后可能并没有存下来更多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2852" y="708189"/>
            <a:ext cx="2140585" cy="229870"/>
          </a:xfrm>
          <a:custGeom>
            <a:avLst/>
            <a:gdLst/>
            <a:ahLst/>
            <a:cxnLst/>
            <a:rect l="l" t="t" r="r" b="b"/>
            <a:pathLst>
              <a:path w="2140585" h="229869">
                <a:moveTo>
                  <a:pt x="208917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9358"/>
                </a:lnTo>
                <a:lnTo>
                  <a:pt x="2139972" y="229358"/>
                </a:lnTo>
                <a:lnTo>
                  <a:pt x="2139972" y="50800"/>
                </a:lnTo>
                <a:lnTo>
                  <a:pt x="2135964" y="31075"/>
                </a:lnTo>
                <a:lnTo>
                  <a:pt x="2125049" y="14922"/>
                </a:lnTo>
                <a:lnTo>
                  <a:pt x="2108896" y="4008"/>
                </a:lnTo>
                <a:lnTo>
                  <a:pt x="208917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23653" y="713497"/>
            <a:ext cx="127254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85">
                <a:solidFill>
                  <a:srgbClr val="FFFFFF"/>
                </a:solidFill>
                <a:latin typeface="Arial Black"/>
                <a:cs typeface="Arial Black"/>
              </a:rPr>
              <a:t>Keyword</a:t>
            </a:r>
            <a:r>
              <a:rPr dirty="0" sz="1200" spc="1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关键词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72852" y="765118"/>
            <a:ext cx="2191385" cy="727075"/>
            <a:chOff x="3472852" y="765118"/>
            <a:chExt cx="2191385" cy="7270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2852" y="924890"/>
              <a:ext cx="213997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23653" y="765118"/>
              <a:ext cx="2140585" cy="727075"/>
            </a:xfrm>
            <a:custGeom>
              <a:avLst/>
              <a:gdLst/>
              <a:ahLst/>
              <a:cxnLst/>
              <a:rect l="l" t="t" r="r" b="b"/>
              <a:pathLst>
                <a:path w="2140585" h="727075">
                  <a:moveTo>
                    <a:pt x="2139972" y="0"/>
                  </a:moveTo>
                  <a:lnTo>
                    <a:pt x="0" y="0"/>
                  </a:lnTo>
                  <a:lnTo>
                    <a:pt x="0" y="727068"/>
                  </a:lnTo>
                  <a:lnTo>
                    <a:pt x="2139972" y="727068"/>
                  </a:lnTo>
                  <a:lnTo>
                    <a:pt x="2139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472852" y="969171"/>
              <a:ext cx="2140585" cy="472440"/>
            </a:xfrm>
            <a:custGeom>
              <a:avLst/>
              <a:gdLst/>
              <a:ahLst/>
              <a:cxnLst/>
              <a:rect l="l" t="t" r="r" b="b"/>
              <a:pathLst>
                <a:path w="2140585" h="472440">
                  <a:moveTo>
                    <a:pt x="2139972" y="0"/>
                  </a:moveTo>
                  <a:lnTo>
                    <a:pt x="0" y="0"/>
                  </a:lnTo>
                  <a:lnTo>
                    <a:pt x="0" y="421414"/>
                  </a:lnTo>
                  <a:lnTo>
                    <a:pt x="4008" y="441139"/>
                  </a:lnTo>
                  <a:lnTo>
                    <a:pt x="14922" y="457292"/>
                  </a:lnTo>
                  <a:lnTo>
                    <a:pt x="31075" y="468206"/>
                  </a:lnTo>
                  <a:lnTo>
                    <a:pt x="50800" y="472214"/>
                  </a:lnTo>
                  <a:lnTo>
                    <a:pt x="2089172" y="472214"/>
                  </a:lnTo>
                  <a:lnTo>
                    <a:pt x="2108896" y="468206"/>
                  </a:lnTo>
                  <a:lnTo>
                    <a:pt x="2125049" y="457292"/>
                  </a:lnTo>
                  <a:lnTo>
                    <a:pt x="2135964" y="441139"/>
                  </a:lnTo>
                  <a:lnTo>
                    <a:pt x="2139972" y="421414"/>
                  </a:lnTo>
                  <a:lnTo>
                    <a:pt x="2139972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523653" y="952301"/>
            <a:ext cx="214058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200"/>
              </a:lnSpc>
              <a:spcBef>
                <a:spcPts val="95"/>
              </a:spcBef>
            </a:pP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fallacy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composition</a:t>
            </a:r>
            <a:endParaRPr sz="1000">
              <a:latin typeface="Arial Black"/>
              <a:cs typeface="Arial Black"/>
            </a:endParaRPr>
          </a:p>
          <a:p>
            <a:pPr marR="149225">
              <a:lnSpc>
                <a:spcPts val="1200"/>
              </a:lnSpc>
              <a:spcBef>
                <a:spcPts val="40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What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true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one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part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may</a:t>
            </a:r>
            <a:r>
              <a:rPr dirty="0" sz="10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5">
                <a:solidFill>
                  <a:srgbClr val="212121"/>
                </a:solidFill>
                <a:latin typeface="Arial MT"/>
                <a:cs typeface="Arial MT"/>
              </a:rPr>
              <a:t>not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be</a:t>
            </a:r>
            <a:r>
              <a:rPr dirty="0" sz="10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true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whole.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1901"/>
                </a:lnTo>
                <a:lnTo>
                  <a:pt x="5759996" y="431901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95"/>
              <a:t>The</a:t>
            </a:r>
            <a:r>
              <a:rPr dirty="0" spc="-70"/>
              <a:t> </a:t>
            </a:r>
            <a:r>
              <a:rPr dirty="0" spc="-65"/>
              <a:t>paradox</a:t>
            </a:r>
            <a:r>
              <a:rPr dirty="0" spc="-75"/>
              <a:t> </a:t>
            </a:r>
            <a:r>
              <a:rPr dirty="0" spc="-20"/>
              <a:t>of</a:t>
            </a:r>
            <a:r>
              <a:rPr dirty="0" spc="-70"/>
              <a:t> </a:t>
            </a:r>
            <a:r>
              <a:rPr dirty="0" spc="-10"/>
              <a:t>thrift</a:t>
            </a:r>
            <a:r>
              <a:rPr dirty="0" spc="-70"/>
              <a:t> </a:t>
            </a:r>
            <a:r>
              <a:rPr dirty="0" spc="-35"/>
              <a:t>on</a:t>
            </a:r>
            <a:r>
              <a:rPr dirty="0" spc="-65"/>
              <a:t> </a:t>
            </a:r>
            <a:r>
              <a:rPr dirty="0" spc="-80"/>
              <a:t>a</a:t>
            </a:r>
            <a:r>
              <a:rPr dirty="0" spc="-70"/>
              <a:t> </a:t>
            </a:r>
            <a:r>
              <a:rPr dirty="0" spc="-30"/>
              <a:t>multiplier</a:t>
            </a:r>
            <a:r>
              <a:rPr dirty="0" spc="-70"/>
              <a:t> </a:t>
            </a:r>
            <a:r>
              <a:rPr dirty="0" spc="-20"/>
              <a:t>diagram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0" b="1">
                <a:solidFill>
                  <a:srgbClr val="666666"/>
                </a:solidFill>
                <a:latin typeface="Microsoft JhengHei"/>
                <a:cs typeface="Microsoft JhengHei"/>
              </a:rPr>
              <a:t>把文字逻辑翻译成图上的 </a:t>
            </a:r>
            <a:r>
              <a:rPr dirty="0" sz="900" spc="-45">
                <a:solidFill>
                  <a:srgbClr val="666666"/>
                </a:solidFill>
              </a:rPr>
              <a:t>downward </a:t>
            </a:r>
            <a:r>
              <a:rPr dirty="0" sz="900" spc="-10">
                <a:solidFill>
                  <a:srgbClr val="666666"/>
                </a:solidFill>
              </a:rPr>
              <a:t>shift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282" y="615358"/>
            <a:ext cx="2237740" cy="177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9390" marR="17462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99390" algn="l"/>
              </a:tabLst>
            </a:pP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Higher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desired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saving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means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lower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autonomous consumption.</a:t>
            </a:r>
            <a:endParaRPr sz="1000">
              <a:latin typeface="Arial Black"/>
              <a:cs typeface="Arial Black"/>
            </a:endParaRPr>
          </a:p>
          <a:p>
            <a:pPr marL="199390">
              <a:lnSpc>
                <a:spcPct val="100000"/>
              </a:lnSpc>
              <a:spcBef>
                <a:spcPts val="204"/>
              </a:spcBef>
            </a:pPr>
            <a:r>
              <a:rPr dirty="0" baseline="7936" sz="1050" spc="-30">
                <a:solidFill>
                  <a:srgbClr val="666666"/>
                </a:solidFill>
                <a:latin typeface="SimSun"/>
                <a:cs typeface="SimSun"/>
              </a:rPr>
              <a:t>大家更想存钱，本质上就是 </a:t>
            </a:r>
            <a:r>
              <a:rPr dirty="0" baseline="7936" sz="1050" i="1">
                <a:solidFill>
                  <a:srgbClr val="666666"/>
                </a:solidFill>
                <a:latin typeface="Trebuchet MS"/>
                <a:cs typeface="Trebuchet MS"/>
              </a:rPr>
              <a:t>c</a:t>
            </a:r>
            <a:r>
              <a:rPr dirty="0" sz="500">
                <a:solidFill>
                  <a:srgbClr val="666666"/>
                </a:solidFill>
                <a:latin typeface="Calibri"/>
                <a:cs typeface="Calibri"/>
              </a:rPr>
              <a:t>0</a:t>
            </a:r>
            <a:r>
              <a:rPr dirty="0" sz="500" spc="18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baseline="7936" sz="1050" spc="-15">
                <a:solidFill>
                  <a:srgbClr val="666666"/>
                </a:solidFill>
                <a:latin typeface="SimSun"/>
                <a:cs typeface="SimSun"/>
              </a:rPr>
              <a:t>往下掉</a:t>
            </a:r>
            <a:r>
              <a:rPr dirty="0" baseline="7936" sz="1050" spc="-75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baseline="7936" sz="1050">
              <a:latin typeface="Arial MT"/>
              <a:cs typeface="Arial MT"/>
            </a:endParaRPr>
          </a:p>
          <a:p>
            <a:pPr marL="199390" marR="467995" indent="-161925">
              <a:lnSpc>
                <a:spcPct val="100000"/>
              </a:lnSpc>
              <a:spcBef>
                <a:spcPts val="555"/>
              </a:spcBef>
              <a:buClr>
                <a:srgbClr val="B90B2E"/>
              </a:buClr>
              <a:buFont typeface="Cambria"/>
              <a:buChar char="►"/>
              <a:tabLst>
                <a:tab pos="199390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AD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shifts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downward,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so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equilibrium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output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falls.</a:t>
            </a:r>
            <a:endParaRPr sz="1000">
              <a:latin typeface="Arial Black"/>
              <a:cs typeface="Arial Black"/>
            </a:endParaRPr>
          </a:p>
          <a:p>
            <a:pPr marL="19939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AD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下移，均衡产出下降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99390" marR="7239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99390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Lower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income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may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stop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actual saving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from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increasing.</a:t>
            </a:r>
            <a:endParaRPr sz="1000">
              <a:latin typeface="Arial Black"/>
              <a:cs typeface="Arial Black"/>
            </a:endParaRPr>
          </a:p>
          <a:p>
            <a:pPr marL="199390">
              <a:lnSpc>
                <a:spcPct val="100000"/>
              </a:lnSpc>
              <a:spcBef>
                <a:spcPts val="110"/>
              </a:spcBef>
            </a:pPr>
            <a:r>
              <a:rPr dirty="0" sz="700" spc="-5">
                <a:solidFill>
                  <a:srgbClr val="666666"/>
                </a:solidFill>
                <a:latin typeface="SimSun"/>
                <a:cs typeface="SimSun"/>
              </a:rPr>
              <a:t>因为收入也掉了，最后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aggregate</a:t>
            </a:r>
            <a:r>
              <a:rPr dirty="0" sz="700" spc="15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saving</a:t>
            </a:r>
            <a:r>
              <a:rPr dirty="0" sz="700" spc="1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不一定真</a:t>
            </a:r>
            <a:endParaRPr sz="700">
              <a:latin typeface="SimSun"/>
              <a:cs typeface="SimSun"/>
            </a:endParaRPr>
          </a:p>
          <a:p>
            <a:pPr marL="1993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的上升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8449" y="654881"/>
            <a:ext cx="2789937" cy="17459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1901"/>
                </a:lnTo>
                <a:lnTo>
                  <a:pt x="5759996" y="431901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286"/>
            <a:ext cx="2376805" cy="389890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95"/>
              <a:t>Exam</a:t>
            </a:r>
            <a:r>
              <a:rPr dirty="0" spc="-85"/>
              <a:t> </a:t>
            </a:r>
            <a:r>
              <a:rPr dirty="0" spc="-20"/>
              <a:t>drill:</a:t>
            </a:r>
            <a:r>
              <a:rPr dirty="0" spc="15"/>
              <a:t> </a:t>
            </a:r>
            <a:r>
              <a:rPr dirty="0" spc="-55"/>
              <a:t>Part</a:t>
            </a:r>
            <a:r>
              <a:rPr dirty="0" spc="-85"/>
              <a:t> </a:t>
            </a:r>
            <a:r>
              <a:rPr dirty="0" spc="-150"/>
              <a:t>B</a:t>
            </a:r>
            <a:r>
              <a:rPr dirty="0" spc="-85"/>
              <a:t> </a:t>
            </a:r>
            <a:r>
              <a:rPr dirty="0" spc="-75"/>
              <a:t>Q2(a)</a:t>
            </a:r>
            <a:r>
              <a:rPr dirty="0" spc="-85"/>
              <a:t> </a:t>
            </a:r>
            <a:r>
              <a:rPr dirty="0" spc="-45"/>
              <a:t>and</a:t>
            </a:r>
            <a:r>
              <a:rPr dirty="0" spc="-85"/>
              <a:t> </a:t>
            </a:r>
            <a:r>
              <a:rPr dirty="0" spc="-25"/>
              <a:t>(b)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35">
                <a:solidFill>
                  <a:srgbClr val="666666"/>
                </a:solidFill>
              </a:rPr>
              <a:t>Part</a:t>
            </a:r>
            <a:r>
              <a:rPr dirty="0" sz="900" spc="-60">
                <a:solidFill>
                  <a:srgbClr val="666666"/>
                </a:solidFill>
              </a:rPr>
              <a:t> </a:t>
            </a:r>
            <a:r>
              <a:rPr dirty="0" sz="900" spc="-100">
                <a:solidFill>
                  <a:srgbClr val="666666"/>
                </a:solidFill>
              </a:rPr>
              <a:t>B</a:t>
            </a:r>
            <a:r>
              <a:rPr dirty="0" sz="900" spc="-60">
                <a:solidFill>
                  <a:srgbClr val="666666"/>
                </a:solidFill>
              </a:rPr>
              <a:t> </a:t>
            </a:r>
            <a:r>
              <a:rPr dirty="0" sz="900" spc="-65">
                <a:solidFill>
                  <a:srgbClr val="666666"/>
                </a:solidFill>
              </a:rPr>
              <a:t>Q2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的计算路线先固定下来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634161"/>
            <a:ext cx="5466080" cy="229235"/>
          </a:xfrm>
          <a:custGeom>
            <a:avLst/>
            <a:gdLst/>
            <a:ahLst/>
            <a:cxnLst/>
            <a:rect l="l" t="t" r="r" b="b"/>
            <a:pathLst>
              <a:path w="5466080" h="229234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9206"/>
                </a:lnTo>
                <a:lnTo>
                  <a:pt x="5465668" y="229206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639316"/>
            <a:ext cx="222948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Question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setup</a:t>
            </a:r>
            <a:r>
              <a:rPr dirty="0" sz="1200" spc="2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题目给的数据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691093"/>
            <a:ext cx="5516880" cy="429259"/>
            <a:chOff x="147205" y="691093"/>
            <a:chExt cx="5516880" cy="42925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850709"/>
              <a:ext cx="5465668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691093"/>
              <a:ext cx="5466080" cy="429259"/>
            </a:xfrm>
            <a:custGeom>
              <a:avLst/>
              <a:gdLst/>
              <a:ahLst/>
              <a:cxnLst/>
              <a:rect l="l" t="t" r="r" b="b"/>
              <a:pathLst>
                <a:path w="5466080" h="429259">
                  <a:moveTo>
                    <a:pt x="5465668" y="0"/>
                  </a:moveTo>
                  <a:lnTo>
                    <a:pt x="0" y="0"/>
                  </a:lnTo>
                  <a:lnTo>
                    <a:pt x="0" y="429021"/>
                  </a:lnTo>
                  <a:lnTo>
                    <a:pt x="5465668" y="429021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894995"/>
              <a:ext cx="5466080" cy="174625"/>
            </a:xfrm>
            <a:custGeom>
              <a:avLst/>
              <a:gdLst/>
              <a:ahLst/>
              <a:cxnLst/>
              <a:rect l="l" t="t" r="r" b="b"/>
              <a:pathLst>
                <a:path w="5466080" h="174625">
                  <a:moveTo>
                    <a:pt x="5465668" y="0"/>
                  </a:moveTo>
                  <a:lnTo>
                    <a:pt x="0" y="0"/>
                  </a:lnTo>
                  <a:lnTo>
                    <a:pt x="0" y="123519"/>
                  </a:lnTo>
                  <a:lnTo>
                    <a:pt x="4008" y="143243"/>
                  </a:lnTo>
                  <a:lnTo>
                    <a:pt x="14922" y="159396"/>
                  </a:lnTo>
                  <a:lnTo>
                    <a:pt x="31075" y="170311"/>
                  </a:lnTo>
                  <a:lnTo>
                    <a:pt x="50800" y="174319"/>
                  </a:lnTo>
                  <a:lnTo>
                    <a:pt x="5414867" y="174319"/>
                  </a:lnTo>
                  <a:lnTo>
                    <a:pt x="5434592" y="170311"/>
                  </a:lnTo>
                  <a:lnTo>
                    <a:pt x="5450745" y="159396"/>
                  </a:lnTo>
                  <a:lnTo>
                    <a:pt x="5461659" y="143243"/>
                  </a:lnTo>
                  <a:lnTo>
                    <a:pt x="5465668" y="123519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85305" y="876167"/>
            <a:ext cx="5491480" cy="1350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C</a:t>
            </a:r>
            <a:r>
              <a:rPr dirty="0" sz="9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100</a:t>
            </a:r>
            <a:r>
              <a:rPr dirty="0" sz="9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9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6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dirty="0" sz="900" spc="145" i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9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400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dirty="0" sz="900" spc="145" i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9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200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dirty="0" sz="900" spc="145" i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900" spc="-85" i="1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dirty="0" sz="9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900" spc="-25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25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00">
              <a:latin typeface="Calibri"/>
              <a:cs typeface="Calibri"/>
            </a:endParaRPr>
          </a:p>
          <a:p>
            <a:pPr marL="265430" indent="-151765">
              <a:lnSpc>
                <a:spcPct val="100000"/>
              </a:lnSpc>
              <a:buClr>
                <a:srgbClr val="B90B2E"/>
              </a:buClr>
              <a:buFont typeface="Cambria"/>
              <a:buChar char="►"/>
              <a:tabLst>
                <a:tab pos="265430" algn="l"/>
              </a:tabLst>
            </a:pP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this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module, once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a tax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rate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is given,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rewrite consumption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using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disposable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income:</a:t>
            </a:r>
            <a:endParaRPr sz="900">
              <a:latin typeface="Arial MT"/>
              <a:cs typeface="Arial MT"/>
            </a:endParaRPr>
          </a:p>
          <a:p>
            <a:pPr algn="ctr" marL="151130">
              <a:lnSpc>
                <a:spcPct val="100000"/>
              </a:lnSpc>
              <a:spcBef>
                <a:spcPts val="825"/>
              </a:spcBef>
            </a:pP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C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7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100</a:t>
            </a:r>
            <a:r>
              <a:rPr dirty="0" sz="900" spc="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9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6(1</a:t>
            </a:r>
            <a:r>
              <a:rPr dirty="0" sz="900" spc="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−</a:t>
            </a:r>
            <a:r>
              <a:rPr dirty="0" sz="900" spc="-65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1)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sz="900" spc="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7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100</a:t>
            </a:r>
            <a:r>
              <a:rPr dirty="0" sz="900" spc="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9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900" spc="-2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54</a:t>
            </a:r>
            <a:r>
              <a:rPr dirty="0" sz="900" spc="-20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endParaRPr sz="900">
              <a:latin typeface="Trebuchet MS"/>
              <a:cs typeface="Trebuchet MS"/>
            </a:endParaRPr>
          </a:p>
          <a:p>
            <a:pPr marL="265430" indent="-151765">
              <a:lnSpc>
                <a:spcPct val="100000"/>
              </a:lnSpc>
              <a:spcBef>
                <a:spcPts val="1010"/>
              </a:spcBef>
              <a:buClr>
                <a:srgbClr val="B90B2E"/>
              </a:buClr>
              <a:buFont typeface="Cambria"/>
              <a:buChar char="►"/>
              <a:tabLst>
                <a:tab pos="265430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Then</a:t>
            </a:r>
            <a:r>
              <a:rPr dirty="0" sz="9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solve:</a:t>
            </a:r>
            <a:endParaRPr sz="900">
              <a:latin typeface="Arial MT"/>
              <a:cs typeface="Arial MT"/>
            </a:endParaRPr>
          </a:p>
          <a:p>
            <a:pPr algn="ctr" marL="151130">
              <a:lnSpc>
                <a:spcPct val="100000"/>
              </a:lnSpc>
              <a:spcBef>
                <a:spcPts val="15"/>
              </a:spcBef>
            </a:pPr>
            <a:r>
              <a:rPr dirty="0" sz="900" spc="-60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100</a:t>
            </a:r>
            <a:r>
              <a:rPr dirty="0" sz="9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9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900" spc="-1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10">
                <a:solidFill>
                  <a:srgbClr val="212121"/>
                </a:solidFill>
                <a:latin typeface="Calibri"/>
                <a:cs typeface="Calibri"/>
              </a:rPr>
              <a:t>54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sz="900" spc="-6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9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400</a:t>
            </a:r>
            <a:r>
              <a:rPr dirty="0" sz="9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9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200</a:t>
            </a:r>
            <a:r>
              <a:rPr dirty="0" sz="900" spc="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65">
                <a:solidFill>
                  <a:srgbClr val="212121"/>
                </a:solidFill>
                <a:latin typeface="Lucida Sans Unicode"/>
                <a:cs typeface="Lucida Sans Unicode"/>
              </a:rPr>
              <a:t>⇒</a:t>
            </a:r>
            <a:r>
              <a:rPr dirty="0" sz="900" spc="-2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46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700</a:t>
            </a:r>
            <a:r>
              <a:rPr dirty="0" sz="900" spc="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65">
                <a:solidFill>
                  <a:srgbClr val="212121"/>
                </a:solidFill>
                <a:latin typeface="Lucida Sans Unicode"/>
                <a:cs typeface="Lucida Sans Unicode"/>
              </a:rPr>
              <a:t>⇒</a:t>
            </a:r>
            <a:r>
              <a:rPr dirty="0" sz="900" spc="-2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baseline="41666" sz="900">
                <a:solidFill>
                  <a:srgbClr val="212121"/>
                </a:solidFill>
                <a:latin typeface="Cambria"/>
                <a:cs typeface="Cambria"/>
              </a:rPr>
              <a:t>∗</a:t>
            </a:r>
            <a:r>
              <a:rPr dirty="0" baseline="41666" sz="900" spc="284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≈</a:t>
            </a:r>
            <a:r>
              <a:rPr dirty="0" sz="900" spc="-2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Calibri"/>
                <a:cs typeface="Calibri"/>
              </a:rPr>
              <a:t>1521</a:t>
            </a:r>
            <a:r>
              <a:rPr dirty="0" sz="900" spc="-1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10">
                <a:solidFill>
                  <a:srgbClr val="212121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  <a:p>
            <a:pPr marL="265430" indent="-151765">
              <a:lnSpc>
                <a:spcPct val="100000"/>
              </a:lnSpc>
              <a:spcBef>
                <a:spcPts val="800"/>
              </a:spcBef>
              <a:buClr>
                <a:srgbClr val="B90B2E"/>
              </a:buClr>
              <a:buFont typeface="Cambria"/>
              <a:buChar char="►"/>
              <a:tabLst>
                <a:tab pos="265430" algn="l"/>
              </a:tabLst>
            </a:pPr>
            <a:r>
              <a:rPr dirty="0" sz="900" spc="55">
                <a:solidFill>
                  <a:srgbClr val="212121"/>
                </a:solidFill>
                <a:latin typeface="Arial MT"/>
                <a:cs typeface="Arial MT"/>
              </a:rPr>
              <a:t>If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900" spc="-2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rises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200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MT"/>
                <a:cs typeface="Arial MT"/>
              </a:rPr>
              <a:t>300: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46946" y="2325954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 h="0">
                <a:moveTo>
                  <a:pt x="0" y="0"/>
                </a:moveTo>
                <a:lnTo>
                  <a:pt x="208064" y="0"/>
                </a:lnTo>
              </a:path>
            </a:pathLst>
          </a:custGeom>
          <a:ln w="4808">
            <a:solidFill>
              <a:srgbClr val="21212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834246" y="2305082"/>
            <a:ext cx="233679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900" spc="-2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46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82126" y="2227854"/>
            <a:ext cx="104902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900" spc="95">
                <a:solidFill>
                  <a:srgbClr val="212121"/>
                </a:solidFill>
                <a:latin typeface="Calibri"/>
                <a:cs typeface="Calibri"/>
              </a:rPr>
              <a:t>∆</a:t>
            </a:r>
            <a:r>
              <a:rPr dirty="0" sz="900" spc="95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sz="9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30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baseline="37037" sz="1350">
                <a:solidFill>
                  <a:srgbClr val="212121"/>
                </a:solidFill>
                <a:latin typeface="Calibri"/>
                <a:cs typeface="Calibri"/>
              </a:rPr>
              <a:t>100</a:t>
            </a:r>
            <a:r>
              <a:rPr dirty="0" baseline="37037" sz="1350" spc="457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≈</a:t>
            </a:r>
            <a:r>
              <a:rPr dirty="0" sz="900" spc="-25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217</a:t>
            </a:r>
            <a:r>
              <a:rPr dirty="0" sz="900" spc="-2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7205" y="2602165"/>
            <a:ext cx="5466080" cy="231140"/>
          </a:xfrm>
          <a:custGeom>
            <a:avLst/>
            <a:gdLst/>
            <a:ahLst/>
            <a:cxnLst/>
            <a:rect l="l" t="t" r="r" b="b"/>
            <a:pathLst>
              <a:path w="5466080" h="231139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0573"/>
                </a:lnTo>
                <a:lnTo>
                  <a:pt x="5465668" y="230573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98005" y="2608680"/>
            <a:ext cx="230822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100">
                <a:solidFill>
                  <a:srgbClr val="FFFFFF"/>
                </a:solidFill>
                <a:latin typeface="Arial Black"/>
                <a:cs typeface="Arial Black"/>
              </a:rPr>
              <a:t>Exam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warning</a:t>
            </a:r>
            <a:r>
              <a:rPr dirty="0" sz="1200" spc="2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一个容易错的点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7205" y="2659089"/>
            <a:ext cx="5516880" cy="440690"/>
            <a:chOff x="147205" y="2659089"/>
            <a:chExt cx="5516880" cy="44069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05" y="2820085"/>
              <a:ext cx="5465668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98005" y="2659089"/>
              <a:ext cx="5466080" cy="440690"/>
            </a:xfrm>
            <a:custGeom>
              <a:avLst/>
              <a:gdLst/>
              <a:ahLst/>
              <a:cxnLst/>
              <a:rect l="l" t="t" r="r" b="b"/>
              <a:pathLst>
                <a:path w="5466080" h="440689">
                  <a:moveTo>
                    <a:pt x="5465668" y="0"/>
                  </a:moveTo>
                  <a:lnTo>
                    <a:pt x="0" y="0"/>
                  </a:lnTo>
                  <a:lnTo>
                    <a:pt x="0" y="440244"/>
                  </a:lnTo>
                  <a:lnTo>
                    <a:pt x="5465668" y="440244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7205" y="2864357"/>
              <a:ext cx="5466080" cy="184785"/>
            </a:xfrm>
            <a:custGeom>
              <a:avLst/>
              <a:gdLst/>
              <a:ahLst/>
              <a:cxnLst/>
              <a:rect l="l" t="t" r="r" b="b"/>
              <a:pathLst>
                <a:path w="5466080" h="184785">
                  <a:moveTo>
                    <a:pt x="5465668" y="0"/>
                  </a:moveTo>
                  <a:lnTo>
                    <a:pt x="0" y="0"/>
                  </a:lnTo>
                  <a:lnTo>
                    <a:pt x="0" y="133375"/>
                  </a:lnTo>
                  <a:lnTo>
                    <a:pt x="4008" y="153100"/>
                  </a:lnTo>
                  <a:lnTo>
                    <a:pt x="14922" y="169253"/>
                  </a:lnTo>
                  <a:lnTo>
                    <a:pt x="31075" y="180167"/>
                  </a:lnTo>
                  <a:lnTo>
                    <a:pt x="50800" y="184175"/>
                  </a:lnTo>
                  <a:lnTo>
                    <a:pt x="5414867" y="184175"/>
                  </a:lnTo>
                  <a:lnTo>
                    <a:pt x="5434592" y="180167"/>
                  </a:lnTo>
                  <a:lnTo>
                    <a:pt x="5450745" y="169253"/>
                  </a:lnTo>
                  <a:lnTo>
                    <a:pt x="5461659" y="153100"/>
                  </a:lnTo>
                  <a:lnTo>
                    <a:pt x="5465668" y="133375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98005" y="2850205"/>
            <a:ext cx="546608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Always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show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how</a:t>
            </a:r>
            <a:r>
              <a:rPr dirty="0" sz="900" spc="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tax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enters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consumption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function.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95"/>
              <a:t>Exam</a:t>
            </a:r>
            <a:r>
              <a:rPr dirty="0" spc="-85"/>
              <a:t> </a:t>
            </a:r>
            <a:r>
              <a:rPr dirty="0" spc="-20"/>
              <a:t>drill:</a:t>
            </a:r>
            <a:r>
              <a:rPr dirty="0" spc="15"/>
              <a:t> </a:t>
            </a:r>
            <a:r>
              <a:rPr dirty="0" spc="-55"/>
              <a:t>Part</a:t>
            </a:r>
            <a:r>
              <a:rPr dirty="0" spc="-85"/>
              <a:t> </a:t>
            </a:r>
            <a:r>
              <a:rPr dirty="0" spc="-150"/>
              <a:t>B</a:t>
            </a:r>
            <a:r>
              <a:rPr dirty="0" spc="-80"/>
              <a:t> </a:t>
            </a:r>
            <a:r>
              <a:rPr dirty="0" spc="-90"/>
              <a:t>Q2(c)</a:t>
            </a:r>
            <a:r>
              <a:rPr dirty="0" spc="-85"/>
              <a:t> </a:t>
            </a:r>
            <a:r>
              <a:rPr dirty="0" spc="-45"/>
              <a:t>and</a:t>
            </a:r>
            <a:r>
              <a:rPr dirty="0" spc="-85"/>
              <a:t> </a:t>
            </a:r>
            <a:r>
              <a:rPr dirty="0" spc="-25"/>
              <a:t>(d)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45">
                <a:solidFill>
                  <a:srgbClr val="666666"/>
                </a:solidFill>
              </a:rPr>
              <a:t>deficit, </a:t>
            </a:r>
            <a:r>
              <a:rPr dirty="0" sz="900" spc="-35">
                <a:solidFill>
                  <a:srgbClr val="666666"/>
                </a:solidFill>
              </a:rPr>
              <a:t>debt,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35">
                <a:solidFill>
                  <a:srgbClr val="666666"/>
                </a:solidFill>
              </a:rPr>
              <a:t>and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40">
                <a:solidFill>
                  <a:srgbClr val="666666"/>
                </a:solidFill>
              </a:rPr>
              <a:t>why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35">
                <a:solidFill>
                  <a:srgbClr val="666666"/>
                </a:solidFill>
              </a:rPr>
              <a:t>the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35">
                <a:solidFill>
                  <a:srgbClr val="666666"/>
                </a:solidFill>
              </a:rPr>
              <a:t>government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65">
                <a:solidFill>
                  <a:srgbClr val="666666"/>
                </a:solidFill>
              </a:rPr>
              <a:t>is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20">
                <a:solidFill>
                  <a:srgbClr val="666666"/>
                </a:solidFill>
              </a:rPr>
              <a:t>not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55">
                <a:solidFill>
                  <a:srgbClr val="666666"/>
                </a:solidFill>
              </a:rPr>
              <a:t>a</a:t>
            </a:r>
            <a:r>
              <a:rPr dirty="0" sz="900" spc="-40">
                <a:solidFill>
                  <a:srgbClr val="666666"/>
                </a:solidFill>
              </a:rPr>
              <a:t> </a:t>
            </a:r>
            <a:r>
              <a:rPr dirty="0" sz="900" spc="-20">
                <a:solidFill>
                  <a:srgbClr val="666666"/>
                </a:solidFill>
              </a:rPr>
              <a:t>household</a:t>
            </a:r>
            <a:endParaRPr sz="900"/>
          </a:p>
        </p:txBody>
      </p:sp>
      <p:sp>
        <p:nvSpPr>
          <p:cNvPr id="4" name="object 4"/>
          <p:cNvSpPr/>
          <p:nvPr/>
        </p:nvSpPr>
        <p:spPr>
          <a:xfrm>
            <a:off x="147205" y="701814"/>
            <a:ext cx="2783840" cy="230504"/>
          </a:xfrm>
          <a:custGeom>
            <a:avLst/>
            <a:gdLst/>
            <a:ahLst/>
            <a:cxnLst/>
            <a:rect l="l" t="t" r="r" b="b"/>
            <a:pathLst>
              <a:path w="2783840" h="230505">
                <a:moveTo>
                  <a:pt x="273283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0117"/>
                </a:lnTo>
                <a:lnTo>
                  <a:pt x="2783634" y="230117"/>
                </a:lnTo>
                <a:lnTo>
                  <a:pt x="2783634" y="50800"/>
                </a:lnTo>
                <a:lnTo>
                  <a:pt x="2779626" y="31075"/>
                </a:lnTo>
                <a:lnTo>
                  <a:pt x="2768711" y="14922"/>
                </a:lnTo>
                <a:lnTo>
                  <a:pt x="2752558" y="4008"/>
                </a:lnTo>
                <a:lnTo>
                  <a:pt x="2732834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707871"/>
            <a:ext cx="194945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Budget 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balance</a:t>
            </a:r>
            <a:r>
              <a:rPr dirty="0" sz="1200" spc="2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预算平衡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758725"/>
            <a:ext cx="2834640" cy="1842135"/>
            <a:chOff x="147205" y="758725"/>
            <a:chExt cx="2834640" cy="18421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919276"/>
              <a:ext cx="2783634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758725"/>
              <a:ext cx="2783840" cy="1842135"/>
            </a:xfrm>
            <a:custGeom>
              <a:avLst/>
              <a:gdLst/>
              <a:ahLst/>
              <a:cxnLst/>
              <a:rect l="l" t="t" r="r" b="b"/>
              <a:pathLst>
                <a:path w="2783840" h="1842135">
                  <a:moveTo>
                    <a:pt x="2783634" y="0"/>
                  </a:moveTo>
                  <a:lnTo>
                    <a:pt x="0" y="0"/>
                  </a:lnTo>
                  <a:lnTo>
                    <a:pt x="0" y="1841562"/>
                  </a:lnTo>
                  <a:lnTo>
                    <a:pt x="2783634" y="1841562"/>
                  </a:lnTo>
                  <a:lnTo>
                    <a:pt x="2783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963538"/>
              <a:ext cx="2783840" cy="1586230"/>
            </a:xfrm>
            <a:custGeom>
              <a:avLst/>
              <a:gdLst/>
              <a:ahLst/>
              <a:cxnLst/>
              <a:rect l="l" t="t" r="r" b="b"/>
              <a:pathLst>
                <a:path w="2783840" h="1586230">
                  <a:moveTo>
                    <a:pt x="2783634" y="0"/>
                  </a:moveTo>
                  <a:lnTo>
                    <a:pt x="0" y="0"/>
                  </a:lnTo>
                  <a:lnTo>
                    <a:pt x="0" y="1535148"/>
                  </a:lnTo>
                  <a:lnTo>
                    <a:pt x="4008" y="1554873"/>
                  </a:lnTo>
                  <a:lnTo>
                    <a:pt x="14922" y="1571026"/>
                  </a:lnTo>
                  <a:lnTo>
                    <a:pt x="31075" y="1581940"/>
                  </a:lnTo>
                  <a:lnTo>
                    <a:pt x="50800" y="1585948"/>
                  </a:lnTo>
                  <a:lnTo>
                    <a:pt x="2732834" y="1585948"/>
                  </a:lnTo>
                  <a:lnTo>
                    <a:pt x="2752558" y="1581940"/>
                  </a:lnTo>
                  <a:lnTo>
                    <a:pt x="2768711" y="1571026"/>
                  </a:lnTo>
                  <a:lnTo>
                    <a:pt x="2779626" y="1554873"/>
                  </a:lnTo>
                  <a:lnTo>
                    <a:pt x="2783634" y="1535148"/>
                  </a:lnTo>
                  <a:lnTo>
                    <a:pt x="2783634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72605" y="948325"/>
            <a:ext cx="2834640" cy="158178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845185">
              <a:lnSpc>
                <a:spcPct val="100000"/>
              </a:lnSpc>
              <a:spcBef>
                <a:spcPts val="515"/>
              </a:spcBef>
            </a:pP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BB</a:t>
            </a:r>
            <a:r>
              <a:rPr dirty="0" sz="9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85" i="1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dirty="0" sz="900" spc="-6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−</a:t>
            </a:r>
            <a:r>
              <a:rPr dirty="0" sz="900" spc="-7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900" spc="-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80" i="1">
                <a:solidFill>
                  <a:srgbClr val="212121"/>
                </a:solidFill>
                <a:latin typeface="Trebuchet MS"/>
                <a:cs typeface="Trebuchet MS"/>
              </a:rPr>
              <a:t>tY</a:t>
            </a:r>
            <a:r>
              <a:rPr dirty="0" sz="900" spc="-6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−</a:t>
            </a:r>
            <a:r>
              <a:rPr dirty="0" sz="900" spc="-7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5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endParaRPr sz="90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414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Before</a:t>
            </a:r>
            <a:r>
              <a:rPr dirty="0" sz="90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9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increase</a:t>
            </a:r>
            <a:r>
              <a:rPr dirty="0" sz="9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90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5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:</a:t>
            </a:r>
            <a:endParaRPr sz="900">
              <a:latin typeface="Arial MT"/>
              <a:cs typeface="Arial MT"/>
            </a:endParaRPr>
          </a:p>
          <a:p>
            <a:pPr algn="r" marR="833755">
              <a:lnSpc>
                <a:spcPct val="100000"/>
              </a:lnSpc>
              <a:spcBef>
                <a:spcPts val="860"/>
              </a:spcBef>
            </a:pPr>
            <a:r>
              <a:rPr dirty="0" sz="900" spc="-85" i="1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r>
              <a:rPr dirty="0" sz="9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×</a:t>
            </a:r>
            <a:r>
              <a:rPr dirty="0" sz="900" spc="-65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1521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7</a:t>
            </a:r>
            <a:r>
              <a:rPr dirty="0" sz="900" spc="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≈</a:t>
            </a:r>
            <a:r>
              <a:rPr dirty="0" sz="900" spc="-2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152</a:t>
            </a:r>
            <a:r>
              <a:rPr dirty="0" sz="900" spc="-2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  <a:p>
            <a:pPr algn="r" marR="793750">
              <a:lnSpc>
                <a:spcPct val="100000"/>
              </a:lnSpc>
              <a:spcBef>
                <a:spcPts val="865"/>
              </a:spcBef>
            </a:pP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BB</a:t>
            </a:r>
            <a:r>
              <a:rPr dirty="0" sz="900" spc="-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≈</a:t>
            </a:r>
            <a:r>
              <a:rPr dirty="0" sz="900" spc="-1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152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2</a:t>
            </a:r>
            <a:r>
              <a:rPr dirty="0" sz="9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−</a:t>
            </a:r>
            <a:r>
              <a:rPr dirty="0" sz="900" spc="-6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200</a:t>
            </a:r>
            <a:r>
              <a:rPr dirty="0" sz="900" spc="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7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Lucida Sans Unicode"/>
                <a:cs typeface="Lucida Sans Unicode"/>
              </a:rPr>
              <a:t>−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47</a:t>
            </a:r>
            <a:r>
              <a:rPr dirty="0" sz="900" spc="-2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414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After</a:t>
            </a:r>
            <a:r>
              <a:rPr dirty="0" sz="9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900" spc="15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rises</a:t>
            </a:r>
            <a:r>
              <a:rPr dirty="0" sz="9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9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MT"/>
                <a:cs typeface="Arial MT"/>
              </a:rPr>
              <a:t>300:</a:t>
            </a:r>
            <a:endParaRPr sz="900">
              <a:latin typeface="Arial MT"/>
              <a:cs typeface="Arial MT"/>
            </a:endParaRPr>
          </a:p>
          <a:p>
            <a:pPr algn="r" marR="833755">
              <a:lnSpc>
                <a:spcPct val="100000"/>
              </a:lnSpc>
              <a:spcBef>
                <a:spcPts val="860"/>
              </a:spcBef>
              <a:tabLst>
                <a:tab pos="738505" algn="l"/>
              </a:tabLst>
            </a:pP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Y</a:t>
            </a:r>
            <a:r>
              <a:rPr dirty="0" baseline="41666" sz="900">
                <a:solidFill>
                  <a:srgbClr val="212121"/>
                </a:solidFill>
                <a:latin typeface="Cambria"/>
                <a:cs typeface="Cambria"/>
              </a:rPr>
              <a:t>′</a:t>
            </a:r>
            <a:r>
              <a:rPr dirty="0" baseline="41666" sz="900" spc="27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≈</a:t>
            </a:r>
            <a:r>
              <a:rPr dirty="0" sz="900" spc="-25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Calibri"/>
                <a:cs typeface="Calibri"/>
              </a:rPr>
              <a:t>1739</a:t>
            </a:r>
            <a:r>
              <a:rPr dirty="0" sz="900" spc="-1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10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r>
              <a:rPr dirty="0" sz="900" spc="-10" i="1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dirty="0" baseline="41666" sz="900">
                <a:solidFill>
                  <a:srgbClr val="212121"/>
                </a:solidFill>
                <a:latin typeface="Cambria"/>
                <a:cs typeface="Cambria"/>
              </a:rPr>
              <a:t>′</a:t>
            </a:r>
            <a:r>
              <a:rPr dirty="0" baseline="41666" sz="900" spc="247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≈</a:t>
            </a:r>
            <a:r>
              <a:rPr dirty="0" sz="900" spc="-35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173</a:t>
            </a:r>
            <a:r>
              <a:rPr dirty="0" sz="900" spc="-2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20">
                <a:solidFill>
                  <a:srgbClr val="212121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  <a:p>
            <a:pPr algn="r" marR="747395">
              <a:lnSpc>
                <a:spcPct val="100000"/>
              </a:lnSpc>
              <a:spcBef>
                <a:spcPts val="865"/>
              </a:spcBef>
            </a:pP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BB</a:t>
            </a:r>
            <a:r>
              <a:rPr dirty="0" baseline="41666" sz="900">
                <a:solidFill>
                  <a:srgbClr val="212121"/>
                </a:solidFill>
                <a:latin typeface="Cambria"/>
                <a:cs typeface="Cambria"/>
              </a:rPr>
              <a:t>′</a:t>
            </a:r>
            <a:r>
              <a:rPr dirty="0" baseline="41666" sz="900" spc="31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≈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173</a:t>
            </a:r>
            <a:r>
              <a:rPr dirty="0" sz="90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9</a:t>
            </a:r>
            <a:r>
              <a:rPr dirty="0" sz="900" spc="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−</a:t>
            </a:r>
            <a:r>
              <a:rPr dirty="0" sz="900" spc="-55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12121"/>
                </a:solidFill>
                <a:latin typeface="Calibri"/>
                <a:cs typeface="Calibri"/>
              </a:rPr>
              <a:t>300</a:t>
            </a:r>
            <a:r>
              <a:rPr dirty="0" sz="900" spc="8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8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Lucida Sans Unicode"/>
                <a:cs typeface="Lucida Sans Unicode"/>
              </a:rPr>
              <a:t>−</a:t>
            </a:r>
            <a:r>
              <a:rPr dirty="0" sz="900" spc="-10">
                <a:solidFill>
                  <a:srgbClr val="212121"/>
                </a:solidFill>
                <a:latin typeface="Calibri"/>
                <a:cs typeface="Calibri"/>
              </a:rPr>
              <a:t>126</a:t>
            </a:r>
            <a:r>
              <a:rPr dirty="0" sz="900" spc="-10" i="1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dirty="0" sz="900" spc="-10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43719" y="701814"/>
            <a:ext cx="2569210" cy="390525"/>
          </a:xfrm>
          <a:custGeom>
            <a:avLst/>
            <a:gdLst/>
            <a:ahLst/>
            <a:cxnLst/>
            <a:rect l="l" t="t" r="r" b="b"/>
            <a:pathLst>
              <a:path w="2569210" h="390525">
                <a:moveTo>
                  <a:pt x="251830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90098"/>
                </a:lnTo>
                <a:lnTo>
                  <a:pt x="2569107" y="390098"/>
                </a:lnTo>
                <a:lnTo>
                  <a:pt x="2569107" y="50800"/>
                </a:lnTo>
                <a:lnTo>
                  <a:pt x="2565099" y="31075"/>
                </a:lnTo>
                <a:lnTo>
                  <a:pt x="2554185" y="14922"/>
                </a:lnTo>
                <a:lnTo>
                  <a:pt x="2538032" y="4008"/>
                </a:lnTo>
                <a:lnTo>
                  <a:pt x="251830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94520" y="708175"/>
            <a:ext cx="2362200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30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say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words</a:t>
            </a:r>
            <a:r>
              <a:rPr dirty="0" sz="1200" spc="-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文字题要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说什么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43719" y="758728"/>
            <a:ext cx="2620010" cy="1675130"/>
            <a:chOff x="3043719" y="758728"/>
            <a:chExt cx="2620010" cy="167513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3719" y="1079258"/>
              <a:ext cx="2569107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94520" y="758728"/>
              <a:ext cx="2569210" cy="1675130"/>
            </a:xfrm>
            <a:custGeom>
              <a:avLst/>
              <a:gdLst/>
              <a:ahLst/>
              <a:cxnLst/>
              <a:rect l="l" t="t" r="r" b="b"/>
              <a:pathLst>
                <a:path w="2569210" h="1675130">
                  <a:moveTo>
                    <a:pt x="2569107" y="0"/>
                  </a:moveTo>
                  <a:lnTo>
                    <a:pt x="0" y="0"/>
                  </a:lnTo>
                  <a:lnTo>
                    <a:pt x="0" y="1674820"/>
                  </a:lnTo>
                  <a:lnTo>
                    <a:pt x="2569107" y="1674820"/>
                  </a:lnTo>
                  <a:lnTo>
                    <a:pt x="25691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43719" y="1123522"/>
              <a:ext cx="2569210" cy="1259840"/>
            </a:xfrm>
            <a:custGeom>
              <a:avLst/>
              <a:gdLst/>
              <a:ahLst/>
              <a:cxnLst/>
              <a:rect l="l" t="t" r="r" b="b"/>
              <a:pathLst>
                <a:path w="2569210" h="1259839">
                  <a:moveTo>
                    <a:pt x="2569107" y="0"/>
                  </a:moveTo>
                  <a:lnTo>
                    <a:pt x="0" y="0"/>
                  </a:lnTo>
                  <a:lnTo>
                    <a:pt x="0" y="1208426"/>
                  </a:lnTo>
                  <a:lnTo>
                    <a:pt x="4008" y="1228150"/>
                  </a:lnTo>
                  <a:lnTo>
                    <a:pt x="14922" y="1244303"/>
                  </a:lnTo>
                  <a:lnTo>
                    <a:pt x="31075" y="1255217"/>
                  </a:lnTo>
                  <a:lnTo>
                    <a:pt x="50800" y="1259226"/>
                  </a:lnTo>
                  <a:lnTo>
                    <a:pt x="2518307" y="1259226"/>
                  </a:lnTo>
                  <a:lnTo>
                    <a:pt x="2538032" y="1255217"/>
                  </a:lnTo>
                  <a:lnTo>
                    <a:pt x="2554185" y="1244303"/>
                  </a:lnTo>
                  <a:lnTo>
                    <a:pt x="2565099" y="1228150"/>
                  </a:lnTo>
                  <a:lnTo>
                    <a:pt x="2569107" y="1208426"/>
                  </a:lnTo>
                  <a:lnTo>
                    <a:pt x="2569107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252729" marR="137160" indent="-152400">
              <a:lnSpc>
                <a:spcPct val="101499"/>
              </a:lnSpc>
              <a:spcBef>
                <a:spcPts val="8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pc="10"/>
              <a:t>A</a:t>
            </a:r>
            <a:r>
              <a:rPr dirty="0" spc="30"/>
              <a:t> </a:t>
            </a:r>
            <a:r>
              <a:rPr dirty="0" spc="20"/>
              <a:t>larger</a:t>
            </a:r>
            <a:r>
              <a:rPr dirty="0" spc="35"/>
              <a:t> </a:t>
            </a:r>
            <a:r>
              <a:rPr dirty="0" spc="20"/>
              <a:t>deficit</a:t>
            </a:r>
            <a:r>
              <a:rPr dirty="0" spc="35"/>
              <a:t> </a:t>
            </a:r>
            <a:r>
              <a:rPr dirty="0" spc="20"/>
              <a:t>adds</a:t>
            </a:r>
            <a:r>
              <a:rPr dirty="0" spc="35"/>
              <a:t> </a:t>
            </a:r>
            <a:r>
              <a:rPr dirty="0" spc="55"/>
              <a:t>to</a:t>
            </a:r>
            <a:r>
              <a:rPr dirty="0" spc="35"/>
              <a:t> </a:t>
            </a:r>
            <a:r>
              <a:rPr dirty="0" spc="20"/>
              <a:t>government</a:t>
            </a:r>
            <a:r>
              <a:rPr dirty="0" spc="35"/>
              <a:t> </a:t>
            </a:r>
            <a:r>
              <a:rPr dirty="0" spc="-20"/>
              <a:t>debt </a:t>
            </a:r>
            <a:r>
              <a:rPr dirty="0"/>
              <a:t>if</a:t>
            </a:r>
            <a:r>
              <a:rPr dirty="0" spc="20"/>
              <a:t> </a:t>
            </a:r>
            <a:r>
              <a:rPr dirty="0" spc="50"/>
              <a:t>it</a:t>
            </a:r>
            <a:r>
              <a:rPr dirty="0" spc="25"/>
              <a:t> </a:t>
            </a:r>
            <a:r>
              <a:rPr dirty="0" spc="-10"/>
              <a:t>persists.</a:t>
            </a:r>
          </a:p>
          <a:p>
            <a:pPr marL="252729" indent="-151765">
              <a:lnSpc>
                <a:spcPct val="100000"/>
              </a:lnSpc>
              <a:spcBef>
                <a:spcPts val="71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/>
              <a:t>Debt</a:t>
            </a:r>
            <a:r>
              <a:rPr dirty="0" spc="40"/>
              <a:t> </a:t>
            </a:r>
            <a:r>
              <a:rPr dirty="0"/>
              <a:t>is</a:t>
            </a:r>
            <a:r>
              <a:rPr dirty="0" spc="45"/>
              <a:t> </a:t>
            </a:r>
            <a:r>
              <a:rPr dirty="0"/>
              <a:t>a</a:t>
            </a:r>
            <a:r>
              <a:rPr dirty="0" spc="45"/>
              <a:t> </a:t>
            </a:r>
            <a:r>
              <a:rPr dirty="0"/>
              <a:t>stock;</a:t>
            </a:r>
            <a:r>
              <a:rPr dirty="0" spc="45"/>
              <a:t> </a:t>
            </a:r>
            <a:r>
              <a:rPr dirty="0"/>
              <a:t>deficit</a:t>
            </a:r>
            <a:r>
              <a:rPr dirty="0" spc="45"/>
              <a:t> </a:t>
            </a:r>
            <a:r>
              <a:rPr dirty="0"/>
              <a:t>is</a:t>
            </a:r>
            <a:r>
              <a:rPr dirty="0" spc="45"/>
              <a:t> </a:t>
            </a:r>
            <a:r>
              <a:rPr dirty="0"/>
              <a:t>a</a:t>
            </a:r>
            <a:r>
              <a:rPr dirty="0" spc="45"/>
              <a:t> </a:t>
            </a:r>
            <a:r>
              <a:rPr dirty="0" spc="-10"/>
              <a:t>flow.</a:t>
            </a:r>
          </a:p>
          <a:p>
            <a:pPr marL="252729" marR="131445" indent="-152400">
              <a:lnSpc>
                <a:spcPct val="101499"/>
              </a:lnSpc>
              <a:spcBef>
                <a:spcPts val="70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pc="10"/>
              <a:t>Monetary</a:t>
            </a:r>
            <a:r>
              <a:rPr dirty="0" spc="110"/>
              <a:t> </a:t>
            </a:r>
            <a:r>
              <a:rPr dirty="0" spc="10"/>
              <a:t>policy</a:t>
            </a:r>
            <a:r>
              <a:rPr dirty="0" spc="110"/>
              <a:t> </a:t>
            </a:r>
            <a:r>
              <a:rPr dirty="0" spc="10"/>
              <a:t>affects</a:t>
            </a:r>
            <a:r>
              <a:rPr dirty="0" spc="110"/>
              <a:t> </a:t>
            </a:r>
            <a:r>
              <a:rPr dirty="0" spc="10"/>
              <a:t>debt</a:t>
            </a:r>
            <a:r>
              <a:rPr dirty="0" spc="110"/>
              <a:t> </a:t>
            </a:r>
            <a:r>
              <a:rPr dirty="0" spc="40"/>
              <a:t>through </a:t>
            </a:r>
            <a:r>
              <a:rPr dirty="0" spc="10"/>
              <a:t>interest</a:t>
            </a:r>
            <a:r>
              <a:rPr dirty="0" spc="135"/>
              <a:t> </a:t>
            </a:r>
            <a:r>
              <a:rPr dirty="0" spc="10"/>
              <a:t>payments,</a:t>
            </a:r>
            <a:r>
              <a:rPr dirty="0" spc="135"/>
              <a:t> </a:t>
            </a:r>
            <a:r>
              <a:rPr dirty="0" spc="10"/>
              <a:t>growth,</a:t>
            </a:r>
            <a:r>
              <a:rPr dirty="0" spc="135"/>
              <a:t> </a:t>
            </a:r>
            <a:r>
              <a:rPr dirty="0" spc="10"/>
              <a:t>and</a:t>
            </a:r>
            <a:r>
              <a:rPr dirty="0" spc="135"/>
              <a:t> </a:t>
            </a:r>
            <a:r>
              <a:rPr dirty="0" spc="-10"/>
              <a:t>inflation.</a:t>
            </a:r>
          </a:p>
          <a:p>
            <a:pPr marL="252729" marR="458470" indent="-152400">
              <a:lnSpc>
                <a:spcPct val="101499"/>
              </a:lnSpc>
              <a:spcBef>
                <a:spcPts val="6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pc="10"/>
              <a:t>A</a:t>
            </a:r>
            <a:r>
              <a:rPr dirty="0"/>
              <a:t> </a:t>
            </a:r>
            <a:r>
              <a:rPr dirty="0" spc="20"/>
              <a:t>government</a:t>
            </a:r>
            <a:r>
              <a:rPr dirty="0" spc="5"/>
              <a:t> </a:t>
            </a:r>
            <a:r>
              <a:rPr dirty="0" spc="20"/>
              <a:t>is</a:t>
            </a:r>
            <a:r>
              <a:rPr dirty="0"/>
              <a:t> </a:t>
            </a:r>
            <a:r>
              <a:rPr dirty="0" spc="50"/>
              <a:t>not</a:t>
            </a:r>
            <a:r>
              <a:rPr dirty="0" spc="5"/>
              <a:t> </a:t>
            </a:r>
            <a:r>
              <a:rPr dirty="0" spc="20"/>
              <a:t>the</a:t>
            </a:r>
            <a:r>
              <a:rPr dirty="0"/>
              <a:t> </a:t>
            </a:r>
            <a:r>
              <a:rPr dirty="0" spc="20"/>
              <a:t>same</a:t>
            </a:r>
            <a:r>
              <a:rPr dirty="0" spc="5"/>
              <a:t> </a:t>
            </a:r>
            <a:r>
              <a:rPr dirty="0" spc="10"/>
              <a:t>as</a:t>
            </a:r>
            <a:r>
              <a:rPr dirty="0"/>
              <a:t> </a:t>
            </a:r>
            <a:r>
              <a:rPr dirty="0" spc="-50"/>
              <a:t>a</a:t>
            </a:r>
            <a:r>
              <a:rPr dirty="0"/>
              <a:t> household:</a:t>
            </a:r>
            <a:r>
              <a:rPr dirty="0" spc="195"/>
              <a:t> </a:t>
            </a:r>
            <a:r>
              <a:rPr dirty="0" spc="50"/>
              <a:t>it</a:t>
            </a:r>
            <a:r>
              <a:rPr dirty="0" spc="80"/>
              <a:t> </a:t>
            </a:r>
            <a:r>
              <a:rPr dirty="0"/>
              <a:t>can</a:t>
            </a:r>
            <a:r>
              <a:rPr dirty="0" spc="80"/>
              <a:t> </a:t>
            </a:r>
            <a:r>
              <a:rPr dirty="0"/>
              <a:t>roll</a:t>
            </a:r>
            <a:r>
              <a:rPr dirty="0" spc="80"/>
              <a:t> </a:t>
            </a:r>
            <a:r>
              <a:rPr dirty="0"/>
              <a:t>over</a:t>
            </a:r>
            <a:r>
              <a:rPr dirty="0" spc="80"/>
              <a:t> </a:t>
            </a:r>
            <a:r>
              <a:rPr dirty="0" spc="-20"/>
              <a:t>debt.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40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58" y="0"/>
                </a:moveTo>
                <a:lnTo>
                  <a:pt x="0" y="0"/>
                </a:lnTo>
                <a:lnTo>
                  <a:pt x="0" y="3240023"/>
                </a:lnTo>
                <a:lnTo>
                  <a:pt x="5759958" y="3240023"/>
                </a:lnTo>
                <a:lnTo>
                  <a:pt x="5759958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5262" y="298397"/>
            <a:ext cx="1503045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30"/>
              <a:t>Lecture</a:t>
            </a:r>
            <a:r>
              <a:rPr dirty="0" sz="2450" spc="-170"/>
              <a:t> </a:t>
            </a:r>
            <a:r>
              <a:rPr dirty="0" sz="2450" spc="-60"/>
              <a:t>3</a:t>
            </a:r>
            <a:endParaRPr sz="2450"/>
          </a:p>
        </p:txBody>
      </p:sp>
      <p:sp>
        <p:nvSpPr>
          <p:cNvPr id="4" name="object 4"/>
          <p:cNvSpPr txBox="1"/>
          <p:nvPr/>
        </p:nvSpPr>
        <p:spPr>
          <a:xfrm>
            <a:off x="295262" y="542076"/>
            <a:ext cx="4072890" cy="118618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4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FFFFFF"/>
                </a:solidFill>
                <a:latin typeface="Arial MT"/>
                <a:cs typeface="Arial MT"/>
              </a:rPr>
              <a:t>labour</a:t>
            </a:r>
            <a:r>
              <a:rPr dirty="0" sz="14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400" spc="-85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dirty="0" sz="1400" spc="-80">
                <a:solidFill>
                  <a:srgbClr val="FFFFFF"/>
                </a:solidFill>
                <a:latin typeface="Arial Black"/>
                <a:cs typeface="Arial Black"/>
              </a:rPr>
              <a:t> is</a:t>
            </a:r>
            <a:r>
              <a:rPr dirty="0" sz="14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4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Arial Black"/>
                <a:cs typeface="Arial Black"/>
              </a:rPr>
              <a:t>most</a:t>
            </a:r>
            <a:r>
              <a:rPr dirty="0" sz="14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Arial Black"/>
                <a:cs typeface="Arial Black"/>
              </a:rPr>
              <a:t>diagram-</a:t>
            </a:r>
            <a:r>
              <a:rPr dirty="0" sz="1400" spc="-30">
                <a:solidFill>
                  <a:srgbClr val="FFFFFF"/>
                </a:solidFill>
                <a:latin typeface="Arial Black"/>
                <a:cs typeface="Arial Black"/>
              </a:rPr>
              <a:t>heavy</a:t>
            </a:r>
            <a:r>
              <a:rPr dirty="0" sz="14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part</a:t>
            </a:r>
            <a:r>
              <a:rPr dirty="0" sz="14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today.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wage-setting</a:t>
            </a:r>
            <a:r>
              <a:rPr dirty="0" sz="1200" spc="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120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price-setting</a:t>
            </a:r>
            <a:r>
              <a:rPr dirty="0" sz="120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120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60">
                <a:solidFill>
                  <a:srgbClr val="FFFFFF"/>
                </a:solidFill>
                <a:latin typeface="Arial MT"/>
                <a:cs typeface="Arial MT"/>
              </a:rPr>
              <a:t>equilibrium</a:t>
            </a:r>
            <a:r>
              <a:rPr dirty="0" sz="1200" spc="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50">
                <a:solidFill>
                  <a:srgbClr val="FFFFFF"/>
                </a:solidFill>
                <a:latin typeface="Arial MT"/>
                <a:cs typeface="Arial MT"/>
              </a:rPr>
              <a:t>unemployment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900" spc="-40">
                <a:solidFill>
                  <a:srgbClr val="FFFFFF"/>
                </a:solidFill>
                <a:latin typeface="SimSun"/>
                <a:cs typeface="SimSun"/>
              </a:rPr>
              <a:t>也是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2025</a:t>
            </a:r>
            <a:r>
              <a:rPr dirty="0" sz="9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paper</a:t>
            </a:r>
            <a:r>
              <a:rPr dirty="0" sz="9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SimSun"/>
                <a:cs typeface="SimSun"/>
              </a:rPr>
              <a:t>里最直接可押中的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short-question</a:t>
            </a:r>
            <a:r>
              <a:rPr dirty="0" sz="9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SimSun"/>
                <a:cs typeface="SimSun"/>
              </a:rPr>
              <a:t>板块</a:t>
            </a:r>
            <a:endParaRPr sz="900">
              <a:latin typeface="SimSun"/>
              <a:cs typeface="SimSu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244"/>
                </a:lnTo>
                <a:lnTo>
                  <a:pt x="5759996" y="432244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0829"/>
            <a:ext cx="2214880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30"/>
              <a:t>Who</a:t>
            </a:r>
            <a:r>
              <a:rPr dirty="0" spc="-75"/>
              <a:t> counts</a:t>
            </a:r>
            <a:r>
              <a:rPr dirty="0" spc="-70"/>
              <a:t> </a:t>
            </a:r>
            <a:r>
              <a:rPr dirty="0" spc="-100"/>
              <a:t>as</a:t>
            </a:r>
            <a:r>
              <a:rPr dirty="0" spc="-75"/>
              <a:t> </a:t>
            </a:r>
            <a:r>
              <a:rPr dirty="0" spc="-50"/>
              <a:t>unemployed?</a:t>
            </a: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900" spc="5" b="1">
                <a:solidFill>
                  <a:srgbClr val="666666"/>
                </a:solidFill>
                <a:latin typeface="Microsoft JhengHei"/>
                <a:cs typeface="Microsoft JhengHei"/>
              </a:rPr>
              <a:t>先把 </a:t>
            </a:r>
            <a:r>
              <a:rPr dirty="0" sz="900" spc="-35">
                <a:solidFill>
                  <a:srgbClr val="666666"/>
                </a:solidFill>
              </a:rPr>
              <a:t>labour</a:t>
            </a:r>
            <a:r>
              <a:rPr dirty="0" sz="900" spc="-40">
                <a:solidFill>
                  <a:srgbClr val="666666"/>
                </a:solidFill>
              </a:rPr>
              <a:t> </a:t>
            </a:r>
            <a:r>
              <a:rPr dirty="0" sz="900" spc="-30">
                <a:solidFill>
                  <a:srgbClr val="666666"/>
                </a:solidFill>
              </a:rPr>
              <a:t>market</a:t>
            </a:r>
            <a:r>
              <a:rPr dirty="0" sz="900" spc="-40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的盒子分清楚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5688"/>
            <a:ext cx="2166620" cy="177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24765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Start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with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working-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age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population.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不是所有人口都在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labour</a:t>
            </a:r>
            <a:r>
              <a:rPr dirty="0" sz="700" spc="1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market</a:t>
            </a:r>
            <a:r>
              <a:rPr dirty="0" sz="700" spc="1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里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5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Then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separate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labour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force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from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inactive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population.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先分成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labour</a:t>
            </a:r>
            <a:r>
              <a:rPr dirty="0" sz="700" spc="10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force</a:t>
            </a:r>
            <a:r>
              <a:rPr dirty="0" sz="700" spc="10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35">
                <a:solidFill>
                  <a:srgbClr val="666666"/>
                </a:solidFill>
                <a:latin typeface="SimSun"/>
                <a:cs typeface="SimSun"/>
              </a:rPr>
              <a:t>和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inactive/out</a:t>
            </a:r>
            <a:r>
              <a:rPr dirty="0" sz="700" spc="10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dirty="0" sz="700" spc="10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labour</a:t>
            </a:r>
            <a:endParaRPr sz="7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force.</a:t>
            </a:r>
            <a:endParaRPr sz="700">
              <a:latin typeface="Arial MT"/>
              <a:cs typeface="Arial MT"/>
            </a:endParaRPr>
          </a:p>
          <a:p>
            <a:pPr marL="173990" marR="17272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Inside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labour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force,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split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employed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unemployed.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30">
                <a:solidFill>
                  <a:srgbClr val="666666"/>
                </a:solidFill>
                <a:latin typeface="SimSun"/>
                <a:cs typeface="SimSun"/>
              </a:rPr>
              <a:t>只有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labour</a:t>
            </a:r>
            <a:r>
              <a:rPr dirty="0" sz="700" spc="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force</a:t>
            </a:r>
            <a:r>
              <a:rPr dirty="0" sz="700" spc="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里的失业者才计入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9"/>
              </a:spcBef>
            </a:pP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unemployment</a:t>
            </a:r>
            <a:r>
              <a:rPr dirty="0" sz="700" spc="1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rate.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3313" y="655590"/>
            <a:ext cx="2854027" cy="90972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3324860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80"/>
              <a:t>Three</a:t>
            </a:r>
            <a:r>
              <a:rPr dirty="0" spc="-75"/>
              <a:t> </a:t>
            </a:r>
            <a:r>
              <a:rPr dirty="0" spc="-65"/>
              <a:t>rates</a:t>
            </a:r>
            <a:r>
              <a:rPr dirty="0" spc="-75"/>
              <a:t> </a:t>
            </a:r>
            <a:r>
              <a:rPr dirty="0" spc="-35"/>
              <a:t>you</a:t>
            </a:r>
            <a:r>
              <a:rPr dirty="0" spc="-70"/>
              <a:t> </a:t>
            </a:r>
            <a:r>
              <a:rPr dirty="0" spc="-45"/>
              <a:t>must</a:t>
            </a:r>
            <a:r>
              <a:rPr dirty="0" spc="-70"/>
              <a:t> </a:t>
            </a:r>
            <a:r>
              <a:rPr dirty="0" spc="-25"/>
              <a:t>not</a:t>
            </a:r>
            <a:r>
              <a:rPr dirty="0" spc="-70"/>
              <a:t> </a:t>
            </a:r>
            <a:r>
              <a:rPr dirty="0" spc="-10"/>
              <a:t>confuse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35">
                <a:solidFill>
                  <a:srgbClr val="666666"/>
                </a:solidFill>
              </a:rPr>
              <a:t>participation</a:t>
            </a:r>
            <a:r>
              <a:rPr dirty="0" sz="900" spc="30">
                <a:solidFill>
                  <a:srgbClr val="666666"/>
                </a:solidFill>
              </a:rPr>
              <a:t> / </a:t>
            </a:r>
            <a:r>
              <a:rPr dirty="0" sz="900" spc="-35">
                <a:solidFill>
                  <a:srgbClr val="666666"/>
                </a:solidFill>
              </a:rPr>
              <a:t>unemployment</a:t>
            </a:r>
            <a:r>
              <a:rPr dirty="0" sz="900" spc="30">
                <a:solidFill>
                  <a:srgbClr val="666666"/>
                </a:solidFill>
              </a:rPr>
              <a:t> / </a:t>
            </a:r>
            <a:r>
              <a:rPr dirty="0" sz="900" spc="-40">
                <a:solidFill>
                  <a:srgbClr val="666666"/>
                </a:solidFill>
              </a:rPr>
              <a:t>employment</a:t>
            </a:r>
            <a:r>
              <a:rPr dirty="0" sz="900" spc="-15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三个比率别混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636320"/>
            <a:ext cx="5466080" cy="213360"/>
          </a:xfrm>
          <a:custGeom>
            <a:avLst/>
            <a:gdLst/>
            <a:ahLst/>
            <a:cxnLst/>
            <a:rect l="l" t="t" r="r" b="b"/>
            <a:pathLst>
              <a:path w="5466080" h="213359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960"/>
                </a:lnTo>
                <a:lnTo>
                  <a:pt x="5465668" y="212960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642694"/>
            <a:ext cx="129603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Definitions</a:t>
            </a:r>
            <a:r>
              <a:rPr dirty="0" sz="1200" spc="1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定义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693240"/>
            <a:ext cx="5516880" cy="1366520"/>
            <a:chOff x="147205" y="693240"/>
            <a:chExt cx="5516880" cy="13665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836625"/>
              <a:ext cx="5465668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693240"/>
              <a:ext cx="5466080" cy="1366520"/>
            </a:xfrm>
            <a:custGeom>
              <a:avLst/>
              <a:gdLst/>
              <a:ahLst/>
              <a:cxnLst/>
              <a:rect l="l" t="t" r="r" b="b"/>
              <a:pathLst>
                <a:path w="5466080" h="1366520">
                  <a:moveTo>
                    <a:pt x="5465668" y="0"/>
                  </a:moveTo>
                  <a:lnTo>
                    <a:pt x="0" y="0"/>
                  </a:lnTo>
                  <a:lnTo>
                    <a:pt x="0" y="1366255"/>
                  </a:lnTo>
                  <a:lnTo>
                    <a:pt x="5465668" y="1366255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880896"/>
              <a:ext cx="5466080" cy="1128395"/>
            </a:xfrm>
            <a:custGeom>
              <a:avLst/>
              <a:gdLst/>
              <a:ahLst/>
              <a:cxnLst/>
              <a:rect l="l" t="t" r="r" b="b"/>
              <a:pathLst>
                <a:path w="5466080" h="1128395">
                  <a:moveTo>
                    <a:pt x="5465668" y="0"/>
                  </a:moveTo>
                  <a:lnTo>
                    <a:pt x="0" y="0"/>
                  </a:lnTo>
                  <a:lnTo>
                    <a:pt x="0" y="1076998"/>
                  </a:lnTo>
                  <a:lnTo>
                    <a:pt x="4008" y="1096723"/>
                  </a:lnTo>
                  <a:lnTo>
                    <a:pt x="14922" y="1112876"/>
                  </a:lnTo>
                  <a:lnTo>
                    <a:pt x="31075" y="1123790"/>
                  </a:lnTo>
                  <a:lnTo>
                    <a:pt x="50800" y="1127799"/>
                  </a:lnTo>
                  <a:lnTo>
                    <a:pt x="5414867" y="1127799"/>
                  </a:lnTo>
                  <a:lnTo>
                    <a:pt x="5434592" y="1123790"/>
                  </a:lnTo>
                  <a:lnTo>
                    <a:pt x="5450745" y="1112876"/>
                  </a:lnTo>
                  <a:lnTo>
                    <a:pt x="5461659" y="1096723"/>
                  </a:lnTo>
                  <a:lnTo>
                    <a:pt x="5465668" y="1076998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517726" y="962030"/>
            <a:ext cx="27095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596390" algn="l"/>
                <a:tab pos="2670810" algn="l"/>
              </a:tabLst>
            </a:pP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Participation rate</a:t>
            </a:r>
            <a:r>
              <a:rPr dirty="0" sz="10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u="sng" baseline="36111" sz="150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baseline="36111" sz="150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MT"/>
                <a:cs typeface="Arial MT"/>
              </a:rPr>
              <a:t>labour</a:t>
            </a:r>
            <a:r>
              <a:rPr dirty="0" u="sng" baseline="36111" sz="1500" spc="315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baseline="36111" sz="1500" spc="-3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MT"/>
                <a:cs typeface="Arial MT"/>
              </a:rPr>
              <a:t>force</a:t>
            </a:r>
            <a:r>
              <a:rPr dirty="0" u="sng" baseline="36111" sz="150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MT"/>
                <a:cs typeface="Arial MT"/>
              </a:rPr>
              <a:t>	</a:t>
            </a:r>
            <a:endParaRPr baseline="36111"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0985" y="1048821"/>
            <a:ext cx="14509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working-age</a:t>
            </a:r>
            <a:r>
              <a:rPr dirty="0" sz="1000" spc="409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40">
                <a:solidFill>
                  <a:srgbClr val="212121"/>
                </a:solidFill>
                <a:latin typeface="Arial MT"/>
                <a:cs typeface="Arial MT"/>
              </a:rPr>
              <a:t>population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3504" y="1349506"/>
            <a:ext cx="21983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r>
              <a:rPr dirty="0" sz="10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rate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2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u="sng" baseline="36111" sz="1500" spc="-15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MT"/>
                <a:cs typeface="Arial MT"/>
              </a:rPr>
              <a:t>unemployed</a:t>
            </a:r>
            <a:endParaRPr baseline="36111"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6798" y="1436298"/>
            <a:ext cx="7493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labour</a:t>
            </a:r>
            <a:r>
              <a:rPr dirty="0" sz="1000" spc="1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force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8805" y="1707888"/>
            <a:ext cx="27076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662430" algn="l"/>
                <a:tab pos="2668905" algn="l"/>
              </a:tabLst>
            </a:pP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Employment</a:t>
            </a:r>
            <a:r>
              <a:rPr dirty="0" sz="10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 MT"/>
                <a:cs typeface="Arial MT"/>
              </a:rPr>
              <a:t>rate</a:t>
            </a:r>
            <a:r>
              <a:rPr dirty="0" sz="1000" spc="1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1000" spc="27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u="sng" baseline="36111" sz="150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baseline="36111" sz="1500" spc="-15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MT"/>
                <a:cs typeface="Arial MT"/>
              </a:rPr>
              <a:t>employed</a:t>
            </a:r>
            <a:r>
              <a:rPr dirty="0" u="sng" baseline="36111" sz="150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MT"/>
                <a:cs typeface="Arial MT"/>
              </a:rPr>
              <a:t>	</a:t>
            </a:r>
            <a:endParaRPr baseline="36111"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9905" y="1794680"/>
            <a:ext cx="14509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working-age</a:t>
            </a:r>
            <a:r>
              <a:rPr dirty="0" sz="1000" spc="409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40">
                <a:solidFill>
                  <a:srgbClr val="212121"/>
                </a:solidFill>
                <a:latin typeface="Arial MT"/>
                <a:cs typeface="Arial MT"/>
              </a:rPr>
              <a:t>population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7205" y="2160625"/>
            <a:ext cx="5466080" cy="211454"/>
          </a:xfrm>
          <a:custGeom>
            <a:avLst/>
            <a:gdLst/>
            <a:ahLst/>
            <a:cxnLst/>
            <a:rect l="l" t="t" r="r" b="b"/>
            <a:pathLst>
              <a:path w="5466080" h="21145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1442"/>
                </a:lnTo>
                <a:lnTo>
                  <a:pt x="5465668" y="211442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8005" y="2165475"/>
            <a:ext cx="182626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100">
                <a:solidFill>
                  <a:srgbClr val="FFFFFF"/>
                </a:solidFill>
                <a:latin typeface="Arial Black"/>
                <a:cs typeface="Arial Black"/>
              </a:rPr>
              <a:t>Fast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reminder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快速提醒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7205" y="2217559"/>
            <a:ext cx="5516880" cy="586105"/>
            <a:chOff x="147205" y="2217559"/>
            <a:chExt cx="5516880" cy="58610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05" y="2359405"/>
              <a:ext cx="5465668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8005" y="2217559"/>
              <a:ext cx="5466080" cy="586105"/>
            </a:xfrm>
            <a:custGeom>
              <a:avLst/>
              <a:gdLst/>
              <a:ahLst/>
              <a:cxnLst/>
              <a:rect l="l" t="t" r="r" b="b"/>
              <a:pathLst>
                <a:path w="5466080" h="586105">
                  <a:moveTo>
                    <a:pt x="5465668" y="0"/>
                  </a:moveTo>
                  <a:lnTo>
                    <a:pt x="0" y="0"/>
                  </a:lnTo>
                  <a:lnTo>
                    <a:pt x="0" y="585661"/>
                  </a:lnTo>
                  <a:lnTo>
                    <a:pt x="5465668" y="585661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7205" y="2403696"/>
              <a:ext cx="5466080" cy="349250"/>
            </a:xfrm>
            <a:custGeom>
              <a:avLst/>
              <a:gdLst/>
              <a:ahLst/>
              <a:cxnLst/>
              <a:rect l="l" t="t" r="r" b="b"/>
              <a:pathLst>
                <a:path w="5466080" h="349250">
                  <a:moveTo>
                    <a:pt x="5465668" y="0"/>
                  </a:moveTo>
                  <a:lnTo>
                    <a:pt x="0" y="0"/>
                  </a:lnTo>
                  <a:lnTo>
                    <a:pt x="0" y="297923"/>
                  </a:lnTo>
                  <a:lnTo>
                    <a:pt x="4008" y="317648"/>
                  </a:lnTo>
                  <a:lnTo>
                    <a:pt x="14922" y="333801"/>
                  </a:lnTo>
                  <a:lnTo>
                    <a:pt x="31075" y="344715"/>
                  </a:lnTo>
                  <a:lnTo>
                    <a:pt x="50800" y="348724"/>
                  </a:lnTo>
                  <a:lnTo>
                    <a:pt x="5414867" y="348724"/>
                  </a:lnTo>
                  <a:lnTo>
                    <a:pt x="5434592" y="344715"/>
                  </a:lnTo>
                  <a:lnTo>
                    <a:pt x="5450745" y="333801"/>
                  </a:lnTo>
                  <a:lnTo>
                    <a:pt x="5461659" y="317648"/>
                  </a:lnTo>
                  <a:lnTo>
                    <a:pt x="5465668" y="297923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98005" y="2386563"/>
            <a:ext cx="54660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263525">
              <a:lnSpc>
                <a:spcPct val="100000"/>
              </a:lnSpc>
              <a:spcBef>
                <a:spcPts val="95"/>
              </a:spcBef>
            </a:pP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Two</a:t>
            </a:r>
            <a:r>
              <a:rPr dirty="0" sz="10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countries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can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have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same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r>
              <a:rPr dirty="0" sz="10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rate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but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different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employment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rates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if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their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participation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rates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differ.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3451225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95"/>
              <a:t>Same</a:t>
            </a:r>
            <a:r>
              <a:rPr dirty="0" spc="-25"/>
              <a:t> </a:t>
            </a:r>
            <a:r>
              <a:rPr dirty="0" spc="-45"/>
              <a:t>unemployment,</a:t>
            </a:r>
            <a:r>
              <a:rPr dirty="0" spc="-25"/>
              <a:t> </a:t>
            </a:r>
            <a:r>
              <a:rPr dirty="0" spc="-35"/>
              <a:t>different</a:t>
            </a:r>
            <a:r>
              <a:rPr dirty="0" spc="-25"/>
              <a:t> </a:t>
            </a:r>
            <a:r>
              <a:rPr dirty="0" spc="-30"/>
              <a:t>employment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为什么失业率一样，就业率也可能不一样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63921"/>
            <a:ext cx="5034280" cy="11861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rate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uses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labour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force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denominator.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所以它不看那些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inactive</a:t>
            </a:r>
            <a:r>
              <a:rPr dirty="0" sz="700" spc="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people.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employment rate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uses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working-age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population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denominator.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所以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participation</a:t>
            </a:r>
            <a:r>
              <a:rPr dirty="0" sz="700" spc="1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的变化会影响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employment</a:t>
            </a:r>
            <a:r>
              <a:rPr dirty="0" sz="700" spc="1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rate.</a:t>
            </a:r>
            <a:endParaRPr sz="700">
              <a:latin typeface="Arial MT"/>
              <a:cs typeface="Arial MT"/>
            </a:endParaRPr>
          </a:p>
          <a:p>
            <a:pPr marL="173990" marR="3556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why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same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rate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hide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different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labour-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market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structures.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45">
                <a:solidFill>
                  <a:srgbClr val="666666"/>
                </a:solidFill>
                <a:latin typeface="SimSun"/>
                <a:cs typeface="SimSun"/>
              </a:rPr>
              <a:t>这也是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Problem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Set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3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Q1</a:t>
            </a:r>
            <a:r>
              <a:rPr dirty="0" sz="700" spc="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想让你看到的点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873617"/>
            <a:ext cx="5466080" cy="211454"/>
          </a:xfrm>
          <a:custGeom>
            <a:avLst/>
            <a:gdLst/>
            <a:ahLst/>
            <a:cxnLst/>
            <a:rect l="l" t="t" r="r" b="b"/>
            <a:pathLst>
              <a:path w="5466080" h="21145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1442"/>
                </a:lnTo>
                <a:lnTo>
                  <a:pt x="5465668" y="211442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878468"/>
            <a:ext cx="183515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Nice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sentence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好用句子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930552"/>
            <a:ext cx="5516880" cy="586105"/>
            <a:chOff x="147205" y="1930552"/>
            <a:chExt cx="5516880" cy="58610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072411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930552"/>
              <a:ext cx="5466080" cy="586105"/>
            </a:xfrm>
            <a:custGeom>
              <a:avLst/>
              <a:gdLst/>
              <a:ahLst/>
              <a:cxnLst/>
              <a:rect l="l" t="t" r="r" b="b"/>
              <a:pathLst>
                <a:path w="5466080" h="586105">
                  <a:moveTo>
                    <a:pt x="5465668" y="0"/>
                  </a:moveTo>
                  <a:lnTo>
                    <a:pt x="0" y="0"/>
                  </a:lnTo>
                  <a:lnTo>
                    <a:pt x="0" y="585915"/>
                  </a:lnTo>
                  <a:lnTo>
                    <a:pt x="5465668" y="585915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116690"/>
              <a:ext cx="5466080" cy="349250"/>
            </a:xfrm>
            <a:custGeom>
              <a:avLst/>
              <a:gdLst/>
              <a:ahLst/>
              <a:cxnLst/>
              <a:rect l="l" t="t" r="r" b="b"/>
              <a:pathLst>
                <a:path w="5466080" h="349250">
                  <a:moveTo>
                    <a:pt x="5465668" y="0"/>
                  </a:moveTo>
                  <a:lnTo>
                    <a:pt x="0" y="0"/>
                  </a:lnTo>
                  <a:lnTo>
                    <a:pt x="0" y="298176"/>
                  </a:lnTo>
                  <a:lnTo>
                    <a:pt x="4008" y="317901"/>
                  </a:lnTo>
                  <a:lnTo>
                    <a:pt x="14922" y="334054"/>
                  </a:lnTo>
                  <a:lnTo>
                    <a:pt x="31075" y="344968"/>
                  </a:lnTo>
                  <a:lnTo>
                    <a:pt x="50800" y="348977"/>
                  </a:lnTo>
                  <a:lnTo>
                    <a:pt x="5414867" y="348977"/>
                  </a:lnTo>
                  <a:lnTo>
                    <a:pt x="5434592" y="344968"/>
                  </a:lnTo>
                  <a:lnTo>
                    <a:pt x="5450745" y="334054"/>
                  </a:lnTo>
                  <a:lnTo>
                    <a:pt x="5461659" y="317901"/>
                  </a:lnTo>
                  <a:lnTo>
                    <a:pt x="5465668" y="298176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099810"/>
            <a:ext cx="54660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18288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low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rate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does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automatically mean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high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employment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rate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if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participation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low.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1591"/>
            <a:ext cx="4108450" cy="389255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50"/>
              <a:t>Where</a:t>
            </a:r>
            <a:r>
              <a:rPr dirty="0" spc="-60"/>
              <a:t> </a:t>
            </a:r>
            <a:r>
              <a:rPr dirty="0" spc="-50"/>
              <a:t>do </a:t>
            </a:r>
            <a:r>
              <a:rPr dirty="0" spc="-65"/>
              <a:t>wage-</a:t>
            </a:r>
            <a:r>
              <a:rPr dirty="0" spc="-50"/>
              <a:t>setting </a:t>
            </a:r>
            <a:r>
              <a:rPr dirty="0" spc="-45"/>
              <a:t>and</a:t>
            </a:r>
            <a:r>
              <a:rPr dirty="0" spc="-50"/>
              <a:t> </a:t>
            </a:r>
            <a:r>
              <a:rPr dirty="0" spc="-55"/>
              <a:t>price-</a:t>
            </a:r>
            <a:r>
              <a:rPr dirty="0" spc="-60"/>
              <a:t>setting</a:t>
            </a:r>
            <a:r>
              <a:rPr dirty="0" spc="-50"/>
              <a:t> </a:t>
            </a:r>
            <a:r>
              <a:rPr dirty="0" spc="-85"/>
              <a:t>come</a:t>
            </a:r>
            <a:r>
              <a:rPr dirty="0" spc="-50"/>
              <a:t> </a:t>
            </a:r>
            <a:r>
              <a:rPr dirty="0" spc="-10"/>
              <a:t>from?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先把两条曲线背后的部门想象出来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682" y="615129"/>
            <a:ext cx="3045460" cy="1468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467359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100">
                <a:solidFill>
                  <a:srgbClr val="212121"/>
                </a:solidFill>
                <a:latin typeface="Arial Black"/>
                <a:cs typeface="Arial Black"/>
              </a:rPr>
              <a:t>HR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decides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needed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make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workers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work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hard.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人事部门要想：工资至少给到哪里，员工才不会偷懒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9017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Marketing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chooses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price/markup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given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demand.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市场部门要想：面对需求曲线，价格和加成怎么定最赚钱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889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Together,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these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decisions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determine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the real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employment.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把企业都加总起来，就得到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economy-wide</a:t>
            </a:r>
            <a:r>
              <a:rPr dirty="0" sz="700" spc="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real</a:t>
            </a:r>
            <a:r>
              <a:rPr dirty="0" sz="700" spc="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wage</a:t>
            </a:r>
            <a:r>
              <a:rPr dirty="0" sz="700" spc="1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dirty="0" sz="700" spc="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employment.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80154" y="707961"/>
            <a:ext cx="2033270" cy="389255"/>
          </a:xfrm>
          <a:custGeom>
            <a:avLst/>
            <a:gdLst/>
            <a:ahLst/>
            <a:cxnLst/>
            <a:rect l="l" t="t" r="r" b="b"/>
            <a:pathLst>
              <a:path w="2033270" h="389255">
                <a:moveTo>
                  <a:pt x="1981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8732"/>
                </a:lnTo>
                <a:lnTo>
                  <a:pt x="2032668" y="388732"/>
                </a:lnTo>
                <a:lnTo>
                  <a:pt x="2032668" y="50800"/>
                </a:lnTo>
                <a:lnTo>
                  <a:pt x="2028659" y="31075"/>
                </a:lnTo>
                <a:lnTo>
                  <a:pt x="2017745" y="14922"/>
                </a:lnTo>
                <a:lnTo>
                  <a:pt x="2001592" y="4008"/>
                </a:lnTo>
                <a:lnTo>
                  <a:pt x="1981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30955" y="712963"/>
            <a:ext cx="1793875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Memory</a:t>
            </a:r>
            <a:r>
              <a:rPr dirty="0" sz="12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trick</a:t>
            </a:r>
            <a:r>
              <a:rPr dirty="0" sz="1200" spc="-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一个记忆</a:t>
            </a:r>
            <a:r>
              <a:rPr dirty="0" sz="1200" spc="-50" b="1">
                <a:solidFill>
                  <a:srgbClr val="FFFFFF"/>
                </a:solidFill>
                <a:latin typeface="Microsoft JhengHei"/>
                <a:cs typeface="Microsoft JhengHei"/>
              </a:rPr>
              <a:t>法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80154" y="764896"/>
            <a:ext cx="2084070" cy="759460"/>
            <a:chOff x="3580154" y="764896"/>
            <a:chExt cx="2084070" cy="7594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0154" y="1084033"/>
              <a:ext cx="2032668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30955" y="764896"/>
              <a:ext cx="2033270" cy="759460"/>
            </a:xfrm>
            <a:custGeom>
              <a:avLst/>
              <a:gdLst/>
              <a:ahLst/>
              <a:cxnLst/>
              <a:rect l="l" t="t" r="r" b="b"/>
              <a:pathLst>
                <a:path w="2033270" h="759460">
                  <a:moveTo>
                    <a:pt x="2032668" y="0"/>
                  </a:moveTo>
                  <a:lnTo>
                    <a:pt x="0" y="0"/>
                  </a:lnTo>
                  <a:lnTo>
                    <a:pt x="0" y="759409"/>
                  </a:lnTo>
                  <a:lnTo>
                    <a:pt x="2032668" y="759409"/>
                  </a:lnTo>
                  <a:lnTo>
                    <a:pt x="2032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80154" y="1128323"/>
              <a:ext cx="2033270" cy="345440"/>
            </a:xfrm>
            <a:custGeom>
              <a:avLst/>
              <a:gdLst/>
              <a:ahLst/>
              <a:cxnLst/>
              <a:rect l="l" t="t" r="r" b="b"/>
              <a:pathLst>
                <a:path w="2033270" h="345440">
                  <a:moveTo>
                    <a:pt x="2032668" y="0"/>
                  </a:moveTo>
                  <a:lnTo>
                    <a:pt x="0" y="0"/>
                  </a:lnTo>
                  <a:lnTo>
                    <a:pt x="0" y="294381"/>
                  </a:lnTo>
                  <a:lnTo>
                    <a:pt x="4008" y="314105"/>
                  </a:lnTo>
                  <a:lnTo>
                    <a:pt x="14922" y="330258"/>
                  </a:lnTo>
                  <a:lnTo>
                    <a:pt x="31075" y="341172"/>
                  </a:lnTo>
                  <a:lnTo>
                    <a:pt x="50800" y="345181"/>
                  </a:lnTo>
                  <a:lnTo>
                    <a:pt x="1981867" y="345181"/>
                  </a:lnTo>
                  <a:lnTo>
                    <a:pt x="2001592" y="341172"/>
                  </a:lnTo>
                  <a:lnTo>
                    <a:pt x="2017745" y="330258"/>
                  </a:lnTo>
                  <a:lnTo>
                    <a:pt x="2028659" y="314105"/>
                  </a:lnTo>
                  <a:lnTo>
                    <a:pt x="2032668" y="294381"/>
                  </a:lnTo>
                  <a:lnTo>
                    <a:pt x="2032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630955" y="1107648"/>
            <a:ext cx="203327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200"/>
              </a:lnSpc>
              <a:spcBef>
                <a:spcPts val="95"/>
              </a:spcBef>
            </a:pPr>
            <a:r>
              <a:rPr dirty="0" sz="1000" spc="-105">
                <a:solidFill>
                  <a:srgbClr val="212121"/>
                </a:solidFill>
                <a:latin typeface="Arial Black"/>
                <a:cs typeface="Arial Black"/>
              </a:rPr>
              <a:t>HR</a:t>
            </a:r>
            <a:r>
              <a:rPr dirty="0" sz="1000" spc="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125">
                <a:solidFill>
                  <a:srgbClr val="212121"/>
                </a:solidFill>
                <a:latin typeface="Cambria"/>
                <a:cs typeface="Cambria"/>
              </a:rPr>
              <a:t>⇒</a:t>
            </a:r>
            <a:r>
              <a:rPr dirty="0" sz="1000" spc="1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wage-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setting</a:t>
            </a:r>
            <a:endParaRPr sz="1000">
              <a:latin typeface="Arial MT"/>
              <a:cs typeface="Arial MT"/>
            </a:endParaRPr>
          </a:p>
          <a:p>
            <a:pPr>
              <a:lnSpc>
                <a:spcPts val="1200"/>
              </a:lnSpc>
            </a:pP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Marketing</a:t>
            </a:r>
            <a:r>
              <a:rPr dirty="0" sz="1000" spc="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125">
                <a:solidFill>
                  <a:srgbClr val="212121"/>
                </a:solidFill>
                <a:latin typeface="Cambria"/>
                <a:cs typeface="Cambria"/>
              </a:rPr>
              <a:t>⇒</a:t>
            </a:r>
            <a:r>
              <a:rPr dirty="0" sz="1000" spc="16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price-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setting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787"/>
                </a:lnTo>
                <a:lnTo>
                  <a:pt x="5759996" y="431787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439"/>
            <a:ext cx="2388235" cy="38989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85"/>
              <a:t>Real</a:t>
            </a:r>
            <a:r>
              <a:rPr dirty="0" spc="-75"/>
              <a:t> wage </a:t>
            </a:r>
            <a:r>
              <a:rPr dirty="0" spc="-45"/>
              <a:t>and</a:t>
            </a:r>
            <a:r>
              <a:rPr dirty="0" spc="-75"/>
              <a:t> </a:t>
            </a:r>
            <a:r>
              <a:rPr dirty="0" spc="-10"/>
              <a:t>markup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40">
                <a:solidFill>
                  <a:srgbClr val="666666"/>
                </a:solidFill>
              </a:rPr>
              <a:t>real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60">
                <a:solidFill>
                  <a:srgbClr val="666666"/>
                </a:solidFill>
              </a:rPr>
              <a:t>wage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5" b="1">
                <a:solidFill>
                  <a:srgbClr val="666666"/>
                </a:solidFill>
                <a:latin typeface="Microsoft JhengHei"/>
                <a:cs typeface="Microsoft JhengHei"/>
              </a:rPr>
              <a:t>和企业 </a:t>
            </a:r>
            <a:r>
              <a:rPr dirty="0" sz="900" spc="-25">
                <a:solidFill>
                  <a:srgbClr val="666666"/>
                </a:solidFill>
              </a:rPr>
              <a:t>markup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是此消彼长的关系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64315"/>
            <a:ext cx="4866640" cy="11861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real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nominal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divided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by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price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level, </a:t>
            </a:r>
            <a:r>
              <a:rPr dirty="0" sz="1000" spc="-20" i="1">
                <a:solidFill>
                  <a:srgbClr val="212121"/>
                </a:solidFill>
                <a:latin typeface="Trebuchet MS"/>
                <a:cs typeface="Trebuchet MS"/>
              </a:rPr>
              <a:t>W</a:t>
            </a:r>
            <a:r>
              <a:rPr dirty="0" sz="1000" spc="-20">
                <a:solidFill>
                  <a:srgbClr val="212121"/>
                </a:solidFill>
                <a:latin typeface="Calibri"/>
                <a:cs typeface="Calibri"/>
              </a:rPr>
              <a:t>/</a:t>
            </a:r>
            <a:r>
              <a:rPr dirty="0" sz="1000" spc="-20" i="1">
                <a:solidFill>
                  <a:srgbClr val="212121"/>
                </a:solidFill>
                <a:latin typeface="Trebuchet MS"/>
                <a:cs typeface="Trebuchet MS"/>
              </a:rPr>
              <a:t>P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这句定义必须会说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higher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markup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means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lower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share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output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goes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workers.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markup</a:t>
            </a:r>
            <a:r>
              <a:rPr dirty="0" sz="700" spc="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高，意味着工人拿到的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real</a:t>
            </a:r>
            <a:r>
              <a:rPr dirty="0" sz="700" spc="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wage</a:t>
            </a:r>
            <a:r>
              <a:rPr dirty="0" sz="700" spc="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share</a:t>
            </a:r>
            <a:r>
              <a:rPr dirty="0" sz="700" spc="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更低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5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11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price-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setting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really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about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how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output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divided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between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wages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and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profits.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30">
                <a:solidFill>
                  <a:srgbClr val="666666"/>
                </a:solidFill>
                <a:latin typeface="SimSun"/>
                <a:cs typeface="SimSun"/>
              </a:rPr>
              <a:t>这也是为什么 </a:t>
            </a:r>
            <a:r>
              <a:rPr dirty="0" sz="700" spc="-70">
                <a:solidFill>
                  <a:srgbClr val="666666"/>
                </a:solidFill>
                <a:latin typeface="Arial MT"/>
                <a:cs typeface="Arial MT"/>
              </a:rPr>
              <a:t>PS</a:t>
            </a:r>
            <a:r>
              <a:rPr dirty="0" sz="700" spc="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曲线决定分配关系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866302"/>
            <a:ext cx="5466080" cy="212090"/>
          </a:xfrm>
          <a:custGeom>
            <a:avLst/>
            <a:gdLst/>
            <a:ahLst/>
            <a:cxnLst/>
            <a:rect l="l" t="t" r="r" b="b"/>
            <a:pathLst>
              <a:path w="5466080" h="212089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1594"/>
                </a:lnTo>
                <a:lnTo>
                  <a:pt x="5465668" y="211594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871305"/>
            <a:ext cx="221234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One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useful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line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一个好用句子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923241"/>
            <a:ext cx="5516880" cy="434340"/>
            <a:chOff x="147205" y="1923241"/>
            <a:chExt cx="5516880" cy="4343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065248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923241"/>
              <a:ext cx="5466080" cy="434340"/>
            </a:xfrm>
            <a:custGeom>
              <a:avLst/>
              <a:gdLst/>
              <a:ahLst/>
              <a:cxnLst/>
              <a:rect l="l" t="t" r="r" b="b"/>
              <a:pathLst>
                <a:path w="5466080" h="434339">
                  <a:moveTo>
                    <a:pt x="5465668" y="0"/>
                  </a:moveTo>
                  <a:lnTo>
                    <a:pt x="0" y="0"/>
                  </a:lnTo>
                  <a:lnTo>
                    <a:pt x="0" y="434234"/>
                  </a:lnTo>
                  <a:lnTo>
                    <a:pt x="5465668" y="434234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109531"/>
              <a:ext cx="5466080" cy="197485"/>
            </a:xfrm>
            <a:custGeom>
              <a:avLst/>
              <a:gdLst/>
              <a:ahLst/>
              <a:cxnLst/>
              <a:rect l="l" t="t" r="r" b="b"/>
              <a:pathLst>
                <a:path w="5466080" h="197485">
                  <a:moveTo>
                    <a:pt x="5465668" y="0"/>
                  </a:moveTo>
                  <a:lnTo>
                    <a:pt x="0" y="0"/>
                  </a:lnTo>
                  <a:lnTo>
                    <a:pt x="0" y="146344"/>
                  </a:lnTo>
                  <a:lnTo>
                    <a:pt x="4008" y="166068"/>
                  </a:lnTo>
                  <a:lnTo>
                    <a:pt x="14922" y="182221"/>
                  </a:lnTo>
                  <a:lnTo>
                    <a:pt x="31075" y="193136"/>
                  </a:lnTo>
                  <a:lnTo>
                    <a:pt x="50800" y="197144"/>
                  </a:lnTo>
                  <a:lnTo>
                    <a:pt x="5414867" y="197144"/>
                  </a:lnTo>
                  <a:lnTo>
                    <a:pt x="5434592" y="193136"/>
                  </a:lnTo>
                  <a:lnTo>
                    <a:pt x="5450745" y="182221"/>
                  </a:lnTo>
                  <a:lnTo>
                    <a:pt x="5461659" y="166068"/>
                  </a:lnTo>
                  <a:lnTo>
                    <a:pt x="5465668" y="146344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092660"/>
            <a:ext cx="54660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given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productivity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level,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higher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markup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implies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lower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real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wage.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1901"/>
                </a:lnTo>
                <a:lnTo>
                  <a:pt x="5759996" y="431901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286"/>
            <a:ext cx="1830070" cy="389890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95"/>
              <a:t>The</a:t>
            </a:r>
            <a:r>
              <a:rPr dirty="0" spc="-45"/>
              <a:t> </a:t>
            </a:r>
            <a:r>
              <a:rPr dirty="0" spc="-65"/>
              <a:t>wage-</a:t>
            </a:r>
            <a:r>
              <a:rPr dirty="0" spc="-50"/>
              <a:t>setting</a:t>
            </a:r>
            <a:r>
              <a:rPr dirty="0" spc="-45"/>
              <a:t> curve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工资设定曲线为什么向上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5358"/>
            <a:ext cx="2047239" cy="177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15113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When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employment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high,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unemployment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low.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就业高就意味着失业少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8255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Then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losing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job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less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painful,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workers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need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a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higher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exert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effort.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丢工作的威慑变弱，企业就得给更高工资来维持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effort.</a:t>
            </a:r>
            <a:endParaRPr sz="700">
              <a:latin typeface="Arial MT"/>
              <a:cs typeface="Arial MT"/>
            </a:endParaRPr>
          </a:p>
          <a:p>
            <a:pPr marL="173990" marR="698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why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wage-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setting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curve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slopes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upward.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35">
                <a:solidFill>
                  <a:srgbClr val="666666"/>
                </a:solidFill>
                <a:latin typeface="SimSun"/>
                <a:cs typeface="SimSun"/>
              </a:rPr>
              <a:t>因此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employment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越高，所需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real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wage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越高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6454" y="666037"/>
            <a:ext cx="2462747" cy="18276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55"/>
              <a:t>Tutorial</a:t>
            </a:r>
            <a:r>
              <a:rPr dirty="0" spc="-70"/>
              <a:t> </a:t>
            </a:r>
            <a:r>
              <a:rPr dirty="0" spc="-55"/>
              <a:t>question</a:t>
            </a:r>
            <a:r>
              <a:rPr dirty="0" spc="-60"/>
              <a:t> </a:t>
            </a:r>
            <a:r>
              <a:rPr dirty="0" spc="-95"/>
              <a:t>closest</a:t>
            </a:r>
            <a:r>
              <a:rPr dirty="0" spc="-60"/>
              <a:t> </a:t>
            </a:r>
            <a:r>
              <a:rPr dirty="0" spc="-35"/>
              <a:t>to</a:t>
            </a:r>
            <a:r>
              <a:rPr dirty="0" spc="-65"/>
              <a:t> </a:t>
            </a:r>
            <a:r>
              <a:rPr dirty="0" spc="-40"/>
              <a:t>the</a:t>
            </a:r>
            <a:r>
              <a:rPr dirty="0" spc="-60"/>
              <a:t> </a:t>
            </a:r>
            <a:r>
              <a:rPr dirty="0" spc="-75"/>
              <a:t>exam</a:t>
            </a:r>
            <a:r>
              <a:rPr dirty="0" spc="-65"/>
              <a:t> </a:t>
            </a:r>
            <a:r>
              <a:rPr dirty="0" spc="-25"/>
              <a:t>#3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45">
                <a:solidFill>
                  <a:srgbClr val="666666"/>
                </a:solidFill>
              </a:rPr>
              <a:t>Problem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75">
                <a:solidFill>
                  <a:srgbClr val="666666"/>
                </a:solidFill>
              </a:rPr>
              <a:t>Set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85">
                <a:solidFill>
                  <a:srgbClr val="666666"/>
                </a:solidFill>
              </a:rPr>
              <a:t>3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65">
                <a:solidFill>
                  <a:srgbClr val="666666"/>
                </a:solidFill>
              </a:rPr>
              <a:t>Q2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130">
                <a:solidFill>
                  <a:srgbClr val="666666"/>
                </a:solidFill>
              </a:rPr>
              <a:t>/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45">
                <a:solidFill>
                  <a:srgbClr val="666666"/>
                </a:solidFill>
              </a:rPr>
              <a:t>Short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45">
                <a:solidFill>
                  <a:srgbClr val="666666"/>
                </a:solidFill>
              </a:rPr>
              <a:t>Q5(a):</a:t>
            </a:r>
            <a:r>
              <a:rPr dirty="0" sz="900" spc="35">
                <a:solidFill>
                  <a:srgbClr val="666666"/>
                </a:solidFill>
              </a:rPr>
              <a:t> </a:t>
            </a:r>
            <a:r>
              <a:rPr dirty="0" sz="900" spc="-25">
                <a:solidFill>
                  <a:srgbClr val="666666"/>
                </a:solidFill>
              </a:rPr>
              <a:t>monitoring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10">
                <a:solidFill>
                  <a:srgbClr val="666666"/>
                </a:solidFill>
              </a:rPr>
              <a:t>device</a:t>
            </a:r>
            <a:endParaRPr sz="900"/>
          </a:p>
        </p:txBody>
      </p:sp>
      <p:sp>
        <p:nvSpPr>
          <p:cNvPr id="4" name="object 4"/>
          <p:cNvSpPr txBox="1"/>
          <p:nvPr/>
        </p:nvSpPr>
        <p:spPr>
          <a:xfrm>
            <a:off x="286524" y="624580"/>
            <a:ext cx="1965325" cy="150050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64465" marR="224154" indent="-152400">
              <a:lnSpc>
                <a:spcPct val="101499"/>
              </a:lnSpc>
              <a:spcBef>
                <a:spcPts val="80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Monitoring</a:t>
            </a:r>
            <a:r>
              <a:rPr dirty="0" sz="9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makes</a:t>
            </a:r>
            <a:r>
              <a:rPr dirty="0" sz="9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shirking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easier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detect.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监控更强，偷懒更容易被抓到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64465" marR="60325" indent="-152400">
              <a:lnSpc>
                <a:spcPct val="101499"/>
              </a:lnSpc>
              <a:spcBef>
                <a:spcPts val="635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10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firms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need 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lower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to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induce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effort.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5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因此维持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effort</a:t>
            </a:r>
            <a:r>
              <a:rPr dirty="0" sz="700" spc="1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所需的效率工资下降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64465" marR="5080" indent="-152400">
              <a:lnSpc>
                <a:spcPct val="101499"/>
              </a:lnSpc>
              <a:spcBef>
                <a:spcPts val="640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75">
                <a:solidFill>
                  <a:srgbClr val="212121"/>
                </a:solidFill>
                <a:latin typeface="Arial Black"/>
                <a:cs typeface="Arial Black"/>
              </a:rPr>
              <a:t>Best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response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shifts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left/down,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wage-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setting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curve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shifts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down.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50"/>
              </a:spcBef>
            </a:pPr>
            <a:r>
              <a:rPr dirty="0" sz="700" spc="-35">
                <a:solidFill>
                  <a:srgbClr val="666666"/>
                </a:solidFill>
                <a:latin typeface="SimSun"/>
                <a:cs typeface="SimSun"/>
              </a:rPr>
              <a:t>在图上就是 </a:t>
            </a:r>
            <a:r>
              <a:rPr dirty="0" sz="700" spc="-40">
                <a:solidFill>
                  <a:srgbClr val="666666"/>
                </a:solidFill>
                <a:latin typeface="Arial MT"/>
                <a:cs typeface="Arial MT"/>
              </a:rPr>
              <a:t>BR</a:t>
            </a:r>
            <a:r>
              <a:rPr dirty="0" sz="700" spc="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左移</a:t>
            </a:r>
            <a:r>
              <a:rPr dirty="0" sz="700" spc="55">
                <a:solidFill>
                  <a:srgbClr val="666666"/>
                </a:solidFill>
                <a:latin typeface="Arial MT"/>
                <a:cs typeface="Arial MT"/>
              </a:rPr>
              <a:t>/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下移，</a:t>
            </a:r>
            <a:r>
              <a:rPr dirty="0" sz="700" spc="-40">
                <a:solidFill>
                  <a:srgbClr val="666666"/>
                </a:solidFill>
                <a:latin typeface="Arial MT"/>
                <a:cs typeface="Arial MT"/>
              </a:rPr>
              <a:t>WS</a:t>
            </a:r>
            <a:r>
              <a:rPr dirty="0" sz="700" spc="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整体下移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2255443"/>
            <a:ext cx="2247265" cy="212725"/>
          </a:xfrm>
          <a:custGeom>
            <a:avLst/>
            <a:gdLst/>
            <a:ahLst/>
            <a:cxnLst/>
            <a:rect l="l" t="t" r="r" b="b"/>
            <a:pathLst>
              <a:path w="2247265" h="212725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201"/>
                </a:lnTo>
                <a:lnTo>
                  <a:pt x="2247195" y="212201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2261055"/>
            <a:ext cx="176593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Final 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effect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最后会怎样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2312378"/>
            <a:ext cx="2298065" cy="548640"/>
            <a:chOff x="147205" y="2312378"/>
            <a:chExt cx="2298065" cy="5486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454998"/>
              <a:ext cx="2247195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2312378"/>
              <a:ext cx="2247265" cy="548640"/>
            </a:xfrm>
            <a:custGeom>
              <a:avLst/>
              <a:gdLst/>
              <a:ahLst/>
              <a:cxnLst/>
              <a:rect l="l" t="t" r="r" b="b"/>
              <a:pathLst>
                <a:path w="2247265" h="548639">
                  <a:moveTo>
                    <a:pt x="2247195" y="0"/>
                  </a:moveTo>
                  <a:lnTo>
                    <a:pt x="0" y="0"/>
                  </a:lnTo>
                  <a:lnTo>
                    <a:pt x="0" y="548539"/>
                  </a:lnTo>
                  <a:lnTo>
                    <a:pt x="2247195" y="548539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499274"/>
              <a:ext cx="2247265" cy="311150"/>
            </a:xfrm>
            <a:custGeom>
              <a:avLst/>
              <a:gdLst/>
              <a:ahLst/>
              <a:cxnLst/>
              <a:rect l="l" t="t" r="r" b="b"/>
              <a:pathLst>
                <a:path w="2247265" h="311150">
                  <a:moveTo>
                    <a:pt x="2247195" y="0"/>
                  </a:moveTo>
                  <a:lnTo>
                    <a:pt x="0" y="0"/>
                  </a:lnTo>
                  <a:lnTo>
                    <a:pt x="0" y="260041"/>
                  </a:lnTo>
                  <a:lnTo>
                    <a:pt x="4008" y="279766"/>
                  </a:lnTo>
                  <a:lnTo>
                    <a:pt x="14922" y="295919"/>
                  </a:lnTo>
                  <a:lnTo>
                    <a:pt x="31075" y="306833"/>
                  </a:lnTo>
                  <a:lnTo>
                    <a:pt x="50800" y="310842"/>
                  </a:lnTo>
                  <a:lnTo>
                    <a:pt x="2196394" y="310842"/>
                  </a:lnTo>
                  <a:lnTo>
                    <a:pt x="2216119" y="306833"/>
                  </a:lnTo>
                  <a:lnTo>
                    <a:pt x="2232272" y="295919"/>
                  </a:lnTo>
                  <a:lnTo>
                    <a:pt x="2243186" y="279766"/>
                  </a:lnTo>
                  <a:lnTo>
                    <a:pt x="2247195" y="260041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470581"/>
            <a:ext cx="2247265" cy="304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303530">
              <a:lnSpc>
                <a:spcPct val="114199"/>
              </a:lnSpc>
              <a:spcBef>
                <a:spcPts val="100"/>
              </a:spcBef>
            </a:pPr>
            <a:r>
              <a:rPr dirty="0" sz="800" spc="-55">
                <a:solidFill>
                  <a:srgbClr val="212121"/>
                </a:solidFill>
                <a:latin typeface="Arial Black"/>
                <a:cs typeface="Arial Black"/>
              </a:rPr>
              <a:t>Lower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 equilibrium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55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8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212121"/>
                </a:solidFill>
                <a:latin typeface="Arial Black"/>
                <a:cs typeface="Arial Black"/>
              </a:rPr>
              <a:t>pressure</a:t>
            </a:r>
            <a:r>
              <a:rPr dirty="0" sz="8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25">
                <a:solidFill>
                  <a:srgbClr val="212121"/>
                </a:solidFill>
                <a:latin typeface="Arial Black"/>
                <a:cs typeface="Arial Black"/>
              </a:rPr>
              <a:t>and higher</a:t>
            </a:r>
            <a:r>
              <a:rPr dirty="0" sz="8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Arial Black"/>
                <a:cs typeface="Arial Black"/>
              </a:rPr>
              <a:t>employment.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6670" y="613191"/>
            <a:ext cx="1317059" cy="1903362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55"/>
              <a:t>Tutorial</a:t>
            </a:r>
            <a:r>
              <a:rPr dirty="0" spc="-70"/>
              <a:t> </a:t>
            </a:r>
            <a:r>
              <a:rPr dirty="0" spc="-55"/>
              <a:t>question</a:t>
            </a:r>
            <a:r>
              <a:rPr dirty="0" spc="-60"/>
              <a:t> </a:t>
            </a:r>
            <a:r>
              <a:rPr dirty="0" spc="-95"/>
              <a:t>closest</a:t>
            </a:r>
            <a:r>
              <a:rPr dirty="0" spc="-60"/>
              <a:t> </a:t>
            </a:r>
            <a:r>
              <a:rPr dirty="0" spc="-35"/>
              <a:t>to</a:t>
            </a:r>
            <a:r>
              <a:rPr dirty="0" spc="-65"/>
              <a:t> </a:t>
            </a:r>
            <a:r>
              <a:rPr dirty="0" spc="-40"/>
              <a:t>the</a:t>
            </a:r>
            <a:r>
              <a:rPr dirty="0" spc="-60"/>
              <a:t> </a:t>
            </a:r>
            <a:r>
              <a:rPr dirty="0" spc="-75"/>
              <a:t>exam</a:t>
            </a:r>
            <a:r>
              <a:rPr dirty="0" spc="-65"/>
              <a:t> </a:t>
            </a:r>
            <a:r>
              <a:rPr dirty="0" spc="-25"/>
              <a:t>#4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45">
                <a:solidFill>
                  <a:srgbClr val="666666"/>
                </a:solidFill>
              </a:rPr>
              <a:t>Problem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75">
                <a:solidFill>
                  <a:srgbClr val="666666"/>
                </a:solidFill>
              </a:rPr>
              <a:t>Set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85">
                <a:solidFill>
                  <a:srgbClr val="666666"/>
                </a:solidFill>
              </a:rPr>
              <a:t>3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75">
                <a:solidFill>
                  <a:srgbClr val="666666"/>
                </a:solidFill>
              </a:rPr>
              <a:t>Q2(c)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130">
                <a:solidFill>
                  <a:srgbClr val="666666"/>
                </a:solidFill>
              </a:rPr>
              <a:t>/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45">
                <a:solidFill>
                  <a:srgbClr val="666666"/>
                </a:solidFill>
              </a:rPr>
              <a:t>Short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40">
                <a:solidFill>
                  <a:srgbClr val="666666"/>
                </a:solidFill>
              </a:rPr>
              <a:t>Q5(b):</a:t>
            </a:r>
            <a:r>
              <a:rPr dirty="0" sz="900" spc="30">
                <a:solidFill>
                  <a:srgbClr val="666666"/>
                </a:solidFill>
              </a:rPr>
              <a:t> </a:t>
            </a:r>
            <a:r>
              <a:rPr dirty="0" sz="900" spc="-110">
                <a:solidFill>
                  <a:srgbClr val="666666"/>
                </a:solidFill>
              </a:rPr>
              <a:t>BR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45">
                <a:solidFill>
                  <a:srgbClr val="666666"/>
                </a:solidFill>
              </a:rPr>
              <a:t>shifts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20">
                <a:solidFill>
                  <a:srgbClr val="666666"/>
                </a:solidFill>
              </a:rPr>
              <a:t>but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85">
                <a:solidFill>
                  <a:srgbClr val="666666"/>
                </a:solidFill>
              </a:rPr>
              <a:t>WS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65">
                <a:solidFill>
                  <a:srgbClr val="666666"/>
                </a:solidFill>
              </a:rPr>
              <a:t>does</a:t>
            </a:r>
            <a:r>
              <a:rPr dirty="0" sz="900" spc="-55">
                <a:solidFill>
                  <a:srgbClr val="666666"/>
                </a:solidFill>
              </a:rPr>
              <a:t> </a:t>
            </a:r>
            <a:r>
              <a:rPr dirty="0" sz="900" spc="-20">
                <a:solidFill>
                  <a:srgbClr val="666666"/>
                </a:solidFill>
              </a:rPr>
              <a:t>not?</a:t>
            </a:r>
            <a:endParaRPr sz="900"/>
          </a:p>
        </p:txBody>
      </p:sp>
      <p:sp>
        <p:nvSpPr>
          <p:cNvPr id="4" name="object 4"/>
          <p:cNvSpPr txBox="1"/>
          <p:nvPr/>
        </p:nvSpPr>
        <p:spPr>
          <a:xfrm>
            <a:off x="276682" y="563921"/>
            <a:ext cx="5088890" cy="13379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rise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makes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job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loss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more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costly.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失业率上升时，丢工作更可怕，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reservation</a:t>
            </a:r>
            <a:r>
              <a:rPr dirty="0" sz="700" spc="1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wage</a:t>
            </a:r>
            <a:r>
              <a:rPr dirty="0" sz="700" spc="16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下降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11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worker</a:t>
            </a:r>
            <a:r>
              <a:rPr dirty="0" sz="1000" spc="-45" b="1">
                <a:solidFill>
                  <a:srgbClr val="212121"/>
                </a:solidFill>
                <a:latin typeface="Microsoft JhengHei"/>
                <a:cs typeface="Microsoft JhengHei"/>
              </a:rPr>
              <a:t>’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best-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response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curve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shifts.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55">
                <a:solidFill>
                  <a:srgbClr val="666666"/>
                </a:solidFill>
                <a:latin typeface="SimSun"/>
                <a:cs typeface="SimSun"/>
              </a:rPr>
              <a:t>因此 </a:t>
            </a:r>
            <a:r>
              <a:rPr dirty="0" sz="700" spc="-40">
                <a:solidFill>
                  <a:srgbClr val="666666"/>
                </a:solidFill>
                <a:latin typeface="Arial MT"/>
                <a:cs typeface="Arial MT"/>
              </a:rPr>
              <a:t>BR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curve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会移动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5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But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wage-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setting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curve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itself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already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maps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each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employment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rate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the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required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wage,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this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mainly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movement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along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WS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relationship,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a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shift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whole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curve.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80">
                <a:solidFill>
                  <a:srgbClr val="666666"/>
                </a:solidFill>
                <a:latin typeface="SimSun"/>
                <a:cs typeface="SimSun"/>
              </a:rPr>
              <a:t>而 </a:t>
            </a:r>
            <a:r>
              <a:rPr dirty="0" sz="700" spc="-55">
                <a:solidFill>
                  <a:srgbClr val="666666"/>
                </a:solidFill>
                <a:latin typeface="Arial MT"/>
                <a:cs typeface="Arial MT"/>
              </a:rPr>
              <a:t>WS</a:t>
            </a:r>
            <a:r>
              <a:rPr dirty="0" sz="700" spc="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本来就是‘不同就业率对应不同工资’的关系，所以更像沿着 </a:t>
            </a:r>
            <a:r>
              <a:rPr dirty="0" sz="700" spc="-55">
                <a:solidFill>
                  <a:srgbClr val="666666"/>
                </a:solidFill>
                <a:latin typeface="Arial MT"/>
                <a:cs typeface="Arial MT"/>
              </a:rPr>
              <a:t>WS</a:t>
            </a:r>
            <a:r>
              <a:rPr dirty="0" sz="700" spc="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30">
                <a:solidFill>
                  <a:srgbClr val="666666"/>
                </a:solidFill>
                <a:latin typeface="SimSun"/>
                <a:cs typeface="SimSun"/>
              </a:rPr>
              <a:t>走，而不是整个 </a:t>
            </a:r>
            <a:r>
              <a:rPr dirty="0" sz="700" spc="-55">
                <a:solidFill>
                  <a:srgbClr val="666666"/>
                </a:solidFill>
                <a:latin typeface="Arial MT"/>
                <a:cs typeface="Arial MT"/>
              </a:rPr>
              <a:t>WS</a:t>
            </a:r>
            <a:r>
              <a:rPr dirty="0" sz="700" spc="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外移</a:t>
            </a:r>
            <a:r>
              <a:rPr dirty="0" sz="700" spc="55">
                <a:solidFill>
                  <a:srgbClr val="666666"/>
                </a:solidFill>
                <a:latin typeface="Arial MT"/>
                <a:cs typeface="Arial MT"/>
              </a:rPr>
              <a:t>/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内移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2019871"/>
            <a:ext cx="5466080" cy="212725"/>
          </a:xfrm>
          <a:custGeom>
            <a:avLst/>
            <a:gdLst/>
            <a:ahLst/>
            <a:cxnLst/>
            <a:rect l="l" t="t" r="r" b="b"/>
            <a:pathLst>
              <a:path w="5466080" h="21272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353"/>
                </a:lnTo>
                <a:lnTo>
                  <a:pt x="5465668" y="212353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2025623"/>
            <a:ext cx="99695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Verdict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判断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2076800"/>
            <a:ext cx="5516880" cy="435609"/>
            <a:chOff x="147205" y="2076800"/>
            <a:chExt cx="5516880" cy="43560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2219566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2076800"/>
              <a:ext cx="5466080" cy="435609"/>
            </a:xfrm>
            <a:custGeom>
              <a:avLst/>
              <a:gdLst/>
              <a:ahLst/>
              <a:cxnLst/>
              <a:rect l="l" t="t" r="r" b="b"/>
              <a:pathLst>
                <a:path w="5466080" h="435610">
                  <a:moveTo>
                    <a:pt x="5465668" y="0"/>
                  </a:moveTo>
                  <a:lnTo>
                    <a:pt x="0" y="0"/>
                  </a:lnTo>
                  <a:lnTo>
                    <a:pt x="0" y="434993"/>
                  </a:lnTo>
                  <a:lnTo>
                    <a:pt x="5465668" y="434993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2263849"/>
              <a:ext cx="5466080" cy="197485"/>
            </a:xfrm>
            <a:custGeom>
              <a:avLst/>
              <a:gdLst/>
              <a:ahLst/>
              <a:cxnLst/>
              <a:rect l="l" t="t" r="r" b="b"/>
              <a:pathLst>
                <a:path w="5466080" h="197485">
                  <a:moveTo>
                    <a:pt x="5465668" y="0"/>
                  </a:moveTo>
                  <a:lnTo>
                    <a:pt x="0" y="0"/>
                  </a:lnTo>
                  <a:lnTo>
                    <a:pt x="0" y="146344"/>
                  </a:lnTo>
                  <a:lnTo>
                    <a:pt x="4008" y="166068"/>
                  </a:lnTo>
                  <a:lnTo>
                    <a:pt x="14922" y="182221"/>
                  </a:lnTo>
                  <a:lnTo>
                    <a:pt x="31075" y="193136"/>
                  </a:lnTo>
                  <a:lnTo>
                    <a:pt x="50800" y="197144"/>
                  </a:lnTo>
                  <a:lnTo>
                    <a:pt x="5414867" y="197144"/>
                  </a:lnTo>
                  <a:lnTo>
                    <a:pt x="5434592" y="193136"/>
                  </a:lnTo>
                  <a:lnTo>
                    <a:pt x="5450745" y="182221"/>
                  </a:lnTo>
                  <a:lnTo>
                    <a:pt x="5461659" y="166068"/>
                  </a:lnTo>
                  <a:lnTo>
                    <a:pt x="5465668" y="146344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2246977"/>
            <a:ext cx="54660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statement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essentially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True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this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setup.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2314575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95"/>
              <a:t>The</a:t>
            </a:r>
            <a:r>
              <a:rPr dirty="0" spc="-45"/>
              <a:t> </a:t>
            </a:r>
            <a:r>
              <a:rPr dirty="0" spc="-55"/>
              <a:t>price-</a:t>
            </a:r>
            <a:r>
              <a:rPr dirty="0" spc="-60"/>
              <a:t>setting</a:t>
            </a:r>
            <a:r>
              <a:rPr dirty="0" spc="-40"/>
              <a:t> </a:t>
            </a:r>
            <a:r>
              <a:rPr dirty="0" spc="-20"/>
              <a:t>curve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b="1">
                <a:solidFill>
                  <a:srgbClr val="666666"/>
                </a:solidFill>
                <a:latin typeface="Microsoft JhengHei"/>
                <a:cs typeface="Microsoft JhengHei"/>
              </a:rPr>
              <a:t>为什么 </a:t>
            </a:r>
            <a:r>
              <a:rPr dirty="0" sz="900" spc="-45">
                <a:solidFill>
                  <a:srgbClr val="666666"/>
                </a:solidFill>
              </a:rPr>
              <a:t>price-setting</a:t>
            </a:r>
            <a:r>
              <a:rPr dirty="0" sz="900" spc="-30">
                <a:solidFill>
                  <a:srgbClr val="666666"/>
                </a:solidFill>
              </a:rPr>
              <a:t> </a:t>
            </a:r>
            <a:r>
              <a:rPr dirty="0" sz="900" spc="-50">
                <a:solidFill>
                  <a:srgbClr val="666666"/>
                </a:solidFill>
              </a:rPr>
              <a:t>curve</a:t>
            </a:r>
            <a:r>
              <a:rPr dirty="0" sz="900" spc="-35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基本上是水平的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4850"/>
            <a:ext cx="2165350" cy="2075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10795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Firms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 set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a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price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a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markup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over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cost.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企业定价时要在成本上加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markup.</a:t>
            </a:r>
            <a:endParaRPr sz="700">
              <a:latin typeface="Arial MT"/>
              <a:cs typeface="Arial MT"/>
            </a:endParaRPr>
          </a:p>
          <a:p>
            <a:pPr marL="173990" marR="2254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Given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productivity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and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markup,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this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pins down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the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real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consistent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with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profit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maximisation.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在给定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productivity</a:t>
            </a:r>
            <a:r>
              <a:rPr dirty="0" sz="700" spc="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35">
                <a:solidFill>
                  <a:srgbClr val="666666"/>
                </a:solidFill>
                <a:latin typeface="SimSun"/>
                <a:cs typeface="SimSun"/>
              </a:rPr>
              <a:t>和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markup</a:t>
            </a:r>
            <a:r>
              <a:rPr dirty="0" sz="700" spc="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时，能支付的 </a:t>
            </a:r>
            <a:r>
              <a:rPr dirty="0" sz="700" spc="-20">
                <a:solidFill>
                  <a:srgbClr val="666666"/>
                </a:solidFill>
                <a:latin typeface="Arial MT"/>
                <a:cs typeface="Arial MT"/>
              </a:rPr>
              <a:t>real</a:t>
            </a:r>
            <a:endParaRPr sz="7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359"/>
              </a:spcBef>
            </a:pP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wage</a:t>
            </a:r>
            <a:r>
              <a:rPr dirty="0" sz="700" spc="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基本被定住了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201295" indent="-161925">
              <a:lnSpc>
                <a:spcPct val="100000"/>
              </a:lnSpc>
              <a:spcBef>
                <a:spcPts val="650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11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price-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setting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curve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is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horizontal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this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simple model.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因此在简化模型里，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PS</a:t>
            </a:r>
            <a:r>
              <a:rPr dirty="0" sz="700" spc="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curve</a:t>
            </a:r>
            <a:r>
              <a:rPr dirty="0" sz="700" spc="6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画成水平线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3313" y="636897"/>
            <a:ext cx="2854027" cy="14448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130"/>
                </a:lnTo>
                <a:lnTo>
                  <a:pt x="5759996" y="432130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0982"/>
            <a:ext cx="2114550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50"/>
              <a:t>Labour</a:t>
            </a:r>
            <a:r>
              <a:rPr dirty="0" spc="-60"/>
              <a:t> </a:t>
            </a:r>
            <a:r>
              <a:rPr dirty="0" spc="-45"/>
              <a:t>market</a:t>
            </a:r>
            <a:r>
              <a:rPr dirty="0" spc="-60"/>
              <a:t> </a:t>
            </a:r>
            <a:r>
              <a:rPr dirty="0" spc="-20"/>
              <a:t>equilibrium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两条曲线一交，</a:t>
            </a:r>
            <a:r>
              <a:rPr dirty="0" sz="900" spc="-25">
                <a:solidFill>
                  <a:srgbClr val="666666"/>
                </a:solidFill>
              </a:rPr>
              <a:t>equilibrium</a:t>
            </a:r>
            <a:r>
              <a:rPr dirty="0" sz="900" spc="5">
                <a:solidFill>
                  <a:srgbClr val="666666"/>
                </a:solidFill>
              </a:rPr>
              <a:t> </a:t>
            </a:r>
            <a:r>
              <a:rPr dirty="0" sz="900" spc="-25" b="1">
                <a:solidFill>
                  <a:srgbClr val="666666"/>
                </a:solidFill>
                <a:latin typeface="Microsoft JhengHei"/>
                <a:cs typeface="Microsoft JhengHei"/>
              </a:rPr>
              <a:t>在哪里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5574"/>
            <a:ext cx="2186940" cy="177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2984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labour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market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equilibrium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where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WS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40">
                <a:solidFill>
                  <a:srgbClr val="212121"/>
                </a:solidFill>
                <a:latin typeface="Arial Black"/>
                <a:cs typeface="Arial Black"/>
              </a:rPr>
              <a:t>PS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intersect.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交点就是双方都在做最优反应时的均衡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9906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At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point,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just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high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enough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effort.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工资刚好高到能维持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effort.</a:t>
            </a:r>
            <a:endParaRPr sz="700">
              <a:latin typeface="Arial MT"/>
              <a:cs typeface="Arial MT"/>
            </a:endParaRPr>
          </a:p>
          <a:p>
            <a:pPr marL="173990" marR="5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Employment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high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as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it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can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be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given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discipline problem.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在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discipline</a:t>
            </a:r>
            <a:r>
              <a:rPr dirty="0" sz="700" spc="1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problem</a:t>
            </a:r>
            <a:r>
              <a:rPr dirty="0" sz="700" spc="1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存在时，就业也就只能到这</a:t>
            </a:r>
            <a:endParaRPr sz="700">
              <a:latin typeface="SimSun"/>
              <a:cs typeface="SimSun"/>
            </a:endParaRPr>
          </a:p>
          <a:p>
            <a:pPr marL="173990">
              <a:lnSpc>
                <a:spcPct val="100000"/>
              </a:lnSpc>
              <a:spcBef>
                <a:spcPts val="359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里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8989" y="708989"/>
            <a:ext cx="2816122" cy="146268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1439"/>
            <a:ext cx="3338829" cy="38989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20"/>
              <a:t>Why</a:t>
            </a:r>
            <a:r>
              <a:rPr dirty="0" spc="-45"/>
              <a:t> </a:t>
            </a:r>
            <a:r>
              <a:rPr dirty="0" spc="-35"/>
              <a:t>equilibrium</a:t>
            </a:r>
            <a:r>
              <a:rPr dirty="0" spc="-40"/>
              <a:t> unemployment</a:t>
            </a:r>
            <a:r>
              <a:rPr dirty="0" spc="-50"/>
              <a:t> still</a:t>
            </a:r>
            <a:r>
              <a:rPr dirty="0" spc="-40"/>
              <a:t> </a:t>
            </a:r>
            <a:r>
              <a:rPr dirty="0" spc="-65"/>
              <a:t>exists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0" b="1">
                <a:solidFill>
                  <a:srgbClr val="666666"/>
                </a:solidFill>
                <a:latin typeface="Microsoft JhengHei"/>
                <a:cs typeface="Microsoft JhengHei"/>
              </a:rPr>
              <a:t>为什么在均衡里依然会有 </a:t>
            </a:r>
            <a:r>
              <a:rPr dirty="0" sz="900" spc="-25">
                <a:solidFill>
                  <a:srgbClr val="666666"/>
                </a:solidFill>
              </a:rPr>
              <a:t>involuntary</a:t>
            </a:r>
            <a:r>
              <a:rPr dirty="0" sz="900" spc="-40">
                <a:solidFill>
                  <a:srgbClr val="666666"/>
                </a:solidFill>
              </a:rPr>
              <a:t> </a:t>
            </a:r>
            <a:r>
              <a:rPr dirty="0" sz="900" spc="-10">
                <a:solidFill>
                  <a:srgbClr val="666666"/>
                </a:solidFill>
              </a:rPr>
              <a:t>unemployment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682" y="615243"/>
            <a:ext cx="2959735" cy="1316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20955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If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were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zero,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job 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loss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would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have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no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cost.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如果失业为零，丢工作就没有威慑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Then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firms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would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struggle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induce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effort.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员工更容易偷懒，企业无法用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job</a:t>
            </a:r>
            <a:r>
              <a:rPr dirty="0" sz="700" spc="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loss</a:t>
            </a:r>
            <a:r>
              <a:rPr dirty="0" sz="700" spc="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discipline</a:t>
            </a:r>
            <a:r>
              <a:rPr dirty="0" sz="700" spc="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workers.</a:t>
            </a:r>
            <a:endParaRPr sz="700">
              <a:latin typeface="Arial MT"/>
              <a:cs typeface="Arial MT"/>
            </a:endParaRPr>
          </a:p>
          <a:p>
            <a:pPr marL="173990" marR="62801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110">
                <a:solidFill>
                  <a:srgbClr val="212121"/>
                </a:solidFill>
                <a:latin typeface="Arial Black"/>
                <a:cs typeface="Arial Black"/>
              </a:rPr>
              <a:t>So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some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part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of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equilibrium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this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model.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因此一定程度的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unemployment</a:t>
            </a:r>
            <a:r>
              <a:rPr dirty="0" sz="700" spc="19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5">
                <a:solidFill>
                  <a:srgbClr val="666666"/>
                </a:solidFill>
                <a:latin typeface="SimSun"/>
                <a:cs typeface="SimSun"/>
              </a:rPr>
              <a:t>是这个模型中的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equilibrium</a:t>
            </a:r>
            <a:r>
              <a:rPr dirty="0" sz="700" spc="1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feature.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2852" y="708075"/>
            <a:ext cx="2140585" cy="229870"/>
          </a:xfrm>
          <a:custGeom>
            <a:avLst/>
            <a:gdLst/>
            <a:ahLst/>
            <a:cxnLst/>
            <a:rect l="l" t="t" r="r" b="b"/>
            <a:pathLst>
              <a:path w="2140585" h="229869">
                <a:moveTo>
                  <a:pt x="208917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9358"/>
                </a:lnTo>
                <a:lnTo>
                  <a:pt x="2139972" y="229358"/>
                </a:lnTo>
                <a:lnTo>
                  <a:pt x="2139972" y="50800"/>
                </a:lnTo>
                <a:lnTo>
                  <a:pt x="2135964" y="31075"/>
                </a:lnTo>
                <a:lnTo>
                  <a:pt x="2125049" y="14922"/>
                </a:lnTo>
                <a:lnTo>
                  <a:pt x="2108896" y="4008"/>
                </a:lnTo>
                <a:lnTo>
                  <a:pt x="208917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23653" y="713382"/>
            <a:ext cx="129857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125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Arial Black"/>
                <a:cs typeface="Arial Black"/>
              </a:rPr>
              <a:t>term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关键词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72852" y="764996"/>
            <a:ext cx="2191385" cy="1031240"/>
            <a:chOff x="3472852" y="764996"/>
            <a:chExt cx="2191385" cy="10312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2852" y="924775"/>
              <a:ext cx="213997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23653" y="764996"/>
              <a:ext cx="2140585" cy="1031240"/>
            </a:xfrm>
            <a:custGeom>
              <a:avLst/>
              <a:gdLst/>
              <a:ahLst/>
              <a:cxnLst/>
              <a:rect l="l" t="t" r="r" b="b"/>
              <a:pathLst>
                <a:path w="2140585" h="1031239">
                  <a:moveTo>
                    <a:pt x="2139972" y="0"/>
                  </a:moveTo>
                  <a:lnTo>
                    <a:pt x="0" y="0"/>
                  </a:lnTo>
                  <a:lnTo>
                    <a:pt x="0" y="1030734"/>
                  </a:lnTo>
                  <a:lnTo>
                    <a:pt x="2139972" y="1030734"/>
                  </a:lnTo>
                  <a:lnTo>
                    <a:pt x="2139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472852" y="969049"/>
              <a:ext cx="2140585" cy="775970"/>
            </a:xfrm>
            <a:custGeom>
              <a:avLst/>
              <a:gdLst/>
              <a:ahLst/>
              <a:cxnLst/>
              <a:rect l="l" t="t" r="r" b="b"/>
              <a:pathLst>
                <a:path w="2140585" h="775969">
                  <a:moveTo>
                    <a:pt x="2139972" y="0"/>
                  </a:moveTo>
                  <a:lnTo>
                    <a:pt x="0" y="0"/>
                  </a:lnTo>
                  <a:lnTo>
                    <a:pt x="0" y="725079"/>
                  </a:lnTo>
                  <a:lnTo>
                    <a:pt x="4008" y="744804"/>
                  </a:lnTo>
                  <a:lnTo>
                    <a:pt x="14922" y="760957"/>
                  </a:lnTo>
                  <a:lnTo>
                    <a:pt x="31075" y="771871"/>
                  </a:lnTo>
                  <a:lnTo>
                    <a:pt x="50800" y="775879"/>
                  </a:lnTo>
                  <a:lnTo>
                    <a:pt x="2089172" y="775879"/>
                  </a:lnTo>
                  <a:lnTo>
                    <a:pt x="2108896" y="771871"/>
                  </a:lnTo>
                  <a:lnTo>
                    <a:pt x="2125049" y="760957"/>
                  </a:lnTo>
                  <a:lnTo>
                    <a:pt x="2135964" y="744804"/>
                  </a:lnTo>
                  <a:lnTo>
                    <a:pt x="2139972" y="725079"/>
                  </a:lnTo>
                  <a:lnTo>
                    <a:pt x="2139972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523653" y="952187"/>
            <a:ext cx="2140585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280035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involuntary</a:t>
            </a:r>
            <a:r>
              <a:rPr dirty="0" sz="1000" spc="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unemployment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People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want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jobs,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but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firms</a:t>
            </a:r>
            <a:r>
              <a:rPr dirty="0" sz="10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will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not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hire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them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at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lower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wage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because</a:t>
            </a:r>
            <a:r>
              <a:rPr dirty="0" sz="10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discipline</a:t>
            </a:r>
            <a:r>
              <a:rPr dirty="0" sz="1000" spc="10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would</a:t>
            </a:r>
            <a:r>
              <a:rPr dirty="0" sz="10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break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down.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2621915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65"/>
              <a:t>Demand-</a:t>
            </a:r>
            <a:r>
              <a:rPr dirty="0" spc="-50"/>
              <a:t>deficient</a:t>
            </a:r>
            <a:r>
              <a:rPr dirty="0" spc="5"/>
              <a:t> </a:t>
            </a:r>
            <a:r>
              <a:rPr dirty="0" spc="-25"/>
              <a:t>unemployment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15" b="1">
                <a:solidFill>
                  <a:srgbClr val="666666"/>
                </a:solidFill>
                <a:latin typeface="Microsoft JhengHei"/>
                <a:cs typeface="Microsoft JhengHei"/>
              </a:rPr>
              <a:t>低 </a:t>
            </a:r>
            <a:r>
              <a:rPr dirty="0" sz="900" spc="-45">
                <a:solidFill>
                  <a:srgbClr val="666666"/>
                </a:solidFill>
              </a:rPr>
              <a:t>aggregate</a:t>
            </a:r>
            <a:r>
              <a:rPr dirty="0" sz="900" spc="-40">
                <a:solidFill>
                  <a:srgbClr val="666666"/>
                </a:solidFill>
              </a:rPr>
              <a:t> demand </a:t>
            </a: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会把失业再往上推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4850"/>
            <a:ext cx="2004060" cy="19234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73990" marR="7493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A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fall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5">
                <a:solidFill>
                  <a:srgbClr val="212121"/>
                </a:solidFill>
                <a:latin typeface="Arial Black"/>
                <a:cs typeface="Arial Black"/>
              </a:rPr>
              <a:t>in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aggregate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demand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reduces</a:t>
            </a:r>
            <a:r>
              <a:rPr dirty="0" sz="1000" spc="-8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firms</a:t>
            </a:r>
            <a:r>
              <a:rPr dirty="0" sz="1000" spc="-35" b="1">
                <a:solidFill>
                  <a:srgbClr val="212121"/>
                </a:solidFill>
                <a:latin typeface="Microsoft JhengHei"/>
                <a:cs typeface="Microsoft JhengHei"/>
              </a:rPr>
              <a:t>’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demand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for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labour.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需求弱，企业就不需要那么多工人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4127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Employment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falls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below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the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labour-market</a:t>
            </a:r>
            <a:r>
              <a:rPr dirty="0" sz="1000" spc="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equilibrium level.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这时经济会落在均衡左边的点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algn="just" marL="173990" marR="508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extra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is </a:t>
            </a: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cyclical</a:t>
            </a:r>
            <a:r>
              <a:rPr dirty="0" sz="1000" spc="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or</a:t>
            </a:r>
            <a:r>
              <a:rPr dirty="0" sz="1000" spc="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demand-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deficient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unemployment.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666666"/>
                </a:solidFill>
                <a:latin typeface="SimSun"/>
                <a:cs typeface="SimSun"/>
              </a:rPr>
              <a:t>多出来的那部分就是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cyclical</a:t>
            </a:r>
            <a:r>
              <a:rPr dirty="0" sz="700" spc="2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Arial MT"/>
                <a:cs typeface="Arial MT"/>
              </a:rPr>
              <a:t>unemployment.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8989" y="654737"/>
            <a:ext cx="2813892" cy="139133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130"/>
                </a:lnTo>
                <a:lnTo>
                  <a:pt x="5759996" y="432130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0982"/>
            <a:ext cx="3502025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20"/>
              <a:t>Why</a:t>
            </a:r>
            <a:r>
              <a:rPr dirty="0" spc="-65"/>
              <a:t> </a:t>
            </a:r>
            <a:r>
              <a:rPr dirty="0" spc="-60"/>
              <a:t>automatic </a:t>
            </a:r>
            <a:r>
              <a:rPr dirty="0" spc="-50"/>
              <a:t>adjustment</a:t>
            </a:r>
            <a:r>
              <a:rPr dirty="0" spc="-65"/>
              <a:t> </a:t>
            </a:r>
            <a:r>
              <a:rPr dirty="0" spc="-80"/>
              <a:t>is</a:t>
            </a:r>
            <a:r>
              <a:rPr dirty="0" spc="-60"/>
              <a:t> </a:t>
            </a:r>
            <a:r>
              <a:rPr dirty="0" spc="-90"/>
              <a:t>slow</a:t>
            </a:r>
            <a:r>
              <a:rPr dirty="0" spc="-70"/>
              <a:t> </a:t>
            </a:r>
            <a:r>
              <a:rPr dirty="0" spc="-20"/>
              <a:t>in</a:t>
            </a:r>
            <a:r>
              <a:rPr dirty="0" spc="-60"/>
              <a:t> </a:t>
            </a:r>
            <a:r>
              <a:rPr dirty="0" spc="-55"/>
              <a:t>real</a:t>
            </a:r>
            <a:r>
              <a:rPr dirty="0" spc="-70"/>
              <a:t> </a:t>
            </a:r>
            <a:r>
              <a:rPr dirty="0" spc="-20"/>
              <a:t>life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书上会自动调，现实里却常常调不快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564658"/>
            <a:ext cx="4434205" cy="10344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26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Workers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resist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nominal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wage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cuts.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名义工资下降会伤害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morale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，也可能引发冲突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Lower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wages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reduce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spending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weaken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demand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further.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工资降了，消费也可能更弱，反而拖累 </a:t>
            </a:r>
            <a:r>
              <a:rPr dirty="0" sz="700" spc="-25">
                <a:solidFill>
                  <a:srgbClr val="666666"/>
                </a:solidFill>
                <a:latin typeface="Arial MT"/>
                <a:cs typeface="Arial MT"/>
              </a:rPr>
              <a:t>AD.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If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people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expect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lower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future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prices,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they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may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postpone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spending.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通缩预期还会让人继续等，进一步压低需求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05" y="1716938"/>
            <a:ext cx="5466080" cy="212725"/>
          </a:xfrm>
          <a:custGeom>
            <a:avLst/>
            <a:gdLst/>
            <a:ahLst/>
            <a:cxnLst/>
            <a:rect l="l" t="t" r="r" b="b"/>
            <a:pathLst>
              <a:path w="5466080" h="21272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505"/>
                </a:lnTo>
                <a:lnTo>
                  <a:pt x="5465668" y="212505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005" y="1722855"/>
            <a:ext cx="135255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Bottom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line</a:t>
            </a:r>
            <a:r>
              <a:rPr dirty="0" sz="1200" spc="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底线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05" y="1773876"/>
            <a:ext cx="5516880" cy="587375"/>
            <a:chOff x="147205" y="1773876"/>
            <a:chExt cx="5516880" cy="5873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1916798"/>
              <a:ext cx="5465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005" y="1773876"/>
              <a:ext cx="5466080" cy="587375"/>
            </a:xfrm>
            <a:custGeom>
              <a:avLst/>
              <a:gdLst/>
              <a:ahLst/>
              <a:cxnLst/>
              <a:rect l="l" t="t" r="r" b="b"/>
              <a:pathLst>
                <a:path w="5466080" h="587375">
                  <a:moveTo>
                    <a:pt x="5465668" y="0"/>
                  </a:moveTo>
                  <a:lnTo>
                    <a:pt x="0" y="0"/>
                  </a:lnTo>
                  <a:lnTo>
                    <a:pt x="0" y="586977"/>
                  </a:lnTo>
                  <a:lnTo>
                    <a:pt x="5465668" y="586977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205" y="1961076"/>
              <a:ext cx="5466080" cy="349250"/>
            </a:xfrm>
            <a:custGeom>
              <a:avLst/>
              <a:gdLst/>
              <a:ahLst/>
              <a:cxnLst/>
              <a:rect l="l" t="t" r="r" b="b"/>
              <a:pathLst>
                <a:path w="5466080" h="349250">
                  <a:moveTo>
                    <a:pt x="5465668" y="0"/>
                  </a:moveTo>
                  <a:lnTo>
                    <a:pt x="0" y="0"/>
                  </a:lnTo>
                  <a:lnTo>
                    <a:pt x="0" y="298176"/>
                  </a:lnTo>
                  <a:lnTo>
                    <a:pt x="4008" y="317901"/>
                  </a:lnTo>
                  <a:lnTo>
                    <a:pt x="14922" y="334054"/>
                  </a:lnTo>
                  <a:lnTo>
                    <a:pt x="31075" y="344968"/>
                  </a:lnTo>
                  <a:lnTo>
                    <a:pt x="50800" y="348977"/>
                  </a:lnTo>
                  <a:lnTo>
                    <a:pt x="5414867" y="348977"/>
                  </a:lnTo>
                  <a:lnTo>
                    <a:pt x="5434592" y="344968"/>
                  </a:lnTo>
                  <a:lnTo>
                    <a:pt x="5450745" y="334054"/>
                  </a:lnTo>
                  <a:lnTo>
                    <a:pt x="5461659" y="317901"/>
                  </a:lnTo>
                  <a:lnTo>
                    <a:pt x="5465668" y="298176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005" y="1944197"/>
            <a:ext cx="54660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116205">
              <a:lnSpc>
                <a:spcPct val="100000"/>
              </a:lnSpc>
              <a:spcBef>
                <a:spcPts val="95"/>
              </a:spcBef>
            </a:pP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This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why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governments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may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intervene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instead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waiting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for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painless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automatic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adjustment.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130"/>
                </a:lnTo>
                <a:lnTo>
                  <a:pt x="5759996" y="432130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0982"/>
            <a:ext cx="3754120" cy="390525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50"/>
              <a:t>Government</a:t>
            </a:r>
            <a:r>
              <a:rPr dirty="0" spc="-55"/>
              <a:t> </a:t>
            </a:r>
            <a:r>
              <a:rPr dirty="0" spc="-35"/>
              <a:t>intervention</a:t>
            </a:r>
            <a:r>
              <a:rPr dirty="0" spc="-45"/>
              <a:t> </a:t>
            </a:r>
            <a:r>
              <a:rPr dirty="0" spc="-60"/>
              <a:t>when</a:t>
            </a:r>
            <a:r>
              <a:rPr dirty="0" spc="-50"/>
              <a:t> demand</a:t>
            </a:r>
            <a:r>
              <a:rPr dirty="0" spc="-45"/>
              <a:t> </a:t>
            </a:r>
            <a:r>
              <a:rPr dirty="0" spc="-80"/>
              <a:t>is</a:t>
            </a:r>
            <a:r>
              <a:rPr dirty="0" spc="-45"/>
              <a:t> </a:t>
            </a:r>
            <a:r>
              <a:rPr dirty="0" spc="-35"/>
              <a:t>weak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10" b="1">
                <a:solidFill>
                  <a:srgbClr val="666666"/>
                </a:solidFill>
                <a:latin typeface="Microsoft JhengHei"/>
                <a:cs typeface="Microsoft JhengHei"/>
              </a:rPr>
              <a:t>当 </a:t>
            </a:r>
            <a:r>
              <a:rPr dirty="0" sz="900" spc="-40">
                <a:solidFill>
                  <a:srgbClr val="666666"/>
                </a:solidFill>
              </a:rPr>
              <a:t>demand</a:t>
            </a:r>
            <a:r>
              <a:rPr dirty="0" sz="900" spc="-45">
                <a:solidFill>
                  <a:srgbClr val="666666"/>
                </a:solidFill>
              </a:rPr>
              <a:t> </a:t>
            </a: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太弱时，政府为什么会出手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82" y="615574"/>
            <a:ext cx="3013075" cy="1316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If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firms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would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like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to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sell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more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at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current </a:t>
            </a:r>
            <a:r>
              <a:rPr dirty="0" sz="1000" spc="-65">
                <a:solidFill>
                  <a:srgbClr val="212121"/>
                </a:solidFill>
                <a:latin typeface="Arial Black"/>
                <a:cs typeface="Arial Black"/>
              </a:rPr>
              <a:t>prices,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economy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5">
                <a:solidFill>
                  <a:srgbClr val="212121"/>
                </a:solidFill>
                <a:latin typeface="Arial Black"/>
                <a:cs typeface="Arial Black"/>
              </a:rPr>
              <a:t>is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demand-constrained.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如果企业愿意多卖，但市场没人买，就是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AD</a:t>
            </a:r>
            <a:r>
              <a:rPr dirty="0" sz="700" spc="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问题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4625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4625" algn="l"/>
              </a:tabLst>
            </a:pPr>
            <a:r>
              <a:rPr dirty="0" sz="1000" spc="-90">
                <a:solidFill>
                  <a:srgbClr val="212121"/>
                </a:solidFill>
                <a:latin typeface="Arial Black"/>
                <a:cs typeface="Arial Black"/>
              </a:rPr>
              <a:t>Fiscal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policy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shift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demand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outward.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4"/>
              </a:spcBef>
            </a:pPr>
            <a:r>
              <a:rPr dirty="0" sz="700" spc="-20">
                <a:solidFill>
                  <a:srgbClr val="666666"/>
                </a:solidFill>
                <a:latin typeface="SimSun"/>
                <a:cs typeface="SimSun"/>
              </a:rPr>
              <a:t>财政政策可以把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demand</a:t>
            </a:r>
            <a:r>
              <a:rPr dirty="0" sz="700" spc="9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推回去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 marL="173990" marR="316230" indent="-161925">
              <a:lnSpc>
                <a:spcPct val="100000"/>
              </a:lnSpc>
              <a:spcBef>
                <a:spcPts val="655"/>
              </a:spcBef>
              <a:buClr>
                <a:srgbClr val="B90B2E"/>
              </a:buClr>
              <a:buFont typeface="Cambria"/>
              <a:buChar char="►"/>
              <a:tabLst>
                <a:tab pos="173990" algn="l"/>
              </a:tabLst>
            </a:pPr>
            <a:r>
              <a:rPr dirty="0" sz="1000" spc="-30">
                <a:solidFill>
                  <a:srgbClr val="212121"/>
                </a:solidFill>
                <a:latin typeface="Arial Black"/>
                <a:cs typeface="Arial Black"/>
              </a:rPr>
              <a:t>Monetary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policy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70">
                <a:solidFill>
                  <a:srgbClr val="212121"/>
                </a:solidFill>
                <a:latin typeface="Arial Black"/>
                <a:cs typeface="Arial Black"/>
              </a:rPr>
              <a:t>can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also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40">
                <a:solidFill>
                  <a:srgbClr val="212121"/>
                </a:solidFill>
                <a:latin typeface="Arial Black"/>
                <a:cs typeface="Arial Black"/>
              </a:rPr>
              <a:t>work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through 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investment</a:t>
            </a:r>
            <a:r>
              <a:rPr dirty="0" sz="1000" spc="-35">
                <a:solidFill>
                  <a:srgbClr val="212121"/>
                </a:solidFill>
                <a:latin typeface="Arial Black"/>
                <a:cs typeface="Arial Black"/>
              </a:rPr>
              <a:t> and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spending.</a:t>
            </a:r>
            <a:endParaRPr sz="1000">
              <a:latin typeface="Arial Black"/>
              <a:cs typeface="Arial Black"/>
            </a:endParaRPr>
          </a:p>
          <a:p>
            <a:pPr marL="17399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货币政策则更多通过利率、投资和消费来传导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72852" y="708418"/>
            <a:ext cx="2140585" cy="388620"/>
          </a:xfrm>
          <a:custGeom>
            <a:avLst/>
            <a:gdLst/>
            <a:ahLst/>
            <a:cxnLst/>
            <a:rect l="l" t="t" r="r" b="b"/>
            <a:pathLst>
              <a:path w="2140585" h="388619">
                <a:moveTo>
                  <a:pt x="208917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8276"/>
                </a:lnTo>
                <a:lnTo>
                  <a:pt x="2139972" y="388276"/>
                </a:lnTo>
                <a:lnTo>
                  <a:pt x="2139972" y="50800"/>
                </a:lnTo>
                <a:lnTo>
                  <a:pt x="2135964" y="31075"/>
                </a:lnTo>
                <a:lnTo>
                  <a:pt x="2125049" y="14922"/>
                </a:lnTo>
                <a:lnTo>
                  <a:pt x="2108896" y="4008"/>
                </a:lnTo>
                <a:lnTo>
                  <a:pt x="208917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523653" y="712963"/>
            <a:ext cx="1942464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Bridge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later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 weeks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50" b="1">
                <a:solidFill>
                  <a:srgbClr val="FFFFFF"/>
                </a:solidFill>
                <a:latin typeface="Microsoft JhengHei"/>
                <a:cs typeface="Microsoft JhengHei"/>
              </a:rPr>
              <a:t>为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后面几讲铺路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72852" y="765337"/>
            <a:ext cx="2191385" cy="1037590"/>
            <a:chOff x="3472852" y="765337"/>
            <a:chExt cx="2191385" cy="10375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2852" y="1084033"/>
              <a:ext cx="2139972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23653" y="765337"/>
              <a:ext cx="2140585" cy="1037590"/>
            </a:xfrm>
            <a:custGeom>
              <a:avLst/>
              <a:gdLst/>
              <a:ahLst/>
              <a:cxnLst/>
              <a:rect l="l" t="t" r="r" b="b"/>
              <a:pathLst>
                <a:path w="2140585" h="1037589">
                  <a:moveTo>
                    <a:pt x="2139972" y="0"/>
                  </a:moveTo>
                  <a:lnTo>
                    <a:pt x="0" y="0"/>
                  </a:lnTo>
                  <a:lnTo>
                    <a:pt x="0" y="1037060"/>
                  </a:lnTo>
                  <a:lnTo>
                    <a:pt x="2139972" y="1037060"/>
                  </a:lnTo>
                  <a:lnTo>
                    <a:pt x="2139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72852" y="1128308"/>
              <a:ext cx="2140585" cy="623570"/>
            </a:xfrm>
            <a:custGeom>
              <a:avLst/>
              <a:gdLst/>
              <a:ahLst/>
              <a:cxnLst/>
              <a:rect l="l" t="t" r="r" b="b"/>
              <a:pathLst>
                <a:path w="2140585" h="623569">
                  <a:moveTo>
                    <a:pt x="2139972" y="0"/>
                  </a:moveTo>
                  <a:lnTo>
                    <a:pt x="0" y="0"/>
                  </a:lnTo>
                  <a:lnTo>
                    <a:pt x="0" y="572487"/>
                  </a:lnTo>
                  <a:lnTo>
                    <a:pt x="4008" y="592212"/>
                  </a:lnTo>
                  <a:lnTo>
                    <a:pt x="14922" y="608365"/>
                  </a:lnTo>
                  <a:lnTo>
                    <a:pt x="31075" y="619279"/>
                  </a:lnTo>
                  <a:lnTo>
                    <a:pt x="50800" y="623288"/>
                  </a:lnTo>
                  <a:lnTo>
                    <a:pt x="2089172" y="623288"/>
                  </a:lnTo>
                  <a:lnTo>
                    <a:pt x="2108896" y="619279"/>
                  </a:lnTo>
                  <a:lnTo>
                    <a:pt x="2125049" y="608365"/>
                  </a:lnTo>
                  <a:lnTo>
                    <a:pt x="2135964" y="592212"/>
                  </a:lnTo>
                  <a:lnTo>
                    <a:pt x="2139972" y="572487"/>
                  </a:lnTo>
                  <a:lnTo>
                    <a:pt x="2139972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523653" y="1111191"/>
            <a:ext cx="214058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144145">
              <a:lnSpc>
                <a:spcPct val="100000"/>
              </a:lnSpc>
              <a:spcBef>
                <a:spcPts val="95"/>
              </a:spcBef>
            </a:pP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Lecture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5:</a:t>
            </a:r>
            <a:r>
              <a:rPr dirty="0" sz="1000" spc="1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inflation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monetary policy</a:t>
            </a:r>
            <a:endParaRPr sz="1000">
              <a:latin typeface="Arial MT"/>
              <a:cs typeface="Arial MT"/>
            </a:endParaRPr>
          </a:p>
          <a:p>
            <a:pPr marR="316230">
              <a:lnSpc>
                <a:spcPts val="1200"/>
              </a:lnSpc>
              <a:spcBef>
                <a:spcPts val="30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Lecture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6+:</a:t>
            </a:r>
            <a:r>
              <a:rPr dirty="0" sz="1000" spc="1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banks,</a:t>
            </a:r>
            <a:r>
              <a:rPr dirty="0" sz="10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money,</a:t>
            </a:r>
            <a:r>
              <a:rPr dirty="0" sz="100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credit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1901"/>
                </a:lnTo>
                <a:lnTo>
                  <a:pt x="5759996" y="431901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286"/>
            <a:ext cx="3642360" cy="389890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95"/>
              <a:t>Exam</a:t>
            </a:r>
            <a:r>
              <a:rPr dirty="0" spc="-80"/>
              <a:t> </a:t>
            </a:r>
            <a:r>
              <a:rPr dirty="0" spc="-20"/>
              <a:t>drill:</a:t>
            </a:r>
            <a:r>
              <a:rPr dirty="0" spc="25"/>
              <a:t> </a:t>
            </a:r>
            <a:r>
              <a:rPr dirty="0" spc="-55"/>
              <a:t>Part</a:t>
            </a:r>
            <a:r>
              <a:rPr dirty="0" spc="-80"/>
              <a:t> </a:t>
            </a:r>
            <a:r>
              <a:rPr dirty="0" spc="-150"/>
              <a:t>B</a:t>
            </a:r>
            <a:r>
              <a:rPr dirty="0" spc="-80"/>
              <a:t> </a:t>
            </a:r>
            <a:r>
              <a:rPr dirty="0" spc="-85"/>
              <a:t>Q1</a:t>
            </a:r>
            <a:r>
              <a:rPr dirty="0" spc="-75"/>
              <a:t> </a:t>
            </a:r>
            <a:r>
              <a:rPr dirty="0" spc="-35"/>
              <a:t>on</a:t>
            </a:r>
            <a:r>
              <a:rPr dirty="0" spc="-80"/>
              <a:t> </a:t>
            </a:r>
            <a:r>
              <a:rPr dirty="0" spc="-40"/>
              <a:t>the</a:t>
            </a:r>
            <a:r>
              <a:rPr dirty="0" spc="-80"/>
              <a:t> </a:t>
            </a:r>
            <a:r>
              <a:rPr dirty="0" spc="-55"/>
              <a:t>energy-</a:t>
            </a:r>
            <a:r>
              <a:rPr dirty="0" spc="-60"/>
              <a:t>price</a:t>
            </a:r>
            <a:r>
              <a:rPr dirty="0" spc="-85"/>
              <a:t> </a:t>
            </a:r>
            <a:r>
              <a:rPr dirty="0" spc="-45"/>
              <a:t>shock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10" b="1">
                <a:solidFill>
                  <a:srgbClr val="666666"/>
                </a:solidFill>
                <a:latin typeface="Microsoft JhengHei"/>
                <a:cs typeface="Microsoft JhengHei"/>
              </a:rPr>
              <a:t>用 </a:t>
            </a:r>
            <a:r>
              <a:rPr dirty="0" sz="900" spc="-90">
                <a:solidFill>
                  <a:srgbClr val="666666"/>
                </a:solidFill>
              </a:rPr>
              <a:t>2025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40">
                <a:solidFill>
                  <a:srgbClr val="666666"/>
                </a:solidFill>
              </a:rPr>
              <a:t>paper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10" b="1">
                <a:solidFill>
                  <a:srgbClr val="666666"/>
                </a:solidFill>
                <a:latin typeface="Microsoft JhengHei"/>
                <a:cs typeface="Microsoft JhengHei"/>
              </a:rPr>
              <a:t>的 </a:t>
            </a:r>
            <a:r>
              <a:rPr dirty="0" sz="900" spc="-40">
                <a:solidFill>
                  <a:srgbClr val="666666"/>
                </a:solidFill>
              </a:rPr>
              <a:t>energy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45">
                <a:solidFill>
                  <a:srgbClr val="666666"/>
                </a:solidFill>
              </a:rPr>
              <a:t>bills</a:t>
            </a:r>
            <a:r>
              <a:rPr dirty="0" sz="900" spc="-50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题练回答框架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702322"/>
            <a:ext cx="2891155" cy="230504"/>
          </a:xfrm>
          <a:custGeom>
            <a:avLst/>
            <a:gdLst/>
            <a:ahLst/>
            <a:cxnLst/>
            <a:rect l="l" t="t" r="r" b="b"/>
            <a:pathLst>
              <a:path w="2891155" h="230505">
                <a:moveTo>
                  <a:pt x="284013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0117"/>
                </a:lnTo>
                <a:lnTo>
                  <a:pt x="2890938" y="230117"/>
                </a:lnTo>
                <a:lnTo>
                  <a:pt x="2890938" y="50800"/>
                </a:lnTo>
                <a:lnTo>
                  <a:pt x="2886930" y="31075"/>
                </a:lnTo>
                <a:lnTo>
                  <a:pt x="2876016" y="14922"/>
                </a:lnTo>
                <a:lnTo>
                  <a:pt x="2859863" y="4008"/>
                </a:lnTo>
                <a:lnTo>
                  <a:pt x="2840138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708379"/>
            <a:ext cx="218440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Answer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Arial Black"/>
                <a:cs typeface="Arial Black"/>
              </a:rPr>
              <a:t>path</a:t>
            </a:r>
            <a:r>
              <a:rPr dirty="0" sz="1200" spc="2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最稳的答题顺序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759236"/>
            <a:ext cx="2941955" cy="1554480"/>
            <a:chOff x="147205" y="759236"/>
            <a:chExt cx="2941955" cy="15544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919784"/>
              <a:ext cx="2890938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759236"/>
              <a:ext cx="2891155" cy="1554480"/>
            </a:xfrm>
            <a:custGeom>
              <a:avLst/>
              <a:gdLst/>
              <a:ahLst/>
              <a:cxnLst/>
              <a:rect l="l" t="t" r="r" b="b"/>
              <a:pathLst>
                <a:path w="2891155" h="1554480">
                  <a:moveTo>
                    <a:pt x="2890938" y="0"/>
                  </a:moveTo>
                  <a:lnTo>
                    <a:pt x="0" y="0"/>
                  </a:lnTo>
                  <a:lnTo>
                    <a:pt x="0" y="1554171"/>
                  </a:lnTo>
                  <a:lnTo>
                    <a:pt x="2890938" y="1554171"/>
                  </a:lnTo>
                  <a:lnTo>
                    <a:pt x="28909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964048"/>
              <a:ext cx="2891155" cy="1298575"/>
            </a:xfrm>
            <a:custGeom>
              <a:avLst/>
              <a:gdLst/>
              <a:ahLst/>
              <a:cxnLst/>
              <a:rect l="l" t="t" r="r" b="b"/>
              <a:pathLst>
                <a:path w="2891155" h="1298575">
                  <a:moveTo>
                    <a:pt x="2890938" y="0"/>
                  </a:moveTo>
                  <a:lnTo>
                    <a:pt x="0" y="0"/>
                  </a:lnTo>
                  <a:lnTo>
                    <a:pt x="0" y="1247757"/>
                  </a:lnTo>
                  <a:lnTo>
                    <a:pt x="4008" y="1267482"/>
                  </a:lnTo>
                  <a:lnTo>
                    <a:pt x="14922" y="1283635"/>
                  </a:lnTo>
                  <a:lnTo>
                    <a:pt x="31075" y="1294549"/>
                  </a:lnTo>
                  <a:lnTo>
                    <a:pt x="50800" y="1298558"/>
                  </a:lnTo>
                  <a:lnTo>
                    <a:pt x="2840138" y="1298558"/>
                  </a:lnTo>
                  <a:lnTo>
                    <a:pt x="2859863" y="1294549"/>
                  </a:lnTo>
                  <a:lnTo>
                    <a:pt x="2876016" y="1283635"/>
                  </a:lnTo>
                  <a:lnTo>
                    <a:pt x="2886930" y="1267482"/>
                  </a:lnTo>
                  <a:lnTo>
                    <a:pt x="2890938" y="1247757"/>
                  </a:lnTo>
                  <a:lnTo>
                    <a:pt x="2890938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864" y="987504"/>
              <a:ext cx="125793" cy="1257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864" y="1215262"/>
              <a:ext cx="125793" cy="12579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864" y="1582191"/>
              <a:ext cx="125793" cy="1257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864" y="1949097"/>
              <a:ext cx="125793" cy="12579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08660" y="990697"/>
            <a:ext cx="48895" cy="1063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1053" y="963505"/>
            <a:ext cx="2548890" cy="1263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Higher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energy</a:t>
            </a:r>
            <a:r>
              <a:rPr dirty="0" sz="9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prices</a:t>
            </a:r>
            <a:r>
              <a:rPr dirty="0" sz="9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raise</a:t>
            </a:r>
            <a:r>
              <a:rPr dirty="0" sz="9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firms’</a:t>
            </a:r>
            <a:r>
              <a:rPr dirty="0" sz="9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costs.</a:t>
            </a:r>
            <a:endParaRPr sz="900">
              <a:latin typeface="Arial MT"/>
              <a:cs typeface="Arial MT"/>
            </a:endParaRPr>
          </a:p>
          <a:p>
            <a:pPr marR="92075">
              <a:lnSpc>
                <a:spcPct val="101499"/>
              </a:lnSpc>
              <a:spcBef>
                <a:spcPts val="695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price-setting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curve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shifts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down</a:t>
            </a:r>
            <a:r>
              <a:rPr dirty="0" sz="900" spc="7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(firms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can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afford</a:t>
            </a:r>
            <a:r>
              <a:rPr dirty="0" sz="9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9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lower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real</a:t>
            </a:r>
            <a:r>
              <a:rPr dirty="0" sz="9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wage</a:t>
            </a:r>
            <a:r>
              <a:rPr dirty="0" sz="9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9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given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markup).</a:t>
            </a:r>
            <a:endParaRPr sz="900">
              <a:latin typeface="Arial MT"/>
              <a:cs typeface="Arial MT"/>
            </a:endParaRPr>
          </a:p>
          <a:p>
            <a:pPr marR="163830">
              <a:lnSpc>
                <a:spcPct val="101499"/>
              </a:lnSpc>
              <a:spcBef>
                <a:spcPts val="700"/>
              </a:spcBef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Inflation</a:t>
            </a:r>
            <a:r>
              <a:rPr dirty="0" sz="9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rises:</a:t>
            </a:r>
            <a:r>
              <a:rPr dirty="0" sz="900" spc="2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this</a:t>
            </a:r>
            <a:r>
              <a:rPr dirty="0" sz="900" spc="10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dirty="0" sz="9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cost-</a:t>
            </a:r>
            <a:r>
              <a:rPr dirty="0" sz="900" spc="-60">
                <a:solidFill>
                  <a:srgbClr val="212121"/>
                </a:solidFill>
                <a:latin typeface="Arial Black"/>
                <a:cs typeface="Arial Black"/>
              </a:rPr>
              <a:t>push</a:t>
            </a:r>
            <a:r>
              <a:rPr dirty="0" sz="900" spc="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pressure,</a:t>
            </a:r>
            <a:r>
              <a:rPr dirty="0" sz="90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so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Phillips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curve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shifts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up.</a:t>
            </a:r>
            <a:endParaRPr sz="900">
              <a:latin typeface="Arial MT"/>
              <a:cs typeface="Arial MT"/>
            </a:endParaRPr>
          </a:p>
          <a:p>
            <a:pPr marR="5080">
              <a:lnSpc>
                <a:spcPct val="101499"/>
              </a:lnSpc>
              <a:spcBef>
                <a:spcPts val="695"/>
              </a:spcBef>
            </a:pP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Employment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falls </a:t>
            </a: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rises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relative</a:t>
            </a:r>
            <a:r>
              <a:rPr dirty="0" sz="900" spc="1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900" spc="1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900" spc="1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initial</a:t>
            </a:r>
            <a:r>
              <a:rPr dirty="0" sz="900" spc="1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labour-market</a:t>
            </a:r>
            <a:r>
              <a:rPr dirty="0" sz="900" spc="1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equilibrium.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51021" y="702322"/>
            <a:ext cx="2461895" cy="376555"/>
          </a:xfrm>
          <a:custGeom>
            <a:avLst/>
            <a:gdLst/>
            <a:ahLst/>
            <a:cxnLst/>
            <a:rect l="l" t="t" r="r" b="b"/>
            <a:pathLst>
              <a:path w="2461895" h="376555">
                <a:moveTo>
                  <a:pt x="241100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75978"/>
                </a:lnTo>
                <a:lnTo>
                  <a:pt x="2461803" y="375978"/>
                </a:lnTo>
                <a:lnTo>
                  <a:pt x="2461803" y="50800"/>
                </a:lnTo>
                <a:lnTo>
                  <a:pt x="2457795" y="31075"/>
                </a:lnTo>
                <a:lnTo>
                  <a:pt x="2446880" y="14922"/>
                </a:lnTo>
                <a:lnTo>
                  <a:pt x="2430727" y="4008"/>
                </a:lnTo>
                <a:lnTo>
                  <a:pt x="241100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01822" y="694561"/>
            <a:ext cx="2202180" cy="3841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65"/>
              </a:spcBef>
            </a:pPr>
            <a:r>
              <a:rPr dirty="0" sz="1200">
                <a:solidFill>
                  <a:srgbClr val="FFFFFF"/>
                </a:solidFill>
                <a:latin typeface="Arial Black"/>
                <a:cs typeface="Arial Black"/>
              </a:rPr>
              <a:t>If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Bank </a:t>
            </a:r>
            <a:r>
              <a:rPr dirty="0" sz="1200" spc="-2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England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raises 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rates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如果央行加息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51021" y="759245"/>
            <a:ext cx="2512695" cy="1381760"/>
            <a:chOff x="3151021" y="759245"/>
            <a:chExt cx="2512695" cy="138176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51021" y="1065644"/>
              <a:ext cx="2461803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01822" y="759245"/>
              <a:ext cx="2461895" cy="1381760"/>
            </a:xfrm>
            <a:custGeom>
              <a:avLst/>
              <a:gdLst/>
              <a:ahLst/>
              <a:cxnLst/>
              <a:rect l="l" t="t" r="r" b="b"/>
              <a:pathLst>
                <a:path w="2461895" h="1381760">
                  <a:moveTo>
                    <a:pt x="2461803" y="0"/>
                  </a:moveTo>
                  <a:lnTo>
                    <a:pt x="0" y="0"/>
                  </a:lnTo>
                  <a:lnTo>
                    <a:pt x="0" y="1381315"/>
                  </a:lnTo>
                  <a:lnTo>
                    <a:pt x="2461803" y="1381315"/>
                  </a:lnTo>
                  <a:lnTo>
                    <a:pt x="24618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51021" y="1109918"/>
              <a:ext cx="2461895" cy="980440"/>
            </a:xfrm>
            <a:custGeom>
              <a:avLst/>
              <a:gdLst/>
              <a:ahLst/>
              <a:cxnLst/>
              <a:rect l="l" t="t" r="r" b="b"/>
              <a:pathLst>
                <a:path w="2461895" h="980439">
                  <a:moveTo>
                    <a:pt x="2461803" y="0"/>
                  </a:moveTo>
                  <a:lnTo>
                    <a:pt x="0" y="0"/>
                  </a:lnTo>
                  <a:lnTo>
                    <a:pt x="0" y="929041"/>
                  </a:lnTo>
                  <a:lnTo>
                    <a:pt x="4008" y="948766"/>
                  </a:lnTo>
                  <a:lnTo>
                    <a:pt x="14922" y="964919"/>
                  </a:lnTo>
                  <a:lnTo>
                    <a:pt x="31075" y="975833"/>
                  </a:lnTo>
                  <a:lnTo>
                    <a:pt x="50800" y="979841"/>
                  </a:lnTo>
                  <a:lnTo>
                    <a:pt x="2411002" y="979841"/>
                  </a:lnTo>
                  <a:lnTo>
                    <a:pt x="2430727" y="975833"/>
                  </a:lnTo>
                  <a:lnTo>
                    <a:pt x="2446880" y="964919"/>
                  </a:lnTo>
                  <a:lnTo>
                    <a:pt x="2457795" y="948766"/>
                  </a:lnTo>
                  <a:lnTo>
                    <a:pt x="2461803" y="929041"/>
                  </a:lnTo>
                  <a:lnTo>
                    <a:pt x="2461803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9410" indent="-15176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360045" algn="l"/>
              </a:tabLst>
            </a:pPr>
            <a:r>
              <a:rPr dirty="0" spc="10"/>
              <a:t>aggregate</a:t>
            </a:r>
            <a:r>
              <a:rPr dirty="0" spc="155"/>
              <a:t> </a:t>
            </a:r>
            <a:r>
              <a:rPr dirty="0" spc="10"/>
              <a:t>demand</a:t>
            </a:r>
            <a:r>
              <a:rPr dirty="0" spc="155"/>
              <a:t> </a:t>
            </a:r>
            <a:r>
              <a:rPr dirty="0" spc="-10"/>
              <a:t>weakens</a:t>
            </a:r>
          </a:p>
          <a:p>
            <a:pPr marL="359410" indent="-151765">
              <a:lnSpc>
                <a:spcPct val="100000"/>
              </a:lnSpc>
              <a:spcBef>
                <a:spcPts val="715"/>
              </a:spcBef>
              <a:buClr>
                <a:srgbClr val="B90B2E"/>
              </a:buClr>
              <a:buFont typeface="Cambria"/>
              <a:buChar char="►"/>
              <a:tabLst>
                <a:tab pos="360045" algn="l"/>
              </a:tabLst>
            </a:pPr>
            <a:r>
              <a:rPr dirty="0" spc="20"/>
              <a:t>inflation</a:t>
            </a:r>
            <a:r>
              <a:rPr dirty="0" spc="60"/>
              <a:t> </a:t>
            </a:r>
            <a:r>
              <a:rPr dirty="0" spc="20"/>
              <a:t>should</a:t>
            </a:r>
            <a:r>
              <a:rPr dirty="0" spc="65"/>
              <a:t> </a:t>
            </a:r>
            <a:r>
              <a:rPr dirty="0" spc="20"/>
              <a:t>fall</a:t>
            </a:r>
            <a:r>
              <a:rPr dirty="0" spc="65"/>
              <a:t> </a:t>
            </a:r>
            <a:r>
              <a:rPr dirty="0" spc="20"/>
              <a:t>over</a:t>
            </a:r>
            <a:r>
              <a:rPr dirty="0" spc="60"/>
              <a:t> </a:t>
            </a:r>
            <a:r>
              <a:rPr dirty="0" spc="-20"/>
              <a:t>time</a:t>
            </a:r>
          </a:p>
          <a:p>
            <a:pPr marL="359410" indent="-151765">
              <a:lnSpc>
                <a:spcPct val="100000"/>
              </a:lnSpc>
              <a:spcBef>
                <a:spcPts val="710"/>
              </a:spcBef>
              <a:buClr>
                <a:srgbClr val="B90B2E"/>
              </a:buClr>
              <a:buFont typeface="Cambria"/>
              <a:buChar char="►"/>
              <a:tabLst>
                <a:tab pos="360045" algn="l"/>
              </a:tabLst>
            </a:pPr>
            <a:r>
              <a:rPr dirty="0"/>
              <a:t>unemployment</a:t>
            </a:r>
            <a:r>
              <a:rPr dirty="0" spc="260"/>
              <a:t> </a:t>
            </a:r>
            <a:r>
              <a:rPr dirty="0"/>
              <a:t>rises</a:t>
            </a:r>
            <a:r>
              <a:rPr dirty="0" spc="265"/>
              <a:t> </a:t>
            </a:r>
            <a:r>
              <a:rPr dirty="0" spc="40"/>
              <a:t>further</a:t>
            </a:r>
          </a:p>
          <a:p>
            <a:pPr marL="359410" marR="374650" indent="-152400">
              <a:lnSpc>
                <a:spcPct val="101499"/>
              </a:lnSpc>
              <a:spcBef>
                <a:spcPts val="700"/>
              </a:spcBef>
              <a:buClr>
                <a:srgbClr val="B90B2E"/>
              </a:buClr>
              <a:buFont typeface="Cambria"/>
              <a:buChar char="►"/>
              <a:tabLst>
                <a:tab pos="360045" algn="l"/>
              </a:tabLst>
            </a:pPr>
            <a:r>
              <a:rPr dirty="0" spc="20"/>
              <a:t>investment</a:t>
            </a:r>
            <a:r>
              <a:rPr dirty="0" spc="105"/>
              <a:t> </a:t>
            </a:r>
            <a:r>
              <a:rPr dirty="0" spc="20"/>
              <a:t>and</a:t>
            </a:r>
            <a:r>
              <a:rPr dirty="0" spc="105"/>
              <a:t> </a:t>
            </a:r>
            <a:r>
              <a:rPr dirty="0" spc="20"/>
              <a:t>consumption</a:t>
            </a:r>
            <a:r>
              <a:rPr dirty="0" spc="110"/>
              <a:t> </a:t>
            </a:r>
            <a:r>
              <a:rPr dirty="0" spc="-25"/>
              <a:t>may </a:t>
            </a:r>
            <a:r>
              <a:rPr dirty="0"/>
              <a:t>weaken</a:t>
            </a:r>
            <a:r>
              <a:rPr dirty="0" spc="100"/>
              <a:t> </a:t>
            </a:r>
            <a:r>
              <a:rPr dirty="0" spc="25"/>
              <a:t>too</a:t>
            </a:r>
          </a:p>
        </p:txBody>
      </p:sp>
      <p:sp>
        <p:nvSpPr>
          <p:cNvPr id="23" name="object 23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393"/>
                </a:lnTo>
                <a:lnTo>
                  <a:pt x="5759996" y="431393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964"/>
            <a:ext cx="4108450" cy="38862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95"/>
              <a:t>Exam</a:t>
            </a:r>
            <a:r>
              <a:rPr dirty="0" spc="-80"/>
              <a:t> </a:t>
            </a:r>
            <a:r>
              <a:rPr dirty="0" spc="-20"/>
              <a:t>drill:</a:t>
            </a:r>
            <a:r>
              <a:rPr dirty="0" spc="20"/>
              <a:t> </a:t>
            </a:r>
            <a:r>
              <a:rPr dirty="0" spc="-55"/>
              <a:t>Part</a:t>
            </a:r>
            <a:r>
              <a:rPr dirty="0" spc="-80"/>
              <a:t> </a:t>
            </a:r>
            <a:r>
              <a:rPr dirty="0" spc="-150"/>
              <a:t>B</a:t>
            </a:r>
            <a:r>
              <a:rPr dirty="0" spc="-80"/>
              <a:t> </a:t>
            </a:r>
            <a:r>
              <a:rPr dirty="0" spc="-85"/>
              <a:t>Q4</a:t>
            </a:r>
            <a:r>
              <a:rPr dirty="0" spc="-80"/>
              <a:t> </a:t>
            </a:r>
            <a:r>
              <a:rPr dirty="0" spc="-35"/>
              <a:t>on</a:t>
            </a:r>
            <a:r>
              <a:rPr dirty="0" spc="-80"/>
              <a:t> </a:t>
            </a:r>
            <a:r>
              <a:rPr dirty="0" spc="-50"/>
              <a:t>investment</a:t>
            </a:r>
            <a:r>
              <a:rPr dirty="0" spc="-80"/>
              <a:t> </a:t>
            </a:r>
            <a:r>
              <a:rPr dirty="0" spc="-45"/>
              <a:t>and</a:t>
            </a:r>
            <a:r>
              <a:rPr dirty="0" spc="-80"/>
              <a:t> </a:t>
            </a:r>
            <a:r>
              <a:rPr dirty="0" spc="-25"/>
              <a:t>unionisation</a:t>
            </a: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-35">
                <a:solidFill>
                  <a:srgbClr val="666666"/>
                </a:solidFill>
              </a:rPr>
              <a:t>autonomous</a:t>
            </a:r>
            <a:r>
              <a:rPr dirty="0" sz="900" spc="-30">
                <a:solidFill>
                  <a:srgbClr val="666666"/>
                </a:solidFill>
              </a:rPr>
              <a:t> </a:t>
            </a:r>
            <a:r>
              <a:rPr dirty="0" sz="900" spc="-40">
                <a:solidFill>
                  <a:srgbClr val="666666"/>
                </a:solidFill>
              </a:rPr>
              <a:t>investment</a:t>
            </a:r>
            <a:r>
              <a:rPr dirty="0" sz="900" spc="-25">
                <a:solidFill>
                  <a:srgbClr val="666666"/>
                </a:solidFill>
              </a:rPr>
              <a:t> </a:t>
            </a:r>
            <a:r>
              <a:rPr dirty="0" sz="900" b="1">
                <a:solidFill>
                  <a:srgbClr val="666666"/>
                </a:solidFill>
                <a:latin typeface="Microsoft JhengHei"/>
                <a:cs typeface="Microsoft JhengHei"/>
              </a:rPr>
              <a:t>上升，以及 </a:t>
            </a:r>
            <a:r>
              <a:rPr dirty="0" sz="900" spc="-30">
                <a:solidFill>
                  <a:srgbClr val="666666"/>
                </a:solidFill>
              </a:rPr>
              <a:t>unionisation</a:t>
            </a:r>
            <a:r>
              <a:rPr dirty="0" sz="900" spc="-25">
                <a:solidFill>
                  <a:srgbClr val="666666"/>
                </a:solidFill>
              </a:rPr>
              <a:t> </a:t>
            </a:r>
            <a:r>
              <a:rPr dirty="0" sz="900" spc="-20" b="1">
                <a:solidFill>
                  <a:srgbClr val="666666"/>
                </a:solidFill>
                <a:latin typeface="Microsoft JhengHei"/>
                <a:cs typeface="Microsoft JhengHei"/>
              </a:rPr>
              <a:t>下降时怎么写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524" y="624580"/>
            <a:ext cx="3056890" cy="176148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64465" marR="43180" indent="-152400">
              <a:lnSpc>
                <a:spcPct val="101499"/>
              </a:lnSpc>
              <a:spcBef>
                <a:spcPts val="80"/>
              </a:spcBef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Higher</a:t>
            </a:r>
            <a:r>
              <a:rPr dirty="0" sz="9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autonomous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investment</a:t>
            </a:r>
            <a:r>
              <a:rPr dirty="0" sz="9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12121"/>
                </a:solidFill>
                <a:latin typeface="Arial Black"/>
                <a:cs typeface="Arial Black"/>
              </a:rPr>
              <a:t>raises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aggregate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demand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and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labour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demand.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35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投资自发上升会把总需求和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labour</a:t>
            </a:r>
            <a:r>
              <a:rPr dirty="0" sz="700" spc="1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666666"/>
                </a:solidFill>
                <a:latin typeface="Arial MT"/>
                <a:cs typeface="Arial MT"/>
              </a:rPr>
              <a:t>demand</a:t>
            </a:r>
            <a:r>
              <a:rPr dirty="0" sz="700" spc="1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往上推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Arial MT"/>
              <a:cs typeface="Arial MT"/>
            </a:endParaRPr>
          </a:p>
          <a:p>
            <a:pPr marL="164465" marR="351155" indent="-152400">
              <a:lnSpc>
                <a:spcPct val="101499"/>
              </a:lnSpc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Employment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rises,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unemployment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falls,</a:t>
            </a: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and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bargaining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power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strengthens.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4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就业上升、失业下降，工人议价能力增强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00">
              <a:latin typeface="Arial MT"/>
              <a:cs typeface="Arial MT"/>
            </a:endParaRPr>
          </a:p>
          <a:p>
            <a:pPr marL="164465" indent="-151765">
              <a:lnSpc>
                <a:spcPct val="100000"/>
              </a:lnSpc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That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 puts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upward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55">
                <a:solidFill>
                  <a:srgbClr val="212121"/>
                </a:solidFill>
                <a:latin typeface="Arial Black"/>
                <a:cs typeface="Arial Black"/>
              </a:rPr>
              <a:t>pressure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on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12121"/>
                </a:solidFill>
                <a:latin typeface="Arial Black"/>
                <a:cs typeface="Arial Black"/>
              </a:rPr>
              <a:t>wages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and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prices.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40"/>
              </a:spcBef>
            </a:pP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工资和价格都会更有上升压力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Arial MT"/>
              <a:cs typeface="Arial MT"/>
            </a:endParaRPr>
          </a:p>
          <a:p>
            <a:pPr marL="164465" marR="5080" indent="-152400">
              <a:lnSpc>
                <a:spcPct val="101499"/>
              </a:lnSpc>
              <a:buClr>
                <a:srgbClr val="B90B2E"/>
              </a:buClr>
              <a:buFont typeface="Cambria"/>
              <a:buChar char="►"/>
              <a:tabLst>
                <a:tab pos="164465" algn="l"/>
              </a:tabLst>
            </a:pPr>
            <a:r>
              <a:rPr dirty="0" sz="900">
                <a:solidFill>
                  <a:srgbClr val="212121"/>
                </a:solidFill>
                <a:latin typeface="Arial Black"/>
                <a:cs typeface="Arial Black"/>
              </a:rPr>
              <a:t>If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unionisation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falls,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wage-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setting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Arial Black"/>
                <a:cs typeface="Arial Black"/>
              </a:rPr>
              <a:t>curve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shifts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down.</a:t>
            </a:r>
            <a:endParaRPr sz="900">
              <a:latin typeface="Arial Black"/>
              <a:cs typeface="Arial Black"/>
            </a:endParaRPr>
          </a:p>
          <a:p>
            <a:pPr marL="164465">
              <a:lnSpc>
                <a:spcPct val="100000"/>
              </a:lnSpc>
              <a:spcBef>
                <a:spcPts val="35"/>
              </a:spcBef>
            </a:pPr>
            <a:r>
              <a:rPr dirty="0" sz="700" spc="-15">
                <a:solidFill>
                  <a:srgbClr val="666666"/>
                </a:solidFill>
                <a:latin typeface="SimSun"/>
                <a:cs typeface="SimSun"/>
              </a:rPr>
              <a:t>如果工会化程度下降，</a:t>
            </a:r>
            <a:r>
              <a:rPr dirty="0" sz="700" spc="-40">
                <a:solidFill>
                  <a:srgbClr val="666666"/>
                </a:solidFill>
                <a:latin typeface="Arial MT"/>
                <a:cs typeface="Arial MT"/>
              </a:rPr>
              <a:t>WS</a:t>
            </a:r>
            <a:r>
              <a:rPr dirty="0" sz="700" spc="5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SimSun"/>
                <a:cs typeface="SimSun"/>
              </a:rPr>
              <a:t>下移，工资压力更弱</a:t>
            </a:r>
            <a:r>
              <a:rPr dirty="0" sz="700" spc="-50">
                <a:solidFill>
                  <a:srgbClr val="666666"/>
                </a:solidFill>
                <a:latin typeface="Arial MT"/>
                <a:cs typeface="Arial MT"/>
              </a:rPr>
              <a:t>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80154" y="701814"/>
            <a:ext cx="2033270" cy="389255"/>
          </a:xfrm>
          <a:custGeom>
            <a:avLst/>
            <a:gdLst/>
            <a:ahLst/>
            <a:cxnLst/>
            <a:rect l="l" t="t" r="r" b="b"/>
            <a:pathLst>
              <a:path w="2033270" h="389255">
                <a:moveTo>
                  <a:pt x="1981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8884"/>
                </a:lnTo>
                <a:lnTo>
                  <a:pt x="2032668" y="388884"/>
                </a:lnTo>
                <a:lnTo>
                  <a:pt x="2032668" y="50800"/>
                </a:lnTo>
                <a:lnTo>
                  <a:pt x="2028659" y="31075"/>
                </a:lnTo>
                <a:lnTo>
                  <a:pt x="2017745" y="14922"/>
                </a:lnTo>
                <a:lnTo>
                  <a:pt x="2001592" y="4008"/>
                </a:lnTo>
                <a:lnTo>
                  <a:pt x="19818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30955" y="706969"/>
            <a:ext cx="1801495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95">
                <a:solidFill>
                  <a:srgbClr val="FFFFFF"/>
                </a:solidFill>
                <a:latin typeface="Arial Black"/>
                <a:cs typeface="Arial Black"/>
              </a:rPr>
              <a:t>How </a:t>
            </a:r>
            <a:r>
              <a:rPr dirty="0" sz="1200" spc="-35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95">
                <a:solidFill>
                  <a:srgbClr val="FFFFFF"/>
                </a:solidFill>
                <a:latin typeface="Arial Black"/>
                <a:cs typeface="Arial Black"/>
              </a:rPr>
              <a:t>score 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well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怎么拿高分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80154" y="758734"/>
            <a:ext cx="2084070" cy="1394460"/>
            <a:chOff x="3580154" y="758734"/>
            <a:chExt cx="2084070" cy="13944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0154" y="1078039"/>
              <a:ext cx="2032668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30955" y="758734"/>
              <a:ext cx="2033270" cy="1394460"/>
            </a:xfrm>
            <a:custGeom>
              <a:avLst/>
              <a:gdLst/>
              <a:ahLst/>
              <a:cxnLst/>
              <a:rect l="l" t="t" r="r" b="b"/>
              <a:pathLst>
                <a:path w="2033270" h="1394460">
                  <a:moveTo>
                    <a:pt x="2032668" y="0"/>
                  </a:moveTo>
                  <a:lnTo>
                    <a:pt x="0" y="0"/>
                  </a:lnTo>
                  <a:lnTo>
                    <a:pt x="0" y="1394221"/>
                  </a:lnTo>
                  <a:lnTo>
                    <a:pt x="2032668" y="1394221"/>
                  </a:lnTo>
                  <a:lnTo>
                    <a:pt x="2032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80154" y="1122313"/>
              <a:ext cx="2033270" cy="980440"/>
            </a:xfrm>
            <a:custGeom>
              <a:avLst/>
              <a:gdLst/>
              <a:ahLst/>
              <a:cxnLst/>
              <a:rect l="l" t="t" r="r" b="b"/>
              <a:pathLst>
                <a:path w="2033270" h="980439">
                  <a:moveTo>
                    <a:pt x="2032668" y="0"/>
                  </a:moveTo>
                  <a:lnTo>
                    <a:pt x="0" y="0"/>
                  </a:lnTo>
                  <a:lnTo>
                    <a:pt x="0" y="929041"/>
                  </a:lnTo>
                  <a:lnTo>
                    <a:pt x="4008" y="948766"/>
                  </a:lnTo>
                  <a:lnTo>
                    <a:pt x="14922" y="964919"/>
                  </a:lnTo>
                  <a:lnTo>
                    <a:pt x="31075" y="975833"/>
                  </a:lnTo>
                  <a:lnTo>
                    <a:pt x="50800" y="979841"/>
                  </a:lnTo>
                  <a:lnTo>
                    <a:pt x="1981867" y="979841"/>
                  </a:lnTo>
                  <a:lnTo>
                    <a:pt x="2001592" y="975833"/>
                  </a:lnTo>
                  <a:lnTo>
                    <a:pt x="2017745" y="964919"/>
                  </a:lnTo>
                  <a:lnTo>
                    <a:pt x="2028659" y="948766"/>
                  </a:lnTo>
                  <a:lnTo>
                    <a:pt x="2032668" y="929041"/>
                  </a:lnTo>
                  <a:lnTo>
                    <a:pt x="203266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630955" y="1107600"/>
            <a:ext cx="2033270" cy="984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2729" indent="-15176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demand</a:t>
            </a:r>
            <a:r>
              <a:rPr dirty="0" sz="900" spc="20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shock</a:t>
            </a:r>
            <a:endParaRPr sz="900">
              <a:latin typeface="Arial MT"/>
              <a:cs typeface="Arial MT"/>
            </a:endParaRPr>
          </a:p>
          <a:p>
            <a:pPr marL="252729" indent="-151765">
              <a:lnSpc>
                <a:spcPct val="100000"/>
              </a:lnSpc>
              <a:spcBef>
                <a:spcPts val="71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bargaining</a:t>
            </a:r>
            <a:r>
              <a:rPr dirty="0" sz="900" spc="1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power</a:t>
            </a:r>
            <a:endParaRPr sz="900">
              <a:latin typeface="Arial MT"/>
              <a:cs typeface="Arial MT"/>
            </a:endParaRPr>
          </a:p>
          <a:p>
            <a:pPr marL="252729" indent="-151765">
              <a:lnSpc>
                <a:spcPct val="100000"/>
              </a:lnSpc>
              <a:spcBef>
                <a:spcPts val="71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wages</a:t>
            </a:r>
            <a:r>
              <a:rPr dirty="0" sz="9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prices</a:t>
            </a:r>
            <a:endParaRPr sz="900">
              <a:latin typeface="Arial MT"/>
              <a:cs typeface="Arial MT"/>
            </a:endParaRPr>
          </a:p>
          <a:p>
            <a:pPr marL="252729" marR="431165" indent="-152400">
              <a:lnSpc>
                <a:spcPct val="101499"/>
              </a:lnSpc>
              <a:spcBef>
                <a:spcPts val="70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then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9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effect</a:t>
            </a:r>
            <a:r>
              <a:rPr dirty="0" sz="9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weaker unions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1800"/>
          </a:xfrm>
          <a:custGeom>
            <a:avLst/>
            <a:gdLst/>
            <a:ahLst/>
            <a:cxnLst/>
            <a:rect l="l" t="t" r="r" b="b"/>
            <a:pathLst>
              <a:path w="5760085" h="431800">
                <a:moveTo>
                  <a:pt x="5759996" y="0"/>
                </a:moveTo>
                <a:lnTo>
                  <a:pt x="0" y="0"/>
                </a:lnTo>
                <a:lnTo>
                  <a:pt x="0" y="431787"/>
                </a:lnTo>
                <a:lnTo>
                  <a:pt x="5759996" y="431787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1439"/>
            <a:ext cx="2859405" cy="389890"/>
          </a:xfrm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30"/>
              <a:t>What</a:t>
            </a:r>
            <a:r>
              <a:rPr dirty="0" spc="-55"/>
              <a:t> </a:t>
            </a:r>
            <a:r>
              <a:rPr dirty="0" spc="-35"/>
              <a:t>to</a:t>
            </a:r>
            <a:r>
              <a:rPr dirty="0" spc="-55"/>
              <a:t> memorise </a:t>
            </a:r>
            <a:r>
              <a:rPr dirty="0" spc="-30"/>
              <a:t>from</a:t>
            </a:r>
            <a:r>
              <a:rPr dirty="0" spc="-60"/>
              <a:t> </a:t>
            </a:r>
            <a:r>
              <a:rPr dirty="0" spc="-85"/>
              <a:t>Lectures</a:t>
            </a:r>
            <a:r>
              <a:rPr dirty="0" spc="-55"/>
              <a:t> </a:t>
            </a:r>
            <a:r>
              <a:rPr dirty="0" spc="-85"/>
              <a:t>1–</a:t>
            </a:r>
            <a:r>
              <a:rPr dirty="0" spc="-50"/>
              <a:t>3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真正该背的东西没有你想的那么多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702207"/>
            <a:ext cx="3105785" cy="212090"/>
          </a:xfrm>
          <a:custGeom>
            <a:avLst/>
            <a:gdLst/>
            <a:ahLst/>
            <a:cxnLst/>
            <a:rect l="l" t="t" r="r" b="b"/>
            <a:pathLst>
              <a:path w="3105785" h="212090">
                <a:moveTo>
                  <a:pt x="305466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1594"/>
                </a:lnTo>
                <a:lnTo>
                  <a:pt x="3105465" y="211594"/>
                </a:lnTo>
                <a:lnTo>
                  <a:pt x="3105465" y="50800"/>
                </a:lnTo>
                <a:lnTo>
                  <a:pt x="3101457" y="31075"/>
                </a:lnTo>
                <a:lnTo>
                  <a:pt x="3090542" y="14922"/>
                </a:lnTo>
                <a:lnTo>
                  <a:pt x="3074389" y="4008"/>
                </a:lnTo>
                <a:lnTo>
                  <a:pt x="305466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707210"/>
            <a:ext cx="130048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Must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know</a:t>
            </a:r>
            <a:r>
              <a:rPr dirty="0" sz="120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5" b="1">
                <a:solidFill>
                  <a:srgbClr val="FFFFFF"/>
                </a:solidFill>
                <a:latin typeface="Microsoft JhengHei"/>
                <a:cs typeface="Microsoft JhengHei"/>
              </a:rPr>
              <a:t>必背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759130"/>
            <a:ext cx="3156585" cy="1062355"/>
            <a:chOff x="147205" y="759130"/>
            <a:chExt cx="3156585" cy="10623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901141"/>
              <a:ext cx="310546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759130"/>
              <a:ext cx="3105785" cy="1062355"/>
            </a:xfrm>
            <a:custGeom>
              <a:avLst/>
              <a:gdLst/>
              <a:ahLst/>
              <a:cxnLst/>
              <a:rect l="l" t="t" r="r" b="b"/>
              <a:pathLst>
                <a:path w="3105785" h="1062355">
                  <a:moveTo>
                    <a:pt x="3105465" y="0"/>
                  </a:moveTo>
                  <a:lnTo>
                    <a:pt x="0" y="0"/>
                  </a:lnTo>
                  <a:lnTo>
                    <a:pt x="0" y="1061885"/>
                  </a:lnTo>
                  <a:lnTo>
                    <a:pt x="3105465" y="1061885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945419"/>
              <a:ext cx="3105785" cy="824865"/>
            </a:xfrm>
            <a:custGeom>
              <a:avLst/>
              <a:gdLst/>
              <a:ahLst/>
              <a:cxnLst/>
              <a:rect l="l" t="t" r="r" b="b"/>
              <a:pathLst>
                <a:path w="3105785" h="824864">
                  <a:moveTo>
                    <a:pt x="3105465" y="0"/>
                  </a:moveTo>
                  <a:lnTo>
                    <a:pt x="0" y="0"/>
                  </a:lnTo>
                  <a:lnTo>
                    <a:pt x="0" y="773995"/>
                  </a:lnTo>
                  <a:lnTo>
                    <a:pt x="4008" y="793719"/>
                  </a:lnTo>
                  <a:lnTo>
                    <a:pt x="14922" y="809872"/>
                  </a:lnTo>
                  <a:lnTo>
                    <a:pt x="31075" y="820787"/>
                  </a:lnTo>
                  <a:lnTo>
                    <a:pt x="50800" y="824795"/>
                  </a:lnTo>
                  <a:lnTo>
                    <a:pt x="3054664" y="824795"/>
                  </a:lnTo>
                  <a:lnTo>
                    <a:pt x="3074389" y="820787"/>
                  </a:lnTo>
                  <a:lnTo>
                    <a:pt x="3090542" y="809872"/>
                  </a:lnTo>
                  <a:lnTo>
                    <a:pt x="3101457" y="793719"/>
                  </a:lnTo>
                  <a:lnTo>
                    <a:pt x="3105465" y="773995"/>
                  </a:lnTo>
                  <a:lnTo>
                    <a:pt x="3105465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8005" y="848147"/>
            <a:ext cx="3105785" cy="88582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52729" indent="-151765">
              <a:lnSpc>
                <a:spcPct val="100000"/>
              </a:lnSpc>
              <a:spcBef>
                <a:spcPts val="71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GDP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=</a:t>
            </a:r>
            <a:r>
              <a:rPr dirty="0" sz="900" spc="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25" i="1">
                <a:solidFill>
                  <a:srgbClr val="212121"/>
                </a:solidFill>
                <a:latin typeface="Trebuchet MS"/>
                <a:cs typeface="Trebuchet MS"/>
              </a:rPr>
              <a:t>C</a:t>
            </a:r>
            <a:r>
              <a:rPr dirty="0" sz="900" spc="-6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9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900" spc="-6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9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dirty="0" sz="900" spc="-6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 spc="265">
                <a:solidFill>
                  <a:srgbClr val="212121"/>
                </a:solidFill>
                <a:latin typeface="Calibri"/>
                <a:cs typeface="Calibri"/>
              </a:rPr>
              <a:t>+</a:t>
            </a:r>
            <a:r>
              <a:rPr dirty="0" sz="9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-30" i="1">
                <a:solidFill>
                  <a:srgbClr val="212121"/>
                </a:solidFill>
                <a:latin typeface="Trebuchet MS"/>
                <a:cs typeface="Trebuchet MS"/>
              </a:rPr>
              <a:t>X</a:t>
            </a:r>
            <a:r>
              <a:rPr dirty="0" sz="900" spc="-60" i="1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12121"/>
                </a:solidFill>
                <a:latin typeface="Lucida Sans Unicode"/>
                <a:cs typeface="Lucida Sans Unicode"/>
              </a:rPr>
              <a:t>−</a:t>
            </a:r>
            <a:r>
              <a:rPr dirty="0" sz="900" spc="-70">
                <a:solidFill>
                  <a:srgbClr val="212121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10" i="1">
                <a:solidFill>
                  <a:srgbClr val="212121"/>
                </a:solidFill>
                <a:latin typeface="Trebuchet MS"/>
                <a:cs typeface="Trebuchet MS"/>
              </a:rPr>
              <a:t>M</a:t>
            </a:r>
            <a:endParaRPr sz="900">
              <a:latin typeface="Trebuchet MS"/>
              <a:cs typeface="Trebuchet MS"/>
            </a:endParaRPr>
          </a:p>
          <a:p>
            <a:pPr marL="252729" indent="-151765">
              <a:lnSpc>
                <a:spcPct val="100000"/>
              </a:lnSpc>
              <a:spcBef>
                <a:spcPts val="61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AD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formula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multiplier</a:t>
            </a:r>
            <a:r>
              <a:rPr dirty="0" sz="9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logic</a:t>
            </a:r>
            <a:endParaRPr sz="900">
              <a:latin typeface="Arial MT"/>
              <a:cs typeface="Arial MT"/>
            </a:endParaRPr>
          </a:p>
          <a:p>
            <a:pPr marL="252729" indent="-151765">
              <a:lnSpc>
                <a:spcPct val="100000"/>
              </a:lnSpc>
              <a:spcBef>
                <a:spcPts val="61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credit</a:t>
            </a:r>
            <a:r>
              <a:rPr dirty="0" sz="9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constraints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temporary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income</a:t>
            </a:r>
            <a:r>
              <a:rPr dirty="0" sz="9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shocks</a:t>
            </a:r>
            <a:endParaRPr sz="900">
              <a:latin typeface="Arial MT"/>
              <a:cs typeface="Arial MT"/>
            </a:endParaRPr>
          </a:p>
          <a:p>
            <a:pPr marL="252729" indent="-151765">
              <a:lnSpc>
                <a:spcPct val="100000"/>
              </a:lnSpc>
              <a:spcBef>
                <a:spcPts val="61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 spc="-70">
                <a:solidFill>
                  <a:srgbClr val="212121"/>
                </a:solidFill>
                <a:latin typeface="Arial MT"/>
                <a:cs typeface="Arial MT"/>
              </a:rPr>
              <a:t>WS</a:t>
            </a:r>
            <a:r>
              <a:rPr dirty="0" sz="900" spc="1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up,</a:t>
            </a:r>
            <a:r>
              <a:rPr dirty="0" sz="900" spc="1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90">
                <a:solidFill>
                  <a:srgbClr val="212121"/>
                </a:solidFill>
                <a:latin typeface="Arial MT"/>
                <a:cs typeface="Arial MT"/>
              </a:rPr>
              <a:t>PS</a:t>
            </a:r>
            <a:r>
              <a:rPr dirty="0" sz="900" spc="1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horizontal,</a:t>
            </a:r>
            <a:r>
              <a:rPr dirty="0" sz="900" spc="1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equilibrium</a:t>
            </a:r>
            <a:r>
              <a:rPr dirty="0" sz="900" spc="1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65626" y="702207"/>
            <a:ext cx="2247265" cy="389890"/>
          </a:xfrm>
          <a:custGeom>
            <a:avLst/>
            <a:gdLst/>
            <a:ahLst/>
            <a:cxnLst/>
            <a:rect l="l" t="t" r="r" b="b"/>
            <a:pathLst>
              <a:path w="2247265" h="389890">
                <a:moveTo>
                  <a:pt x="21963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89643"/>
                </a:lnTo>
                <a:lnTo>
                  <a:pt x="2247195" y="389643"/>
                </a:lnTo>
                <a:lnTo>
                  <a:pt x="2247195" y="50800"/>
                </a:lnTo>
                <a:lnTo>
                  <a:pt x="2243186" y="31075"/>
                </a:lnTo>
                <a:lnTo>
                  <a:pt x="2232272" y="14922"/>
                </a:lnTo>
                <a:lnTo>
                  <a:pt x="2216119" y="4008"/>
                </a:lnTo>
                <a:lnTo>
                  <a:pt x="219639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416427" y="708112"/>
            <a:ext cx="2028825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Common</a:t>
            </a:r>
            <a:r>
              <a:rPr dirty="0" sz="12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mistakes</a:t>
            </a:r>
            <a:r>
              <a:rPr dirty="0" sz="120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高频错</a:t>
            </a:r>
            <a:r>
              <a:rPr dirty="0" sz="1200" spc="-50" b="1">
                <a:solidFill>
                  <a:srgbClr val="FFFFFF"/>
                </a:solidFill>
                <a:latin typeface="Microsoft JhengHei"/>
                <a:cs typeface="Microsoft JhengHei"/>
              </a:rPr>
              <a:t>误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65626" y="759128"/>
            <a:ext cx="2298065" cy="1561465"/>
            <a:chOff x="3365626" y="759128"/>
            <a:chExt cx="2298065" cy="156146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5626" y="1079195"/>
              <a:ext cx="2247195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416427" y="759128"/>
              <a:ext cx="2247265" cy="1561465"/>
            </a:xfrm>
            <a:custGeom>
              <a:avLst/>
              <a:gdLst/>
              <a:ahLst/>
              <a:cxnLst/>
              <a:rect l="l" t="t" r="r" b="b"/>
              <a:pathLst>
                <a:path w="2247265" h="1561464">
                  <a:moveTo>
                    <a:pt x="2247195" y="0"/>
                  </a:moveTo>
                  <a:lnTo>
                    <a:pt x="0" y="0"/>
                  </a:lnTo>
                  <a:lnTo>
                    <a:pt x="0" y="1560920"/>
                  </a:lnTo>
                  <a:lnTo>
                    <a:pt x="2247195" y="1560920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65626" y="1123466"/>
              <a:ext cx="2247265" cy="1146175"/>
            </a:xfrm>
            <a:custGeom>
              <a:avLst/>
              <a:gdLst/>
              <a:ahLst/>
              <a:cxnLst/>
              <a:rect l="l" t="t" r="r" b="b"/>
              <a:pathLst>
                <a:path w="2247265" h="1146175">
                  <a:moveTo>
                    <a:pt x="2247195" y="0"/>
                  </a:moveTo>
                  <a:lnTo>
                    <a:pt x="0" y="0"/>
                  </a:lnTo>
                  <a:lnTo>
                    <a:pt x="0" y="1094981"/>
                  </a:lnTo>
                  <a:lnTo>
                    <a:pt x="4008" y="1114706"/>
                  </a:lnTo>
                  <a:lnTo>
                    <a:pt x="14922" y="1130859"/>
                  </a:lnTo>
                  <a:lnTo>
                    <a:pt x="31075" y="1141773"/>
                  </a:lnTo>
                  <a:lnTo>
                    <a:pt x="50800" y="1145782"/>
                  </a:lnTo>
                  <a:lnTo>
                    <a:pt x="2196394" y="1145782"/>
                  </a:lnTo>
                  <a:lnTo>
                    <a:pt x="2216119" y="1141773"/>
                  </a:lnTo>
                  <a:lnTo>
                    <a:pt x="2232272" y="1130859"/>
                  </a:lnTo>
                  <a:lnTo>
                    <a:pt x="2243186" y="1114706"/>
                  </a:lnTo>
                  <a:lnTo>
                    <a:pt x="2247195" y="1094981"/>
                  </a:lnTo>
                  <a:lnTo>
                    <a:pt x="2247195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416427" y="1109314"/>
            <a:ext cx="2247265" cy="1123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2729" indent="-151765">
              <a:lnSpc>
                <a:spcPct val="100000"/>
              </a:lnSpc>
              <a:spcBef>
                <a:spcPts val="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forgetting</a:t>
            </a:r>
            <a:r>
              <a:rPr dirty="0" sz="900" spc="1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imports</a:t>
            </a:r>
            <a:r>
              <a:rPr dirty="0" sz="900" spc="1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1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taxes</a:t>
            </a:r>
            <a:r>
              <a:rPr dirty="0" sz="900" spc="1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900" spc="1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AD</a:t>
            </a:r>
            <a:endParaRPr sz="900">
              <a:latin typeface="Arial MT"/>
              <a:cs typeface="Arial MT"/>
            </a:endParaRPr>
          </a:p>
          <a:p>
            <a:pPr marL="252729" marR="341630" indent="-152400">
              <a:lnSpc>
                <a:spcPct val="101499"/>
              </a:lnSpc>
              <a:spcBef>
                <a:spcPts val="6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treating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deficit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debt</a:t>
            </a:r>
            <a:r>
              <a:rPr dirty="0" sz="9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as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the </a:t>
            </a:r>
            <a:r>
              <a:rPr dirty="0" sz="900" spc="-20">
                <a:solidFill>
                  <a:srgbClr val="212121"/>
                </a:solidFill>
                <a:latin typeface="Arial MT"/>
                <a:cs typeface="Arial MT"/>
              </a:rPr>
              <a:t>same</a:t>
            </a:r>
            <a:endParaRPr sz="900">
              <a:latin typeface="Arial MT"/>
              <a:cs typeface="Arial MT"/>
            </a:endParaRPr>
          </a:p>
          <a:p>
            <a:pPr marL="252729" indent="-151765">
              <a:lnSpc>
                <a:spcPct val="100000"/>
              </a:lnSpc>
              <a:spcBef>
                <a:spcPts val="71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saying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MT"/>
                <a:cs typeface="Arial MT"/>
              </a:rPr>
              <a:t>GDP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=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welfare</a:t>
            </a:r>
            <a:endParaRPr sz="900">
              <a:latin typeface="Arial MT"/>
              <a:cs typeface="Arial MT"/>
            </a:endParaRPr>
          </a:p>
          <a:p>
            <a:pPr marL="252729" marR="170815" indent="-152400">
              <a:lnSpc>
                <a:spcPct val="101499"/>
              </a:lnSpc>
              <a:spcBef>
                <a:spcPts val="70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assuming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equilibrium</a:t>
            </a:r>
            <a:r>
              <a:rPr dirty="0" sz="9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means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MT"/>
                <a:cs typeface="Arial MT"/>
              </a:rPr>
              <a:t>zero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5305" y="2288153"/>
            <a:ext cx="23221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Must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12121"/>
                </a:solidFill>
                <a:latin typeface="Arial Black"/>
                <a:cs typeface="Arial Black"/>
              </a:rPr>
              <a:t>say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well</a:t>
            </a:r>
            <a:r>
              <a:rPr dirty="0" sz="900" spc="20">
                <a:solidFill>
                  <a:srgbClr val="212121"/>
                </a:solidFill>
                <a:latin typeface="Arial Black"/>
                <a:cs typeface="Arial Black"/>
              </a:rPr>
              <a:t> / </a:t>
            </a:r>
            <a:r>
              <a:rPr dirty="0" sz="900" spc="-15" b="1">
                <a:solidFill>
                  <a:srgbClr val="212121"/>
                </a:solidFill>
                <a:latin typeface="Microsoft JhengHei"/>
                <a:cs typeface="Microsoft JhengHei"/>
              </a:rPr>
              <a:t>必须会说</a:t>
            </a:r>
            <a:r>
              <a:rPr dirty="0" sz="900" spc="35">
                <a:solidFill>
                  <a:srgbClr val="212121"/>
                </a:solidFill>
                <a:latin typeface="Arial Black"/>
                <a:cs typeface="Arial Black"/>
              </a:rPr>
              <a:t>: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paradox</a:t>
            </a:r>
            <a:r>
              <a:rPr dirty="0" sz="9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9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45">
                <a:solidFill>
                  <a:srgbClr val="212121"/>
                </a:solidFill>
                <a:latin typeface="Arial MT"/>
                <a:cs typeface="Arial MT"/>
              </a:rPr>
              <a:t>thrift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72728" y="2288153"/>
            <a:ext cx="87503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6205" indent="-103505">
              <a:lnSpc>
                <a:spcPct val="100000"/>
              </a:lnSpc>
              <a:spcBef>
                <a:spcPts val="95"/>
              </a:spcBef>
              <a:buChar char="•"/>
              <a:tabLst>
                <a:tab pos="116205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deficit</a:t>
            </a:r>
            <a:r>
              <a:rPr dirty="0" sz="9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vs</a:t>
            </a:r>
            <a:r>
              <a:rPr dirty="0" sz="9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MT"/>
                <a:cs typeface="Arial MT"/>
              </a:rPr>
              <a:t>debt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2639" y="2288153"/>
            <a:ext cx="159321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6205" indent="-103505">
              <a:lnSpc>
                <a:spcPct val="100000"/>
              </a:lnSpc>
              <a:spcBef>
                <a:spcPts val="95"/>
              </a:spcBef>
              <a:buChar char="•"/>
              <a:tabLst>
                <a:tab pos="116205" algn="l"/>
              </a:tabLst>
            </a:pPr>
            <a:r>
              <a:rPr dirty="0" sz="900" spc="30">
                <a:solidFill>
                  <a:srgbClr val="212121"/>
                </a:solidFill>
                <a:latin typeface="Arial MT"/>
                <a:cs typeface="Arial MT"/>
              </a:rPr>
              <a:t>equilibrium</a:t>
            </a:r>
            <a:r>
              <a:rPr dirty="0" sz="9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unemployment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4">
                <a:moveTo>
                  <a:pt x="5759996" y="0"/>
                </a:moveTo>
                <a:lnTo>
                  <a:pt x="0" y="0"/>
                </a:lnTo>
                <a:lnTo>
                  <a:pt x="0" y="432015"/>
                </a:lnTo>
                <a:lnTo>
                  <a:pt x="5759996" y="432015"/>
                </a:lnTo>
                <a:lnTo>
                  <a:pt x="5759996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pc="-40"/>
              <a:t>Wrap-</a:t>
            </a:r>
            <a:r>
              <a:rPr dirty="0" spc="-45"/>
              <a:t>up,</a:t>
            </a:r>
            <a:r>
              <a:rPr dirty="0" spc="-70"/>
              <a:t> </a:t>
            </a:r>
            <a:r>
              <a:rPr dirty="0" spc="-55"/>
              <a:t>homework,</a:t>
            </a:r>
            <a:r>
              <a:rPr dirty="0" spc="-65"/>
              <a:t> </a:t>
            </a:r>
            <a:r>
              <a:rPr dirty="0" spc="-45"/>
              <a:t>and</a:t>
            </a:r>
            <a:r>
              <a:rPr dirty="0" spc="-60"/>
              <a:t> </a:t>
            </a:r>
            <a:r>
              <a:rPr dirty="0" spc="-45"/>
              <a:t>what</a:t>
            </a:r>
            <a:r>
              <a:rPr dirty="0" spc="-60"/>
              <a:t> </a:t>
            </a:r>
            <a:r>
              <a:rPr dirty="0" spc="-90"/>
              <a:t>we</a:t>
            </a:r>
            <a:r>
              <a:rPr dirty="0" spc="-65"/>
              <a:t> </a:t>
            </a:r>
            <a:r>
              <a:rPr dirty="0" spc="-55"/>
              <a:t>would</a:t>
            </a:r>
            <a:r>
              <a:rPr dirty="0" spc="-60"/>
              <a:t> </a:t>
            </a:r>
            <a:r>
              <a:rPr dirty="0" spc="-50"/>
              <a:t>do</a:t>
            </a:r>
            <a:r>
              <a:rPr dirty="0" spc="-60"/>
              <a:t> </a:t>
            </a:r>
            <a:r>
              <a:rPr dirty="0" spc="-20"/>
              <a:t>next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900" spc="-15" b="1">
                <a:solidFill>
                  <a:srgbClr val="666666"/>
                </a:solidFill>
                <a:latin typeface="Microsoft JhengHei"/>
                <a:cs typeface="Microsoft JhengHei"/>
              </a:rPr>
              <a:t>收尾：今晚练什么，如果继续上下一节做什么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05" y="708303"/>
            <a:ext cx="2783840" cy="390525"/>
          </a:xfrm>
          <a:custGeom>
            <a:avLst/>
            <a:gdLst/>
            <a:ahLst/>
            <a:cxnLst/>
            <a:rect l="l" t="t" r="r" b="b"/>
            <a:pathLst>
              <a:path w="2783840" h="390525">
                <a:moveTo>
                  <a:pt x="273283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90250"/>
                </a:lnTo>
                <a:lnTo>
                  <a:pt x="2783634" y="390250"/>
                </a:lnTo>
                <a:lnTo>
                  <a:pt x="2783634" y="50800"/>
                </a:lnTo>
                <a:lnTo>
                  <a:pt x="2779626" y="31075"/>
                </a:lnTo>
                <a:lnTo>
                  <a:pt x="2768711" y="14922"/>
                </a:lnTo>
                <a:lnTo>
                  <a:pt x="2752558" y="4008"/>
                </a:lnTo>
                <a:lnTo>
                  <a:pt x="2732834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8005" y="714818"/>
            <a:ext cx="2622550" cy="37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390"/>
              </a:lnSpc>
              <a:spcBef>
                <a:spcPts val="130"/>
              </a:spcBef>
            </a:pP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Tonight’s 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homework</a:t>
            </a:r>
            <a:r>
              <a:rPr dirty="0" sz="1200" spc="1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今晚最值的三</a:t>
            </a:r>
            <a:r>
              <a:rPr dirty="0" sz="1200" spc="-50" b="1">
                <a:solidFill>
                  <a:srgbClr val="FFFFFF"/>
                </a:solidFill>
                <a:latin typeface="Microsoft JhengHei"/>
                <a:cs typeface="Microsoft JhengHei"/>
              </a:rPr>
              <a:t>道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205" y="765223"/>
            <a:ext cx="2834640" cy="1074420"/>
            <a:chOff x="147205" y="765223"/>
            <a:chExt cx="2834640" cy="10744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5" y="1085900"/>
              <a:ext cx="2783634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8005" y="765223"/>
              <a:ext cx="2783840" cy="1074420"/>
            </a:xfrm>
            <a:custGeom>
              <a:avLst/>
              <a:gdLst/>
              <a:ahLst/>
              <a:cxnLst/>
              <a:rect l="l" t="t" r="r" b="b"/>
              <a:pathLst>
                <a:path w="2783840" h="1074420">
                  <a:moveTo>
                    <a:pt x="2783634" y="0"/>
                  </a:moveTo>
                  <a:lnTo>
                    <a:pt x="0" y="0"/>
                  </a:lnTo>
                  <a:lnTo>
                    <a:pt x="0" y="1074385"/>
                  </a:lnTo>
                  <a:lnTo>
                    <a:pt x="2783634" y="1074385"/>
                  </a:lnTo>
                  <a:lnTo>
                    <a:pt x="2783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205" y="1130168"/>
              <a:ext cx="2783840" cy="659130"/>
            </a:xfrm>
            <a:custGeom>
              <a:avLst/>
              <a:gdLst/>
              <a:ahLst/>
              <a:cxnLst/>
              <a:rect l="l" t="t" r="r" b="b"/>
              <a:pathLst>
                <a:path w="2783840" h="659130">
                  <a:moveTo>
                    <a:pt x="2783634" y="0"/>
                  </a:moveTo>
                  <a:lnTo>
                    <a:pt x="0" y="0"/>
                  </a:lnTo>
                  <a:lnTo>
                    <a:pt x="0" y="607839"/>
                  </a:lnTo>
                  <a:lnTo>
                    <a:pt x="4008" y="627563"/>
                  </a:lnTo>
                  <a:lnTo>
                    <a:pt x="14922" y="643716"/>
                  </a:lnTo>
                  <a:lnTo>
                    <a:pt x="31075" y="654630"/>
                  </a:lnTo>
                  <a:lnTo>
                    <a:pt x="50800" y="658639"/>
                  </a:lnTo>
                  <a:lnTo>
                    <a:pt x="2732834" y="658639"/>
                  </a:lnTo>
                  <a:lnTo>
                    <a:pt x="2752558" y="654630"/>
                  </a:lnTo>
                  <a:lnTo>
                    <a:pt x="2768711" y="643716"/>
                  </a:lnTo>
                  <a:lnTo>
                    <a:pt x="2779626" y="627563"/>
                  </a:lnTo>
                  <a:lnTo>
                    <a:pt x="2783634" y="607839"/>
                  </a:lnTo>
                  <a:lnTo>
                    <a:pt x="2783634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076" y="1160408"/>
              <a:ext cx="125793" cy="1257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076" y="1388154"/>
              <a:ext cx="125793" cy="12579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076" y="1615912"/>
              <a:ext cx="125793" cy="12579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1879" y="1163595"/>
            <a:ext cx="48895" cy="556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1053" y="1052239"/>
            <a:ext cx="1044575" cy="708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R="5080">
              <a:lnSpc>
                <a:spcPct val="149400"/>
              </a:lnSpc>
              <a:spcBef>
                <a:spcPts val="100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Problem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Set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2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Q1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Problem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Set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2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Q2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Problem</a:t>
            </a: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Set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3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Q2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43719" y="708303"/>
            <a:ext cx="2569210" cy="212725"/>
          </a:xfrm>
          <a:custGeom>
            <a:avLst/>
            <a:gdLst/>
            <a:ahLst/>
            <a:cxnLst/>
            <a:rect l="l" t="t" r="r" b="b"/>
            <a:pathLst>
              <a:path w="2569210" h="212725">
                <a:moveTo>
                  <a:pt x="251830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657"/>
                </a:lnTo>
                <a:lnTo>
                  <a:pt x="2569107" y="212657"/>
                </a:lnTo>
                <a:lnTo>
                  <a:pt x="2569107" y="50800"/>
                </a:lnTo>
                <a:lnTo>
                  <a:pt x="2565099" y="31075"/>
                </a:lnTo>
                <a:lnTo>
                  <a:pt x="2554185" y="14922"/>
                </a:lnTo>
                <a:lnTo>
                  <a:pt x="2538032" y="4008"/>
                </a:lnTo>
                <a:lnTo>
                  <a:pt x="2518307" y="0"/>
                </a:lnTo>
                <a:close/>
              </a:path>
            </a:pathLst>
          </a:custGeom>
          <a:solidFill>
            <a:srgbClr val="B90B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094520" y="714373"/>
            <a:ext cx="201485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>
                <a:solidFill>
                  <a:srgbClr val="FFFFFF"/>
                </a:solidFill>
                <a:latin typeface="Arial Black"/>
                <a:cs typeface="Arial Black"/>
              </a:rPr>
              <a:t>If</a:t>
            </a: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we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continue</a:t>
            </a:r>
            <a:r>
              <a:rPr dirty="0" sz="1200" spc="10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如果继续上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43719" y="765236"/>
            <a:ext cx="2620010" cy="839469"/>
            <a:chOff x="3043719" y="765236"/>
            <a:chExt cx="2620010" cy="839469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3719" y="908303"/>
              <a:ext cx="2569107" cy="506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94520" y="765236"/>
              <a:ext cx="2569210" cy="839469"/>
            </a:xfrm>
            <a:custGeom>
              <a:avLst/>
              <a:gdLst/>
              <a:ahLst/>
              <a:cxnLst/>
              <a:rect l="l" t="t" r="r" b="b"/>
              <a:pathLst>
                <a:path w="2569210" h="839469">
                  <a:moveTo>
                    <a:pt x="2569107" y="0"/>
                  </a:moveTo>
                  <a:lnTo>
                    <a:pt x="0" y="0"/>
                  </a:lnTo>
                  <a:lnTo>
                    <a:pt x="0" y="839320"/>
                  </a:lnTo>
                  <a:lnTo>
                    <a:pt x="2569107" y="839320"/>
                  </a:lnTo>
                  <a:lnTo>
                    <a:pt x="25691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43719" y="952588"/>
              <a:ext cx="2569210" cy="601345"/>
            </a:xfrm>
            <a:custGeom>
              <a:avLst/>
              <a:gdLst/>
              <a:ahLst/>
              <a:cxnLst/>
              <a:rect l="l" t="t" r="r" b="b"/>
              <a:pathLst>
                <a:path w="2569210" h="601344">
                  <a:moveTo>
                    <a:pt x="2569107" y="0"/>
                  </a:moveTo>
                  <a:lnTo>
                    <a:pt x="0" y="0"/>
                  </a:lnTo>
                  <a:lnTo>
                    <a:pt x="0" y="550367"/>
                  </a:lnTo>
                  <a:lnTo>
                    <a:pt x="4008" y="570092"/>
                  </a:lnTo>
                  <a:lnTo>
                    <a:pt x="14922" y="586245"/>
                  </a:lnTo>
                  <a:lnTo>
                    <a:pt x="31075" y="597159"/>
                  </a:lnTo>
                  <a:lnTo>
                    <a:pt x="50800" y="601167"/>
                  </a:lnTo>
                  <a:lnTo>
                    <a:pt x="2518307" y="601167"/>
                  </a:lnTo>
                  <a:lnTo>
                    <a:pt x="2538032" y="597159"/>
                  </a:lnTo>
                  <a:lnTo>
                    <a:pt x="2554185" y="586245"/>
                  </a:lnTo>
                  <a:lnTo>
                    <a:pt x="2565099" y="570092"/>
                  </a:lnTo>
                  <a:lnTo>
                    <a:pt x="2569107" y="550367"/>
                  </a:lnTo>
                  <a:lnTo>
                    <a:pt x="256910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094520" y="872191"/>
            <a:ext cx="2569210" cy="67119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252729" indent="-161925">
              <a:lnSpc>
                <a:spcPct val="100000"/>
              </a:lnSpc>
              <a:spcBef>
                <a:spcPts val="5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inflation</a:t>
            </a:r>
            <a:r>
              <a:rPr dirty="0" sz="1000" spc="1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1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Arial MT"/>
                <a:cs typeface="Arial MT"/>
              </a:rPr>
              <a:t>monetary</a:t>
            </a:r>
            <a:r>
              <a:rPr dirty="0" sz="1000" spc="1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policy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0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banks,</a:t>
            </a:r>
            <a:r>
              <a:rPr dirty="0" sz="10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money,</a:t>
            </a:r>
            <a:r>
              <a:rPr dirty="0" sz="10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credit</a:t>
            </a:r>
            <a:endParaRPr sz="1000">
              <a:latin typeface="Arial MT"/>
              <a:cs typeface="Arial MT"/>
            </a:endParaRPr>
          </a:p>
          <a:p>
            <a:pPr marL="252729" indent="-161925">
              <a:lnSpc>
                <a:spcPct val="100000"/>
              </a:lnSpc>
              <a:spcBef>
                <a:spcPts val="495"/>
              </a:spcBef>
              <a:buClr>
                <a:srgbClr val="B90B2E"/>
              </a:buClr>
              <a:buFont typeface="Cambria"/>
              <a:buChar char="►"/>
              <a:tabLst>
                <a:tab pos="252729" algn="l"/>
              </a:tabLst>
            </a:pPr>
            <a:r>
              <a:rPr dirty="0" sz="1000" spc="50">
                <a:solidFill>
                  <a:srgbClr val="212121"/>
                </a:solidFill>
                <a:latin typeface="Arial MT"/>
                <a:cs typeface="Arial MT"/>
              </a:rPr>
              <a:t>timed</a:t>
            </a:r>
            <a:r>
              <a:rPr dirty="0" sz="10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exam</a:t>
            </a:r>
            <a:r>
              <a:rPr dirty="0" sz="10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answers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7205" y="2003996"/>
            <a:ext cx="5466080" cy="229235"/>
          </a:xfrm>
          <a:custGeom>
            <a:avLst/>
            <a:gdLst/>
            <a:ahLst/>
            <a:cxnLst/>
            <a:rect l="l" t="t" r="r" b="b"/>
            <a:pathLst>
              <a:path w="5466080" h="229235">
                <a:moveTo>
                  <a:pt x="54148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8903"/>
                </a:lnTo>
                <a:lnTo>
                  <a:pt x="5465668" y="228903"/>
                </a:lnTo>
                <a:lnTo>
                  <a:pt x="5465668" y="50800"/>
                </a:lnTo>
                <a:lnTo>
                  <a:pt x="5461659" y="31075"/>
                </a:lnTo>
                <a:lnTo>
                  <a:pt x="5450745" y="14922"/>
                </a:lnTo>
                <a:lnTo>
                  <a:pt x="5434592" y="4008"/>
                </a:lnTo>
                <a:lnTo>
                  <a:pt x="5414867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98005" y="2008846"/>
            <a:ext cx="183959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Final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message</a:t>
            </a:r>
            <a:r>
              <a:rPr dirty="0" sz="1200" spc="15">
                <a:solidFill>
                  <a:srgbClr val="FFFFFF"/>
                </a:solidFill>
                <a:latin typeface="Arial Black"/>
                <a:cs typeface="Arial Black"/>
              </a:rPr>
              <a:t> / </a:t>
            </a:r>
            <a:r>
              <a:rPr dirty="0" sz="1200" spc="-30" b="1">
                <a:solidFill>
                  <a:srgbClr val="FFFFFF"/>
                </a:solidFill>
                <a:latin typeface="Microsoft JhengHei"/>
                <a:cs typeface="Microsoft JhengHei"/>
              </a:rPr>
              <a:t>最后一句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7205" y="2060927"/>
            <a:ext cx="5516880" cy="575310"/>
            <a:chOff x="147205" y="2060927"/>
            <a:chExt cx="5516880" cy="57531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205" y="2220252"/>
              <a:ext cx="5465668" cy="5060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98005" y="2060927"/>
              <a:ext cx="5466080" cy="575310"/>
            </a:xfrm>
            <a:custGeom>
              <a:avLst/>
              <a:gdLst/>
              <a:ahLst/>
              <a:cxnLst/>
              <a:rect l="l" t="t" r="r" b="b"/>
              <a:pathLst>
                <a:path w="5466080" h="575310">
                  <a:moveTo>
                    <a:pt x="5465668" y="0"/>
                  </a:moveTo>
                  <a:lnTo>
                    <a:pt x="0" y="0"/>
                  </a:lnTo>
                  <a:lnTo>
                    <a:pt x="0" y="574780"/>
                  </a:lnTo>
                  <a:lnTo>
                    <a:pt x="5465668" y="574780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7205" y="2264525"/>
              <a:ext cx="5466080" cy="320675"/>
            </a:xfrm>
            <a:custGeom>
              <a:avLst/>
              <a:gdLst/>
              <a:ahLst/>
              <a:cxnLst/>
              <a:rect l="l" t="t" r="r" b="b"/>
              <a:pathLst>
                <a:path w="5466080" h="320675">
                  <a:moveTo>
                    <a:pt x="5465668" y="0"/>
                  </a:moveTo>
                  <a:lnTo>
                    <a:pt x="0" y="0"/>
                  </a:lnTo>
                  <a:lnTo>
                    <a:pt x="0" y="269581"/>
                  </a:lnTo>
                  <a:lnTo>
                    <a:pt x="4008" y="289306"/>
                  </a:lnTo>
                  <a:lnTo>
                    <a:pt x="14922" y="305459"/>
                  </a:lnTo>
                  <a:lnTo>
                    <a:pt x="31075" y="316373"/>
                  </a:lnTo>
                  <a:lnTo>
                    <a:pt x="50800" y="320382"/>
                  </a:lnTo>
                  <a:lnTo>
                    <a:pt x="5414867" y="320382"/>
                  </a:lnTo>
                  <a:lnTo>
                    <a:pt x="5434592" y="316373"/>
                  </a:lnTo>
                  <a:lnTo>
                    <a:pt x="5450745" y="305459"/>
                  </a:lnTo>
                  <a:lnTo>
                    <a:pt x="5461659" y="289306"/>
                  </a:lnTo>
                  <a:lnTo>
                    <a:pt x="5465668" y="269581"/>
                  </a:lnTo>
                  <a:lnTo>
                    <a:pt x="5465668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98005" y="2247663"/>
            <a:ext cx="54660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82804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do </a:t>
            </a:r>
            <a:r>
              <a:rPr dirty="0" sz="1000" spc="-20">
                <a:solidFill>
                  <a:srgbClr val="212121"/>
                </a:solidFill>
                <a:latin typeface="Arial Black"/>
                <a:cs typeface="Arial Black"/>
              </a:rPr>
              <a:t>not</a:t>
            </a:r>
            <a:r>
              <a:rPr dirty="0" sz="1000" spc="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need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know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everything.</a:t>
            </a:r>
            <a:r>
              <a:rPr dirty="0" sz="1000" spc="1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need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65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0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know</a:t>
            </a:r>
            <a:r>
              <a:rPr dirty="0" sz="100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which</a:t>
            </a:r>
            <a:r>
              <a:rPr dirty="0" sz="10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diagrams</a:t>
            </a:r>
            <a:r>
              <a:rPr dirty="0" sz="100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and </a:t>
            </a:r>
            <a:r>
              <a:rPr dirty="0" sz="1000" spc="-60">
                <a:solidFill>
                  <a:srgbClr val="212121"/>
                </a:solidFill>
                <a:latin typeface="Arial Black"/>
                <a:cs typeface="Arial Black"/>
              </a:rPr>
              <a:t>mechanisms</a:t>
            </a:r>
            <a:r>
              <a:rPr dirty="0" sz="1000" spc="-5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turn</a:t>
            </a:r>
            <a:r>
              <a:rPr dirty="0" sz="1000" spc="-4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 Black"/>
                <a:cs typeface="Arial Black"/>
              </a:rPr>
              <a:t>into</a:t>
            </a:r>
            <a:r>
              <a:rPr dirty="0" sz="1000" spc="-5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Black"/>
                <a:cs typeface="Arial Black"/>
              </a:rPr>
              <a:t>marks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148469"/>
            <a:ext cx="5760085" cy="92075"/>
          </a:xfrm>
          <a:custGeom>
            <a:avLst/>
            <a:gdLst/>
            <a:ahLst/>
            <a:cxnLst/>
            <a:rect l="l" t="t" r="r" b="b"/>
            <a:pathLst>
              <a:path w="5760085" h="92075">
                <a:moveTo>
                  <a:pt x="5759983" y="0"/>
                </a:moveTo>
                <a:lnTo>
                  <a:pt x="4723231" y="0"/>
                </a:lnTo>
                <a:lnTo>
                  <a:pt x="0" y="0"/>
                </a:lnTo>
                <a:lnTo>
                  <a:pt x="0" y="91554"/>
                </a:lnTo>
                <a:lnTo>
                  <a:pt x="4723231" y="91554"/>
                </a:lnTo>
                <a:lnTo>
                  <a:pt x="5759983" y="91554"/>
                </a:lnTo>
                <a:lnTo>
                  <a:pt x="5759983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pc="-50"/>
              <a:t>KCL</a:t>
            </a:r>
            <a:r>
              <a:rPr dirty="0" spc="15"/>
              <a:t> </a:t>
            </a:r>
            <a:r>
              <a:rPr dirty="0" spc="-10"/>
              <a:t>4YYD0003</a:t>
            </a:r>
            <a:r>
              <a:rPr dirty="0" spc="15"/>
              <a:t> </a:t>
            </a:r>
            <a:r>
              <a:rPr dirty="0"/>
              <a:t>•</a:t>
            </a:r>
            <a:r>
              <a:rPr dirty="0" spc="20"/>
              <a:t> </a:t>
            </a:r>
            <a:r>
              <a:rPr dirty="0"/>
              <a:t>Macro</a:t>
            </a:r>
            <a:r>
              <a:rPr dirty="0" spc="15"/>
              <a:t> </a:t>
            </a:r>
            <a:r>
              <a:rPr dirty="0"/>
              <a:t>Revision</a:t>
            </a:r>
            <a:r>
              <a:rPr dirty="0" spc="20"/>
              <a:t> </a:t>
            </a:r>
            <a:r>
              <a:rPr dirty="0"/>
              <a:t>•</a:t>
            </a:r>
            <a:r>
              <a:rPr dirty="0" spc="15"/>
              <a:t> </a:t>
            </a:r>
            <a:r>
              <a:rPr dirty="0"/>
              <a:t>Lectures</a:t>
            </a:r>
            <a:r>
              <a:rPr dirty="0" spc="20"/>
              <a:t> </a:t>
            </a:r>
            <a:r>
              <a:rPr dirty="0" spc="-10"/>
              <a:t>1–</a:t>
            </a:r>
            <a:r>
              <a:rPr dirty="0" spc="-50"/>
              <a:t>3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/>
              <a:t>43</a:t>
            </a:fld>
            <a:r>
              <a:rPr dirty="0" spc="-10"/>
              <a:t> </a:t>
            </a:r>
            <a:r>
              <a:rPr dirty="0" spc="55"/>
              <a:t>/</a:t>
            </a:r>
            <a:r>
              <a:rPr dirty="0" spc="-5"/>
              <a:t> </a:t>
            </a:r>
            <a:r>
              <a:rPr dirty="0" spc="-25"/>
              <a:t>60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Student-focused trial lesson</dc:creator>
  <dc:title>KCL 4YYD0003 - Macroeconomics Revision: Lectures 1–3</dc:title>
  <dcterms:created xsi:type="dcterms:W3CDTF">2026-04-23T05:46:20Z</dcterms:created>
  <dcterms:modified xsi:type="dcterms:W3CDTF">2026-04-23T05:46:20Z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2026-04-22T00:00:00Z</vt:filetime>
  </property>
  <property fmtid="{D5CDD505-2E9C-101B-9397-08002B2CF9AE}" pid="4" name="Creator">
    <vt:lpwstr>LaTeX with Beamer class</vt:lpwstr>
  </property>
  <property fmtid="{D5CDD505-2E9C-101B-9397-08002B2CF9AE}" pid="5" name="Producer">
    <vt:lpwstr>xdvipdfmx (20240305)</vt:lpwstr>
  </property>
  <property fmtid="{D5CDD505-2E9C-101B-9397-08002B2CF9AE}" pid="6" name="LastSaved">
    <vt:filetime>2026-04-22T00:00:00Z</vt:filetime>
  </property>
</Properties>
</file>